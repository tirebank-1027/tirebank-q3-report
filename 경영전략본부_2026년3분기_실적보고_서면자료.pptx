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법인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213D"/>
              </a:solidFill>
              <a:effectLst/>
            </c:spPr>
          </c:dPt>
          <c:dPt>
            <c:idx val="1"/>
            <c:bubble3D val="0"/>
            <c:spPr>
              <a:solidFill>
                <a:srgbClr val="CBD2E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자체 신고 17개</c:v>
                </c:pt>
                <c:pt idx="1">
                  <c:v>그 외 5개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17</c:v>
                </c:pt>
                <c:pt idx="1">
                  <c:v>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Malgun Gothic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Malgun Gothic"/>
              </a:rPr>
              <a:t>지역별 자경 면적 (단위: 평)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자경 면적(평)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세종특별자치시</c:v>
                  </c:pt>
                  <c:pt idx="1">
                    <c:v>충남 천안시</c:v>
                  </c:pt>
                  <c:pt idx="2">
                    <c:v>인천광역시</c:v>
                  </c:pt>
                  <c:pt idx="3">
                    <c:v>대전광역시</c:v>
                  </c:pt>
                  <c:pt idx="4">
                    <c:v>충남 공주시</c:v>
                  </c:pt>
                  <c:pt idx="5">
                    <c:v>경북 경주시</c:v>
                  </c:pt>
                  <c:pt idx="6">
                    <c:v>경기 시흥시</c:v>
                  </c:pt>
                  <c:pt idx="7">
                    <c:v>전북특별자치도</c:v>
                  </c:pt>
                  <c:pt idx="8">
                    <c:v>경기 안산시</c:v>
                  </c:pt>
                  <c:pt idx="9">
                    <c:v>경기 양주시</c:v>
                  </c:pt>
                  <c:pt idx="10">
                    <c:v>전남광주통합특별시</c:v>
                  </c:pt>
                  <c:pt idx="11">
                    <c:v>충남 부여군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22323</c:v>
                </c:pt>
                <c:pt idx="1">
                  <c:v>15385</c:v>
                </c:pt>
                <c:pt idx="2">
                  <c:v>12645</c:v>
                </c:pt>
                <c:pt idx="3">
                  <c:v>1685</c:v>
                </c:pt>
                <c:pt idx="4">
                  <c:v>567</c:v>
                </c:pt>
                <c:pt idx="5">
                  <c:v>416</c:v>
                </c:pt>
                <c:pt idx="6">
                  <c:v>308</c:v>
                </c:pt>
                <c:pt idx="7">
                  <c:v>280</c:v>
                </c:pt>
                <c:pt idx="8">
                  <c:v>200</c:v>
                </c:pt>
                <c:pt idx="9">
                  <c:v>184</c:v>
                </c:pt>
                <c:pt idx="10">
                  <c:v>138</c:v>
                </c:pt>
                <c:pt idx="11">
                  <c:v>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Malgun Gothic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Malgun Gothic"/>
              </a:rPr>
              <a:t>2026년 10월 현재 금리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금리(%)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B5FA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농협은행 MMDA</c:v>
                  </c:pt>
                  <c:pt idx="1">
                    <c:v>우리은행 MMDA</c:v>
                  </c:pt>
                  <c:pt idx="2">
                    <c:v>한국 기준금리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</c:v>
                </c:pt>
                <c:pt idx="1">
                  <c:v>2.3</c:v>
                </c:pt>
                <c:pt idx="2">
                  <c:v>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000000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Malgun Gothic"/>
              </a:rPr>
              <a:t>월별 계약 체결 추이 (건)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변동 매장</c:v>
                </c:pt>
              </c:strCache>
            </c:strRef>
          </c:tx>
          <c:spPr>
            <a:solidFill>
              <a:srgbClr val="B892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35</c:v>
                </c:pt>
                <c:pt idx="1">
                  <c:v>32</c:v>
                </c:pt>
                <c:pt idx="2">
                  <c:v>46</c:v>
                </c:pt>
                <c:pt idx="3">
                  <c:v>36</c:v>
                </c:pt>
                <c:pt idx="4">
                  <c:v>35</c:v>
                </c:pt>
                <c:pt idx="5">
                  <c:v>33</c:v>
                </c:pt>
                <c:pt idx="6">
                  <c:v>38</c:v>
                </c:pt>
                <c:pt idx="7">
                  <c:v>37</c:v>
                </c:pt>
                <c:pt idx="8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재계약 매장</c:v>
                </c:pt>
              </c:strCache>
            </c:strRef>
          </c:tx>
          <c:spPr>
            <a:solidFill>
              <a:srgbClr val="2B5F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28</c:v>
                </c:pt>
                <c:pt idx="1">
                  <c:v>28</c:v>
                </c:pt>
                <c:pt idx="2">
                  <c:v>31</c:v>
                </c:pt>
                <c:pt idx="3">
                  <c:v>33</c:v>
                </c:pt>
                <c:pt idx="4">
                  <c:v>38</c:v>
                </c:pt>
                <c:pt idx="5">
                  <c:v>40</c:v>
                </c:pt>
                <c:pt idx="6">
                  <c:v>31</c:v>
                </c:pt>
                <c:pt idx="7">
                  <c:v>26</c:v>
                </c:pt>
                <c:pt idx="8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경영전략본부 · 2026년 3분기 실적보고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image" Target="../media/image-3-5.jpg"/><Relationship Id="rId6" Type="http://schemas.openxmlformats.org/officeDocument/2006/relationships/image" Target="../media/image-3-6.jpg"/><Relationship Id="rId7" Type="http://schemas.openxmlformats.org/officeDocument/2006/relationships/image" Target="../media/image-3-7.jpg"/><Relationship Id="rId8" Type="http://schemas.openxmlformats.org/officeDocument/2006/relationships/image" Target="../media/image-3-8.jpg"/><Relationship Id="rId9" Type="http://schemas.openxmlformats.org/officeDocument/2006/relationships/image" Target="../media/image-3-9.jpg"/><Relationship Id="rId10" Type="http://schemas.openxmlformats.org/officeDocument/2006/relationships/image" Target="../media/image-3-10.jpg"/><Relationship Id="rId11" Type="http://schemas.openxmlformats.org/officeDocument/2006/relationships/image" Target="../media/image-3-11.jp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image" Target="../media/image-10-5.jpg"/><Relationship Id="rId6" Type="http://schemas.openxmlformats.org/officeDocument/2006/relationships/image" Target="../media/image-10-6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9B6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QUARTERLY PERFORMANCE REPORT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3분기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실적보고서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경영전략본부  ·  2026. 10. 27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754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B6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서면 보고자료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38160" y="1828800"/>
            <a:ext cx="329184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D:\Desktop\타뱅발표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965960"/>
            <a:ext cx="310896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10대 성과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2103120" cy="2240280"/>
          </a:xfrm>
          <a:prstGeom prst="roundRect">
            <a:avLst>
              <a:gd name="adj" fmla="val 3478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관리법인 현황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22개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26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20개 → 2026년 22개 (+2)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2788920" y="1325880"/>
            <a:ext cx="2103120" cy="2240280"/>
          </a:xfrm>
          <a:prstGeom prst="roundRect">
            <a:avLst>
              <a:gd name="adj" fmla="val 3478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71800" y="1463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1783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관리법인 자체기장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17개 법인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2926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자금·세무·회계·총무·인사 자체 장부</a:t>
            </a:r>
            <a:endParaRPr lang="en-US" sz="1100" dirty="0"/>
          </a:p>
        </p:txBody>
      </p:sp>
      <p:sp>
        <p:nvSpPr>
          <p:cNvPr id="13" name="card"/>
          <p:cNvSpPr/>
          <p:nvPr/>
        </p:nvSpPr>
        <p:spPr>
          <a:xfrm>
            <a:off x="5029200" y="1325880"/>
            <a:ext cx="2103120" cy="2240280"/>
          </a:xfrm>
          <a:prstGeom prst="roundRect">
            <a:avLst>
              <a:gd name="adj" fmla="val 3478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1463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1783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소득금액변동통지 승소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25억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2926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2013년 귀속 · 환급 진행 중</a:t>
            </a:r>
            <a:endParaRPr lang="en-US" sz="1100" dirty="0"/>
          </a:p>
        </p:txBody>
      </p:sp>
      <p:sp>
        <p:nvSpPr>
          <p:cNvPr id="18" name="card"/>
          <p:cNvSpPr/>
          <p:nvPr/>
        </p:nvSpPr>
        <p:spPr>
          <a:xfrm>
            <a:off x="7269480" y="1325880"/>
            <a:ext cx="2103120" cy="2240280"/>
          </a:xfrm>
          <a:prstGeom prst="roundRect">
            <a:avLst>
              <a:gd name="adj" fmla="val 3478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52360" y="1463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1783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원풍약품상사 재고실사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1.8억 절감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2926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폐기재고 7.5억 · 법인세 24.2%</a:t>
            </a:r>
            <a:endParaRPr lang="en-US" sz="1100" dirty="0"/>
          </a:p>
        </p:txBody>
      </p:sp>
      <p:sp>
        <p:nvSpPr>
          <p:cNvPr id="23" name="card"/>
          <p:cNvSpPr/>
          <p:nvPr/>
        </p:nvSpPr>
        <p:spPr>
          <a:xfrm>
            <a:off x="9509760" y="1325880"/>
            <a:ext cx="2103120" cy="2240280"/>
          </a:xfrm>
          <a:prstGeom prst="roundRect">
            <a:avLst>
              <a:gd name="adj" fmla="val 3478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92640" y="1463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Ⅴ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692640" y="1783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에어프레미아 파견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692640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2개월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0" y="2926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수입심사(RA)파트 행정업무 지원</a:t>
            </a:r>
            <a:endParaRPr lang="en-US" sz="1100" dirty="0"/>
          </a:p>
        </p:txBody>
      </p:sp>
      <p:sp>
        <p:nvSpPr>
          <p:cNvPr id="28" name="card"/>
          <p:cNvSpPr/>
          <p:nvPr/>
        </p:nvSpPr>
        <p:spPr>
          <a:xfrm>
            <a:off x="548640" y="3794760"/>
            <a:ext cx="2103120" cy="2240280"/>
          </a:xfrm>
          <a:prstGeom prst="roundRect">
            <a:avLst>
              <a:gd name="adj" fmla="val 3478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3931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Ⅵ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4251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좋은타이어 회계프로그램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4846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매장</a:t>
            </a:r>
            <a:endParaRPr lang="en-US" sz="21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5394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및 자동전표 연동 완료</a:t>
            </a:r>
            <a:endParaRPr lang="en-US" sz="1100" dirty="0"/>
          </a:p>
        </p:txBody>
      </p:sp>
      <p:sp>
        <p:nvSpPr>
          <p:cNvPr id="33" name="card"/>
          <p:cNvSpPr/>
          <p:nvPr/>
        </p:nvSpPr>
        <p:spPr>
          <a:xfrm>
            <a:off x="2788920" y="3794760"/>
            <a:ext cx="2103120" cy="2240280"/>
          </a:xfrm>
          <a:prstGeom prst="roundRect">
            <a:avLst>
              <a:gd name="adj" fmla="val 3478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971800" y="3931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Ⅶ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2971800" y="4251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농업법인 농지 자경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971800" y="4846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54,164평</a:t>
            </a:r>
            <a:endParaRPr lang="en-US" sz="2100" dirty="0"/>
          </a:p>
        </p:txBody>
      </p:sp>
      <p:sp>
        <p:nvSpPr>
          <p:cNvPr id="37" name="Text 35"/>
          <p:cNvSpPr txBox="1"/>
          <p:nvPr/>
        </p:nvSpPr>
        <p:spPr>
          <a:xfrm>
            <a:off x="2971800" y="5394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 지역 자경 완료</a:t>
            </a:r>
            <a:endParaRPr lang="en-US" sz="1100" dirty="0"/>
          </a:p>
        </p:txBody>
      </p:sp>
      <p:sp>
        <p:nvSpPr>
          <p:cNvPr id="38" name="card"/>
          <p:cNvSpPr/>
          <p:nvPr/>
        </p:nvSpPr>
        <p:spPr>
          <a:xfrm>
            <a:off x="5029200" y="3794760"/>
            <a:ext cx="2103120" cy="2240280"/>
          </a:xfrm>
          <a:prstGeom prst="roundRect">
            <a:avLst>
              <a:gd name="adj" fmla="val 3478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212080" y="3931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Ⅷ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212080" y="4251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지방세 서면조사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5212080" y="4846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“적정”</a:t>
            </a:r>
            <a:endParaRPr lang="en-US" sz="2100" dirty="0"/>
          </a:p>
        </p:txBody>
      </p:sp>
      <p:sp>
        <p:nvSpPr>
          <p:cNvPr id="42" name="Text 40"/>
          <p:cNvSpPr txBox="1"/>
          <p:nvPr/>
        </p:nvSpPr>
        <p:spPr>
          <a:xfrm>
            <a:off x="5212080" y="5394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춘천 5개 · 전주 11개 매장 추징 없음</a:t>
            </a:r>
            <a:endParaRPr lang="en-US" sz="1100" dirty="0"/>
          </a:p>
        </p:txBody>
      </p:sp>
      <p:sp>
        <p:nvSpPr>
          <p:cNvPr id="43" name="card"/>
          <p:cNvSpPr/>
          <p:nvPr/>
        </p:nvSpPr>
        <p:spPr>
          <a:xfrm>
            <a:off x="7269480" y="3794760"/>
            <a:ext cx="2103120" cy="2240280"/>
          </a:xfrm>
          <a:prstGeom prst="roundRect">
            <a:avLst>
              <a:gd name="adj" fmla="val 3478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452360" y="3931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Ⅸ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452360" y="4251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MMDA·여신금리 관리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7452360" y="4846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2.5%</a:t>
            </a:r>
            <a:endParaRPr lang="en-US" sz="2100" dirty="0"/>
          </a:p>
        </p:txBody>
      </p:sp>
      <p:sp>
        <p:nvSpPr>
          <p:cNvPr id="47" name="Text 45"/>
          <p:cNvSpPr txBox="1"/>
          <p:nvPr/>
        </p:nvSpPr>
        <p:spPr>
          <a:xfrm>
            <a:off x="7452360" y="5394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 MMDA · 기준금리 3.0%</a:t>
            </a:r>
            <a:endParaRPr lang="en-US" sz="1100" dirty="0"/>
          </a:p>
        </p:txBody>
      </p:sp>
      <p:sp>
        <p:nvSpPr>
          <p:cNvPr id="48" name="card"/>
          <p:cNvSpPr/>
          <p:nvPr/>
        </p:nvSpPr>
        <p:spPr>
          <a:xfrm>
            <a:off x="9509760" y="3794760"/>
            <a:ext cx="2103120" cy="2240280"/>
          </a:xfrm>
          <a:prstGeom prst="roundRect">
            <a:avLst>
              <a:gd name="adj" fmla="val 3478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692640" y="3931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Ⅹ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4251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위수탁사업계약서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9692640" y="4846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595건</a:t>
            </a:r>
            <a:endParaRPr lang="en-US" sz="2100" dirty="0"/>
          </a:p>
        </p:txBody>
      </p:sp>
      <p:sp>
        <p:nvSpPr>
          <p:cNvPr id="52" name="Text 50"/>
          <p:cNvSpPr txBox="1"/>
          <p:nvPr/>
        </p:nvSpPr>
        <p:spPr>
          <a:xfrm>
            <a:off x="9692640" y="5394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 동기 대비 +8.8%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경영전략본부 부서원 소개 (11명)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94360" y="1161288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pic>
        <p:nvPicPr>
          <p:cNvPr id="4" name="Image 0" descr="D:\Desktop\타뱅발표\assets\p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1371600" cy="1828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3108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이현희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33649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경영전략본부</a:t>
            </a:r>
            <a:endParaRPr lang="en-US" sz="1100" dirty="0"/>
          </a:p>
        </p:txBody>
      </p:sp>
      <p:sp>
        <p:nvSpPr>
          <p:cNvPr id="7" name="card"/>
          <p:cNvSpPr/>
          <p:nvPr/>
        </p:nvSpPr>
        <p:spPr>
          <a:xfrm>
            <a:off x="2423160" y="1161288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pic>
        <p:nvPicPr>
          <p:cNvPr id="8" name="Image 1" descr="D:\Desktop\타뱅발표\assets\p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14600" y="1234440"/>
            <a:ext cx="1371600" cy="18288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423160" y="3108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김호철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2423160" y="33649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경영전략본부</a:t>
            </a:r>
            <a:endParaRPr lang="en-US" sz="1100" dirty="0"/>
          </a:p>
        </p:txBody>
      </p:sp>
      <p:sp>
        <p:nvSpPr>
          <p:cNvPr id="11" name="card"/>
          <p:cNvSpPr/>
          <p:nvPr/>
        </p:nvSpPr>
        <p:spPr>
          <a:xfrm>
            <a:off x="4251960" y="1161288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pic>
        <p:nvPicPr>
          <p:cNvPr id="12" name="Image 2" descr="D:\Desktop\타뱅발표\assets\p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43400" y="1234440"/>
            <a:ext cx="1371600" cy="18288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251960" y="3108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조은희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251960" y="33649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경영전략본부</a:t>
            </a:r>
            <a:endParaRPr lang="en-US" sz="1100" dirty="0"/>
          </a:p>
        </p:txBody>
      </p:sp>
      <p:sp>
        <p:nvSpPr>
          <p:cNvPr id="15" name="card"/>
          <p:cNvSpPr/>
          <p:nvPr/>
        </p:nvSpPr>
        <p:spPr>
          <a:xfrm>
            <a:off x="6080760" y="1161288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pic>
        <p:nvPicPr>
          <p:cNvPr id="16" name="Image 3" descr="D:\Desktop\타뱅발표\assets\p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72200" y="1234440"/>
            <a:ext cx="1371600" cy="18288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080760" y="3108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이은영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080760" y="33649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경영전략본부</a:t>
            </a:r>
            <a:endParaRPr lang="en-US" sz="1100" dirty="0"/>
          </a:p>
        </p:txBody>
      </p:sp>
      <p:sp>
        <p:nvSpPr>
          <p:cNvPr id="19" name="card"/>
          <p:cNvSpPr/>
          <p:nvPr/>
        </p:nvSpPr>
        <p:spPr>
          <a:xfrm>
            <a:off x="7909560" y="1161288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pic>
        <p:nvPicPr>
          <p:cNvPr id="20" name="Image 4" descr="D:\Desktop\타뱅발표\assets\p5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001000" y="1234440"/>
            <a:ext cx="1371600" cy="18288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909560" y="3108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최은지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7909560" y="33649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경영전략본부</a:t>
            </a:r>
            <a:endParaRPr lang="en-US" sz="1100" dirty="0"/>
          </a:p>
        </p:txBody>
      </p:sp>
      <p:sp>
        <p:nvSpPr>
          <p:cNvPr id="23" name="card"/>
          <p:cNvSpPr/>
          <p:nvPr/>
        </p:nvSpPr>
        <p:spPr>
          <a:xfrm>
            <a:off x="9738360" y="1161288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pic>
        <p:nvPicPr>
          <p:cNvPr id="24" name="Image 5" descr="D:\Desktop\타뱅발표\assets\p6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829800" y="1234440"/>
            <a:ext cx="1371600" cy="18288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738360" y="3108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문장한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9738360" y="33649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경영전략본부</a:t>
            </a:r>
            <a:endParaRPr lang="en-US" sz="1100" dirty="0"/>
          </a:p>
        </p:txBody>
      </p:sp>
      <p:sp>
        <p:nvSpPr>
          <p:cNvPr id="27" name="card"/>
          <p:cNvSpPr/>
          <p:nvPr/>
        </p:nvSpPr>
        <p:spPr>
          <a:xfrm>
            <a:off x="594360" y="3767328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pic>
        <p:nvPicPr>
          <p:cNvPr id="28" name="Image 6" descr="D:\Desktop\타뱅발표\assets\p7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85800" y="3840480"/>
            <a:ext cx="1371600" cy="182880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94360" y="5715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최병익</a:t>
            </a:r>
            <a:endParaRPr lang="en-US" sz="1600" dirty="0"/>
          </a:p>
        </p:txBody>
      </p:sp>
      <p:sp>
        <p:nvSpPr>
          <p:cNvPr id="30" name="Text 21"/>
          <p:cNvSpPr txBox="1"/>
          <p:nvPr/>
        </p:nvSpPr>
        <p:spPr>
          <a:xfrm>
            <a:off x="594360" y="59710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경영전략본부</a:t>
            </a:r>
            <a:endParaRPr lang="en-US" sz="1100" dirty="0"/>
          </a:p>
        </p:txBody>
      </p:sp>
      <p:sp>
        <p:nvSpPr>
          <p:cNvPr id="31" name="card"/>
          <p:cNvSpPr/>
          <p:nvPr/>
        </p:nvSpPr>
        <p:spPr>
          <a:xfrm>
            <a:off x="2423160" y="3767328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pic>
        <p:nvPicPr>
          <p:cNvPr id="32" name="Image 7" descr="D:\Desktop\타뱅발표\assets\p8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514600" y="3840480"/>
            <a:ext cx="1371600" cy="182880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2423160" y="5715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박성준</a:t>
            </a:r>
            <a:endParaRPr lang="en-US" sz="1600" dirty="0"/>
          </a:p>
        </p:txBody>
      </p:sp>
      <p:sp>
        <p:nvSpPr>
          <p:cNvPr id="34" name="Text 24"/>
          <p:cNvSpPr txBox="1"/>
          <p:nvPr/>
        </p:nvSpPr>
        <p:spPr>
          <a:xfrm>
            <a:off x="2423160" y="59710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경영전략본부</a:t>
            </a:r>
            <a:endParaRPr lang="en-US" sz="1100" dirty="0"/>
          </a:p>
        </p:txBody>
      </p:sp>
      <p:sp>
        <p:nvSpPr>
          <p:cNvPr id="35" name="card"/>
          <p:cNvSpPr/>
          <p:nvPr/>
        </p:nvSpPr>
        <p:spPr>
          <a:xfrm>
            <a:off x="4251960" y="3767328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pic>
        <p:nvPicPr>
          <p:cNvPr id="36" name="Image 8" descr="D:\Desktop\타뱅발표\assets\p9.jp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343400" y="3840480"/>
            <a:ext cx="1371600" cy="182880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4251960" y="5715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최기윤</a:t>
            </a:r>
            <a:endParaRPr lang="en-US" sz="1600" dirty="0"/>
          </a:p>
        </p:txBody>
      </p:sp>
      <p:sp>
        <p:nvSpPr>
          <p:cNvPr id="38" name="Text 27"/>
          <p:cNvSpPr txBox="1"/>
          <p:nvPr/>
        </p:nvSpPr>
        <p:spPr>
          <a:xfrm>
            <a:off x="4251960" y="59710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경영전략본부</a:t>
            </a:r>
            <a:endParaRPr lang="en-US" sz="1100" dirty="0"/>
          </a:p>
        </p:txBody>
      </p:sp>
      <p:sp>
        <p:nvSpPr>
          <p:cNvPr id="39" name="card"/>
          <p:cNvSpPr/>
          <p:nvPr/>
        </p:nvSpPr>
        <p:spPr>
          <a:xfrm>
            <a:off x="6080760" y="3767328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pic>
        <p:nvPicPr>
          <p:cNvPr id="40" name="Image 9" descr="D:\Desktop\타뱅발표\assets\p10.jp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172200" y="3840480"/>
            <a:ext cx="1371600" cy="1828800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6080760" y="5715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정현우</a:t>
            </a:r>
            <a:endParaRPr lang="en-US" sz="1600" dirty="0"/>
          </a:p>
        </p:txBody>
      </p:sp>
      <p:sp>
        <p:nvSpPr>
          <p:cNvPr id="42" name="Text 30"/>
          <p:cNvSpPr txBox="1"/>
          <p:nvPr/>
        </p:nvSpPr>
        <p:spPr>
          <a:xfrm>
            <a:off x="6080760" y="59710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경영전략본부</a:t>
            </a:r>
            <a:endParaRPr lang="en-US" sz="1100" dirty="0"/>
          </a:p>
        </p:txBody>
      </p:sp>
      <p:sp>
        <p:nvSpPr>
          <p:cNvPr id="43" name="card"/>
          <p:cNvSpPr/>
          <p:nvPr/>
        </p:nvSpPr>
        <p:spPr>
          <a:xfrm>
            <a:off x="7909560" y="3767328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pic>
        <p:nvPicPr>
          <p:cNvPr id="44" name="Image 10" descr="D:\Desktop\타뱅발표\assets\p11.jp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001000" y="3840480"/>
            <a:ext cx="1371600" cy="1828800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7909560" y="5715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임성윤</a:t>
            </a:r>
            <a:endParaRPr lang="en-US" sz="1600" dirty="0"/>
          </a:p>
        </p:txBody>
      </p:sp>
      <p:sp>
        <p:nvSpPr>
          <p:cNvPr id="46" name="Text 33"/>
          <p:cNvSpPr txBox="1"/>
          <p:nvPr/>
        </p:nvSpPr>
        <p:spPr>
          <a:xfrm>
            <a:off x="7909560" y="59710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경영전략본부</a:t>
            </a:r>
            <a:endParaRPr lang="en-US" sz="1100" dirty="0"/>
          </a:p>
        </p:txBody>
      </p:sp>
      <p:sp>
        <p:nvSpPr>
          <p:cNvPr id="47" name="card"/>
          <p:cNvSpPr/>
          <p:nvPr/>
        </p:nvSpPr>
        <p:spPr>
          <a:xfrm>
            <a:off x="9738360" y="3767328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48" name="Text 35"/>
          <p:cNvSpPr txBox="1"/>
          <p:nvPr/>
        </p:nvSpPr>
        <p:spPr>
          <a:xfrm>
            <a:off x="9738360" y="4480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B6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경영전략본부</a:t>
            </a:r>
            <a:endParaRPr lang="en-US" sz="1400" dirty="0"/>
          </a:p>
        </p:txBody>
      </p:sp>
      <p:sp>
        <p:nvSpPr>
          <p:cNvPr id="49" name="Text 36"/>
          <p:cNvSpPr txBox="1"/>
          <p:nvPr/>
        </p:nvSpPr>
        <p:spPr>
          <a:xfrm>
            <a:off x="9738360" y="4846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11명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Ⅰ. 2026년 3분기 관계사 관리법인 현황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20개</a:t>
            </a:r>
            <a:endParaRPr lang="en-US" sz="3200" dirty="0"/>
          </a:p>
        </p:txBody>
      </p:sp>
      <p:sp>
        <p:nvSpPr>
          <p:cNvPr id="6" name="card"/>
          <p:cNvSpPr/>
          <p:nvPr/>
        </p:nvSpPr>
        <p:spPr>
          <a:xfrm>
            <a:off x="3108960" y="132588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(+2)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7830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22개</a:t>
            </a:r>
            <a:endParaRPr lang="en-US" sz="3200" dirty="0"/>
          </a:p>
        </p:txBody>
      </p:sp>
      <p:sp>
        <p:nvSpPr>
          <p:cNvPr id="9" name="card"/>
          <p:cNvSpPr/>
          <p:nvPr/>
        </p:nvSpPr>
        <p:spPr>
          <a:xfrm>
            <a:off x="548640" y="324612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신규 법인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79476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2026.01  굿타이어㈜ 신규 설립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2026.04  ㈜파멥신 경영권 확보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2026.07  심뱅스㈜ 경영권 확보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21. 굿타이어㈜ / 22. 심뱅스㈜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532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체계적 업무 분장으로 증가한 법인에 효율적으로 대응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5760720" y="1325880"/>
            <a:ext cx="5897880" cy="4846320"/>
          </a:xfrm>
          <a:prstGeom prst="roundRect">
            <a:avLst>
              <a:gd name="adj" fmla="val 1509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89320" y="1463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관리법인 22개 목록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1920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타이어뱅크㈜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22905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성공을만드는㈜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989320" y="26609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재미슨㈜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30312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농업법인㈜풍년농사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89320" y="34015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㈜최고좋은터 행복한집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989320" y="37719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㈜AP홀딩스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989320" y="41422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성공㈜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989320" y="45125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건물코디뱅크㈜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989320" y="488289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파이프뱅크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52532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선농종합식품㈜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989320" y="56235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㈜파멥신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823960" y="1920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에어프레미아㈜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823960" y="22905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㈜폴리텍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823960" y="26609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㈜영종도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823960" y="30312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농업법인㈜좋은농사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823960" y="34015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재단법인 성공사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823960" y="37719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17.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성공정보통신㈜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823960" y="41422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18.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좋은타이어㈜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823960" y="45125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19.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㈜원풍약품상사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823960" y="488289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20.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㈜AP랩스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823960" y="52532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21. </a:t>
            </a:r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굿타이어㈜  NEW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823960" y="56235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22. </a:t>
            </a:r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심뱅스㈜  NEW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Ⅱ. 관리법인 자체 기장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자금·세무·회계·총무·인사 등 자체 장부를 시행하여 빠르고 정확한 의사결정에 기여</a:t>
            </a:r>
            <a:endParaRPr lang="en-US" sz="1400" dirty="0"/>
          </a:p>
        </p:txBody>
      </p:sp>
      <p:sp>
        <p:nvSpPr>
          <p:cNvPr id="4" name="card"/>
          <p:cNvSpPr/>
          <p:nvPr/>
        </p:nvSpPr>
        <p:spPr>
          <a:xfrm>
            <a:off x="548640" y="1645920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세무회계 · 부가가치세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31520" y="2148840"/>
          <a:ext cx="32918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77240" y="46634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관계사 22개 법인 중 5개 법인을 제외한 17개 법인에 대하여 자체적으로 신고·납부 수행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4389120" y="1645920"/>
            <a:ext cx="3566160" cy="4526280"/>
          </a:xfrm>
          <a:prstGeom prst="roundRect">
            <a:avLst>
              <a:gd name="adj" fmla="val 2051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17720" y="1783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세금업무 · 주민세 사업소분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617720" y="2377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539개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4617720" y="347472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타이어뱅크 539개 지자체 사업소분 주민세를 직접 신고 및 납부 완료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8138160" y="1645920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66760" y="1783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재무회계 · 기업가치 극대화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366760" y="2286000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손익계산서 보고(매월 15일)로 경영자 의사결정 기여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매출채권 회수 기일 검토를 통한 미수채권 관리 (대손채권 방지)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손익분기점 분석으로 원가 통제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Ⅲ. 소득금액 변동통지 승소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983480"/>
                <a:gridCol w="4572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쟁점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2016.11.28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세무조사 결과 통지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30일간 과세전적부심사 청구가 가능했으나 3일 만에 1차 소득금액변동통지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2024.03.26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서대전세무서, 2013년도 통지(약 72억)를 스스로 취소하고 69억원으로 줄여 예고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2024.03.27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소득금액 변경통지 (소송의 대상)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30일 간의 반론 기회를 주지 않아 위법 (2차)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2026.08.27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대전지법 판결, 타이어뱅크 승소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2024.03.27 통지 무효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548640" y="5074920"/>
            <a:ext cx="11109960" cy="1188720"/>
          </a:xfrm>
          <a:prstGeom prst="roundRect">
            <a:avLst>
              <a:gd name="adj" fmla="val 6154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52120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B6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2194560" y="5212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원천징수예상세액 약 25억 가량 환급 예정 (환급 진행 중)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Ⅳ. 원풍약품상사 재고 실사 결과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6035040" cy="2423160"/>
          </a:xfrm>
          <a:prstGeom prst="roundRect">
            <a:avLst>
              <a:gd name="adj" fmla="val 3019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898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실사 개요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5669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일자: 2026년 9월 28일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실사자: 경영전략본부 박성준, 최기윤, 정현우 / 원풍약품상사 손광식, 유경천, 진성오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중점: 전산 재고와 실사 재고 일치 확인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2026년도 ERP 개발 완료 후 도입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6766560" y="1280160"/>
            <a:ext cx="2468880" cy="2423160"/>
          </a:xfrm>
          <a:prstGeom prst="roundRect">
            <a:avLst>
              <a:gd name="adj" fmla="val 3019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0" y="1417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 재고 예상 금액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173736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7.5억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3291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유통기한 경과분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9372600" y="1280160"/>
            <a:ext cx="2286000" cy="2423160"/>
          </a:xfrm>
          <a:prstGeom prst="roundRect">
            <a:avLst>
              <a:gd name="adj" fmla="val 3200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55480" y="1417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법인세 절감 (24.2%)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555480" y="1737360"/>
            <a:ext cx="1920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D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1.8억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9555480" y="3291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법인세+지방소득세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548640" y="3886200"/>
            <a:ext cx="11109960" cy="2423160"/>
          </a:xfrm>
          <a:prstGeom prst="roundRect">
            <a:avLst>
              <a:gd name="adj" fmla="val 3019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실사 결과표</a:t>
            </a:r>
            <a:endParaRPr lang="en-US" sz="1300" dirty="0"/>
          </a:p>
        </p:txBody>
      </p:sp>
      <p:pic>
        <p:nvPicPr>
          <p:cNvPr id="16" name="Image 0" descr="D:\Desktop\타뱅발표\assets\invento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1680" y="4297680"/>
            <a:ext cx="8138160" cy="1920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Ⅴ. 에어프레미아 파견  /  Ⅵ. 좋은타이어 회계프로그램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5440680" cy="4937760"/>
          </a:xfrm>
          <a:prstGeom prst="roundRect">
            <a:avLst>
              <a:gd name="adj" fmla="val 1481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Ⅴ. 관계사 에어프레미아㈜ 파견 근무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파견자: 박성준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일정: 2026. 05. 18 ~ 07. 16 (약 2개월)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 수입심사(RA)파트 결원으로 인한 행정업무 지원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업무 결과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70332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수입심사 업무 Process 숙지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거래처 정산 이상 사례 확인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프로모션 오남용 확인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NF 티켓 운영 검토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440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운영 현황 파악으로 개선 방안 도출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6217920" y="1280160"/>
            <a:ext cx="5440680" cy="4937760"/>
          </a:xfrm>
          <a:prstGeom prst="roundRect">
            <a:avLst>
              <a:gd name="adj" fmla="val 1481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417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Ⅵ. 좋은타이어 회계프로그램 변경·자동전표 연동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192024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9개 매장(이천, 공촌, 유성, 안동, 동아산, 녹산, 양곡, 기흥, 서산점) 운영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매출·재고 관리 모두 수기 엑셀 작업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회계(제닉스X)·인사 프로그램 도입 및 자동전표 연동 완료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회계프로그램에 맞춰 판매 프로그램 ERP 설계 완료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5120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기대효과: 수기 항목 전산화, 업무 시간 단축, 판매관리·매장별 재고 정확성 검증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Ⅶ. 농업법인 농지 자경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4572000" cy="3383280"/>
          </a:xfrm>
          <a:prstGeom prst="roundRect">
            <a:avLst>
              <a:gd name="adj" fmla="val 2162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898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농지 전수조사 경과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4114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2026. 2. 24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대통령 국무회의 전수조사 지시, 투기 농지 매각명령 집행 검토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2026. 5. 7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농지법 개정안 국회 본회의 통과 (처분명령 강화)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5 ~ 2027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전수조사: ’26년 1996년 이후 취득 농지, ’27년 그 이전 취득 농지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548640" y="484632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983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자경 완료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303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 지역</a:t>
            </a:r>
            <a:endParaRPr lang="en-US" sz="2600" dirty="0"/>
          </a:p>
        </p:txBody>
      </p:sp>
      <p:sp>
        <p:nvSpPr>
          <p:cNvPr id="9" name="card"/>
          <p:cNvSpPr/>
          <p:nvPr/>
        </p:nvSpPr>
        <p:spPr>
          <a:xfrm>
            <a:off x="2926080" y="484632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08960" y="4983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179,079㎡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5303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54,164평</a:t>
            </a:r>
            <a:endParaRPr lang="en-US" sz="2600" dirty="0"/>
          </a:p>
        </p:txBody>
      </p:sp>
      <p:sp>
        <p:nvSpPr>
          <p:cNvPr id="12" name="card"/>
          <p:cNvSpPr/>
          <p:nvPr/>
        </p:nvSpPr>
        <p:spPr>
          <a:xfrm>
            <a:off x="5349240" y="1280160"/>
            <a:ext cx="6309360" cy="4937760"/>
          </a:xfrm>
          <a:prstGeom prst="roundRect">
            <a:avLst>
              <a:gd name="adj" fmla="val 1481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graphicFrame>
        <p:nvGraphicFramePr>
          <p:cNvPr id="13" name="Chart 0" descr=""/>
          <p:cNvGraphicFramePr/>
          <p:nvPr/>
        </p:nvGraphicFramePr>
        <p:xfrm>
          <a:off x="5486400" y="1371600"/>
          <a:ext cx="60350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Ⅶ. 농지 자경 전 · 후 사진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세종특별시</a:t>
            </a:r>
            <a:endParaRPr lang="en-US" sz="1600" dirty="0"/>
          </a:p>
        </p:txBody>
      </p:sp>
      <p:pic>
        <p:nvPicPr>
          <p:cNvPr id="4" name="Image 0" descr="D:\Desktop\타뱅발표\assets\sejong_befo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3611880" cy="2103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91640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4B55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69164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자경 전</a:t>
            </a:r>
            <a:endParaRPr lang="en-US" sz="1200" dirty="0"/>
          </a:p>
        </p:txBody>
      </p:sp>
      <p:pic>
        <p:nvPicPr>
          <p:cNvPr id="7" name="Image 1" descr="D:\Desktop\타뱅발표\assets\sejong_after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4023360"/>
            <a:ext cx="3611880" cy="21031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4114800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2E7D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41148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자경 후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297680" y="11887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대전광역시</a:t>
            </a:r>
            <a:endParaRPr lang="en-US" sz="1600" dirty="0"/>
          </a:p>
        </p:txBody>
      </p:sp>
      <p:pic>
        <p:nvPicPr>
          <p:cNvPr id="11" name="Image 2" descr="D:\Desktop\타뱅발표\assets\daejeon_befor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297680" y="1600200"/>
            <a:ext cx="3611880" cy="210312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389120" y="1691640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4B55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389120" y="169164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자경 전</a:t>
            </a:r>
            <a:endParaRPr lang="en-US" sz="1200" dirty="0"/>
          </a:p>
        </p:txBody>
      </p:sp>
      <p:pic>
        <p:nvPicPr>
          <p:cNvPr id="14" name="Image 3" descr="D:\Desktop\타뱅발표\assets\daejeon_after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97680" y="4023360"/>
            <a:ext cx="3611880" cy="210312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389120" y="4114800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2E7D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4389120" y="41148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자경 후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8046720" y="11887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전북특별자치도</a:t>
            </a:r>
            <a:endParaRPr lang="en-US" sz="1600" dirty="0"/>
          </a:p>
        </p:txBody>
      </p:sp>
      <p:pic>
        <p:nvPicPr>
          <p:cNvPr id="18" name="Image 4" descr="D:\Desktop\타뱅발표\assets\jeonbuk_before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046720" y="1600200"/>
            <a:ext cx="3611880" cy="210312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8138160" y="1691640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4B55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8138160" y="169164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자경 전</a:t>
            </a:r>
            <a:endParaRPr lang="en-US" sz="1200" dirty="0"/>
          </a:p>
        </p:txBody>
      </p:sp>
      <p:pic>
        <p:nvPicPr>
          <p:cNvPr id="21" name="Image 5" descr="D:\Desktop\타뱅발표\assets\jeonbuk_after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046720" y="4023360"/>
            <a:ext cx="3611880" cy="21031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138160" y="4114800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2E7D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8138160" y="41148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자경 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Ⅷ. 지방세 서면조사 “적정”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직원들의 탁월한 직무 능력으로 평소 세무 신고가 정확했음을 지자체 외부 조사로 확인 (추징세액 없음)</a:t>
            </a:r>
            <a:endParaRPr lang="en-US" sz="1400" dirty="0"/>
          </a:p>
        </p:txBody>
      </p:sp>
      <p:sp>
        <p:nvSpPr>
          <p:cNvPr id="4" name="card"/>
          <p:cNvSpPr/>
          <p:nvPr/>
        </p:nvSpPr>
        <p:spPr>
          <a:xfrm>
            <a:off x="548640" y="164592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556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춘천시청 · 5개년도 (2021~2025)</a:t>
            </a:r>
            <a:endParaRPr lang="en-US" sz="1400" dirty="0"/>
          </a:p>
        </p:txBody>
      </p:sp>
      <p:pic>
        <p:nvPicPr>
          <p:cNvPr id="6" name="Image 0" descr="D:\Desktop\타뱅발표\assets\chunche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2148840"/>
            <a:ext cx="5029200" cy="33832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5669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춘천시 소재 5개 매장 · 조사결과 “해당 없음(추징세액 없음)”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6172200" y="164592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17556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전주시청 · 4개년도 (2022~2025)</a:t>
            </a:r>
            <a:endParaRPr lang="en-US" sz="1400" dirty="0"/>
          </a:p>
        </p:txBody>
      </p:sp>
      <p:pic>
        <p:nvPicPr>
          <p:cNvPr id="10" name="Image 1" descr="D:\Desktop\타뱅발표\assets\jeonju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0" y="2148840"/>
            <a:ext cx="5029200" cy="33832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0" y="5669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전주시 소재 11개 매장 · 조사결과 “적정”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Ⅸ. MMDA 이자율 및 여신금리 관리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이자수익의 극대화 · 이자비용의 최소화</a:t>
            </a:r>
            <a:endParaRPr lang="en-US" sz="1400" dirty="0"/>
          </a:p>
        </p:txBody>
      </p:sp>
      <p:sp>
        <p:nvSpPr>
          <p:cNvPr id="4" name="card"/>
          <p:cNvSpPr/>
          <p:nvPr/>
        </p:nvSpPr>
        <p:spPr>
          <a:xfrm>
            <a:off x="548640" y="1645920"/>
            <a:ext cx="5852160" cy="4572000"/>
          </a:xfrm>
          <a:prstGeom prst="roundRect">
            <a:avLst>
              <a:gd name="adj" fmla="val 1600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31520" y="1737360"/>
          <a:ext cx="54864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"/>
          <p:cNvSpPr/>
          <p:nvPr/>
        </p:nvSpPr>
        <p:spPr>
          <a:xfrm>
            <a:off x="6583680" y="1645920"/>
            <a:ext cx="5074920" cy="2194560"/>
          </a:xfrm>
          <a:prstGeom prst="roundRect">
            <a:avLst>
              <a:gd name="adj" fmla="val 3333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12280" y="1755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MMDA 이자율 관리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12280" y="219456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 금융기관의 매월 MMDA 이자율을 확인하여 당좌자산 예치 금융기관을 결정, 이자수익 극대화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6583680" y="4023360"/>
            <a:ext cx="5074920" cy="2194560"/>
          </a:xfrm>
          <a:prstGeom prst="roundRect">
            <a:avLst>
              <a:gd name="adj" fmla="val 3333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12280" y="41330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여신 금리 이자율 관리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81228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기준금리 인상으로 여신 금리 상승. 지속적으로 이자율을 확인하여 상환 혹은 연장 진행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Ⅹ. 위수탁사업계약서 595건 작성 완료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1887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계약서 작성 건수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45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595건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 동기 547건 · +8.8%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3337560" y="11887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신규·변동 매장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1645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9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322건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월평균 35.8건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6126480" y="11887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재계약 매장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645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5F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273건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월평균 30.3건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8915400" y="118872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9828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9월말 매장 수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098280" y="1645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D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545개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909828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연초 대비 +25개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548640" y="2743200"/>
            <a:ext cx="7315200" cy="3520440"/>
          </a:xfrm>
          <a:prstGeom prst="roundRect">
            <a:avLst>
              <a:gd name="adj" fmla="val 2078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graphicFrame>
        <p:nvGraphicFramePr>
          <p:cNvPr id="20" name="Chart 0" descr=""/>
          <p:cNvGraphicFramePr/>
          <p:nvPr/>
        </p:nvGraphicFramePr>
        <p:xfrm>
          <a:off x="640080" y="2788920"/>
          <a:ext cx="713232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card"/>
          <p:cNvSpPr/>
          <p:nvPr/>
        </p:nvSpPr>
        <p:spPr>
          <a:xfrm>
            <a:off x="8046720" y="2743200"/>
            <a:ext cx="3611880" cy="3520440"/>
          </a:xfrm>
          <a:prstGeom prst="roundRect">
            <a:avLst>
              <a:gd name="adj" fmla="val 2078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75320" y="28529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사항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275320" y="324612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1~9월 계약 595건, 전년 동기 대비 48건(8.8%) 증가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신규·이동 322건, 재계약 273건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26개·폐점 1개로 연초 대비 25개 증가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3·7·8월 과다 → 월 30개 이내 관리 필요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Ⅹ. 위수탁사업계약서 업무 성과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560320"/>
                <a:gridCol w="67208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실행업무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성과 분석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468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위수탁사업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계약서 작성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및 사업장변경,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재계약 계약서 작성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경영전략본부 8명이 전체 595건 계약서 체결 완료 (1명당 약 74건, 월 평균 약 8건)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2026년 10월부터 신규·사업장변경 계약서 작성 업무를 사업주전담팀으로 이관 완료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 이관분 검토, 사업주 신원보증보험, 세무대리인, 계약서 이력 관리, 재계약 관련 업무는 경영전략본부에서 동일하게 수행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548640" y="4480560"/>
            <a:ext cx="11109960" cy="1645920"/>
          </a:xfrm>
          <a:prstGeom prst="roundRect">
            <a:avLst>
              <a:gd name="adj" fmla="val 4444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B6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수탁사업주 위임 하에 세무대리인에게 개업 의뢰 요청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5166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 미등록으로 인한 가산세 및 매입세액 불공제 문제 해결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Ⅱ. 2026년 4분기 중점업무 추진목표 ①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109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6720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예정업무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 업무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조세쟁송업무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행정심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2014년 귀속 상여처분에 대한 행정심 대응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자금관리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MMDA 및 여신 금리 이자율 관리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매월 MMDA 이자율 확인으로 예치 금융기관을 결정하여 이자수익 극대화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여신 금리 관리를 통한 이자비용 최소화 추진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세법검토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2027년 개정세법 검토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세법검토 및 세법연구를 통해 2026년 귀속 법인세 절감 연구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외부감사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 외부감사 대응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타이어뱅크㈜ / ㈜원풍약품상사 / 농업회사법인㈜풍년농사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㈜AP홀딩스 / 성공을만드는㈜ / 성공㈜ / 농업회사법인㈜좋은농사 / 선농종합식품㈜ 예정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세무업무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세금 신고 및 납부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부가가치세, 취득세(경대교, 조치원) 신고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양도소득세(남전주점 토지·건물 매각 건) 신고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Ⅱ. 2026년 4분기 중점업무 추진목표 ②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109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194560"/>
                <a:gridCol w="6995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예정업무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 업무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프로그램 개발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ERP 구축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2027년도 도입 예정 AI 기반 “옴니이솔”: 인사, 회계, 그룹웨어, 메신저, 전자결재, 1인 1 GPT, 모바일결제를 하나의 플랫폼에서 지원 (2026년 11월 9일부터 일부 오픈 사용 가능)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관계법인 관리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 내 마감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선농종합식품 재고실사(2026년 10월 29일 예정)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성공㈜, 성공정보통신㈜ 법인 중임 등기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재무업무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결산업무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장부를 실행하는 17개 법인에 대하여 2026년 귀속 결산 업무 진행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광고비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광고비 수입 증가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547개 매장 내 설치 예정인 “사이니지 TV”에 당사 홍보·광고영상 외에 타사 광고 요청을 받아 광고비 수익 증가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프로그램 고도화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ERP 고도화 개발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원풍약품상사㈜ ERP를 2026년 개발 완료하여 물류 정확성 확보, 하반기부터 “영업관리” 기능(채권채무, 업체별 신용관리, 거래처 영업관리) 추가 개발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Ⅱ. 법인세 절감 · 폐기재고 결산 반영 효과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원풍약품상사㈜ 2026년 9월 28일 재고실사 결과, 유통기한 경과 폐기 재고(7.5억)를 금년도 결산에 반영</a:t>
            </a:r>
            <a:endParaRPr lang="en-US" sz="1400" dirty="0"/>
          </a:p>
        </p:txBody>
      </p:sp>
      <p:sp>
        <p:nvSpPr>
          <p:cNvPr id="4" name="card"/>
          <p:cNvSpPr/>
          <p:nvPr/>
        </p:nvSpPr>
        <p:spPr>
          <a:xfrm>
            <a:off x="548640" y="182880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세전 이익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−7.5억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 재고 반영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886200" y="1828800"/>
            <a:ext cx="548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3600" dirty="0"/>
          </a:p>
        </p:txBody>
      </p:sp>
      <p:sp>
        <p:nvSpPr>
          <p:cNvPr id="9" name="card"/>
          <p:cNvSpPr/>
          <p:nvPr/>
        </p:nvSpPr>
        <p:spPr>
          <a:xfrm>
            <a:off x="4480560" y="182880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965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법인세 + 지방소득세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860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D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+1.8억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절감 24.2%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1828800"/>
            <a:ext cx="548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endParaRPr lang="en-US" sz="3600" dirty="0"/>
          </a:p>
        </p:txBody>
      </p:sp>
      <p:sp>
        <p:nvSpPr>
          <p:cNvPr id="14" name="card"/>
          <p:cNvSpPr/>
          <p:nvPr/>
        </p:nvSpPr>
        <p:spPr>
          <a:xfrm>
            <a:off x="8412480" y="1828800"/>
            <a:ext cx="3246120" cy="2377440"/>
          </a:xfrm>
          <a:prstGeom prst="roundRect">
            <a:avLst>
              <a:gd name="adj" fmla="val 3077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95360" y="19659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세후 순이익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228600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5F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−5.7억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37947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순이익 영향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548640" y="4480560"/>
            <a:ext cx="11109960" cy="1645920"/>
          </a:xfrm>
          <a:prstGeom prst="roundRect">
            <a:avLst>
              <a:gd name="adj" fmla="val 4444"/>
            </a:avLst>
          </a:prstGeom>
          <a:solidFill>
            <a:srgbClr val="F3F5FA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유통기한 경과 폐기 재고 (2026.9.28 재고실사 확인분)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효과: 세전 이익 −7.5억 → 법인세·지방소득세 1.8억(24.2%) 절감 → 세후 순이익 −5.7억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774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경영전략본부 · 2026년 3분기 실적보고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reBank Report">
  <a:themeElements>
    <a:clrScheme name="TireBank Report">
      <a:dk1>
        <a:srgbClr val="1F2937"/>
      </a:dk1>
      <a:lt1>
        <a:srgbClr val="FFFFFF"/>
      </a:lt1>
      <a:dk2>
        <a:srgbClr val="14213D"/>
      </a:dk2>
      <a:lt2>
        <a:srgbClr val="F3F5FA"/>
      </a:lt2>
      <a:accent1>
        <a:srgbClr val="14213D"/>
      </a:accent1>
      <a:accent2>
        <a:srgbClr val="B8922F"/>
      </a:accent2>
      <a:accent3>
        <a:srgbClr val="2B5FA3"/>
      </a:accent3>
      <a:accent4>
        <a:srgbClr val="2E7D6B"/>
      </a:accent4>
      <a:accent5>
        <a:srgbClr val="C0392B"/>
      </a:accent5>
      <a:accent6>
        <a:srgbClr val="6B7280"/>
      </a:accent6>
      <a:hlink>
        <a:srgbClr val="2B5FA3"/>
      </a:hlink>
      <a:folHlink>
        <a:srgbClr val="6B7280"/>
      </a:folHlink>
    </a:clrScheme>
    <a:fontScheme name="TireBank Report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경영전략본부 2026년 3분기 실적보고 (서면자료)</dc:title>
  <dc:subject>PptxGenJS Presentation</dc:subject>
  <dc:creator>경영전략본부</dc:creator>
  <cp:lastModifiedBy>경영전략본부</cp:lastModifiedBy>
  <cp:revision>1</cp:revision>
  <dcterms:created xsi:type="dcterms:W3CDTF">2026-10-21T05:31:37Z</dcterms:created>
  <dcterms:modified xsi:type="dcterms:W3CDTF">2026-10-21T05:31:37Z</dcterms:modified>
</cp:coreProperties>
</file>