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0-1.jpg" ContentType="image/jpg"/>
  <Override PartName="/ppt/media/image-11-1.jpg" ContentType="image/jpg"/>
  <Override PartName="/ppt/media/image-12-1.jpg" ContentType="image/jpg"/>
  <Override PartName="/ppt/media/image-13-10.jpg" ContentType="image/jpg"/>
  <Override PartName="/ppt/media/image-13-11.jpg" ContentType="image/jpg"/>
  <Override PartName="/ppt/media/image-13-12.jpg" ContentType="image/jpg"/>
  <Override PartName="/ppt/media/image-13-2.jpg" ContentType="image/jpg"/>
  <Override PartName="/ppt/media/image-13-3.jpg" ContentType="image/jpg"/>
  <Override PartName="/ppt/media/image-13-4.jpg" ContentType="image/jpg"/>
  <Override PartName="/ppt/media/image-13-5.jpg" ContentType="image/jpg"/>
  <Override PartName="/ppt/media/image-13-6.jpg" ContentType="image/jpg"/>
  <Override PartName="/ppt/media/image-13-7.jpg" ContentType="image/jpg"/>
  <Override PartName="/ppt/media/image-13-8.jpg" ContentType="image/jpg"/>
  <Override PartName="/ppt/media/image-13-9.jpg" ContentType="image/jpg"/>
  <Override PartName="/ppt/media/image-19-2.jpg" ContentType="image/jpg"/>
  <Override PartName="/ppt/media/image-2-1.jpg" ContentType="image/jpg"/>
  <Override PartName="/ppt/media/image-24-2.jpg" ContentType="image/jpg"/>
  <Override PartName="/ppt/media/image-24-3.jpg" ContentType="image/jpg"/>
  <Override PartName="/ppt/media/image-25-2.jpg" ContentType="image/jpg"/>
  <Override PartName="/ppt/media/image-25-3.jpg" ContentType="image/jpg"/>
  <Override PartName="/ppt/media/image-26-2.jpg" ContentType="image/jpg"/>
  <Override PartName="/ppt/media/image-26-3.jpg" ContentType="image/jpg"/>
  <Override PartName="/ppt/media/image-27-2.jpg" ContentType="image/jpg"/>
  <Override PartName="/ppt/media/image-27-3.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법인</c:v>
                </c:pt>
              </c:strCache>
            </c:strRef>
          </c:tx>
          <c:spPr>
            <a:solidFill>
              <a:schemeClr val="accent1"/>
            </a:solidFill>
            <a:ln w="9525" cap="flat">
              <a:solidFill>
                <a:srgbClr val="F9F9F9"/>
              </a:solidFill>
              <a:prstDash val="solid"/>
              <a:round/>
            </a:ln>
            <a:effectLst/>
          </c:spPr>
          <c:dPt>
            <c:idx val="0"/>
            <c:bubble3D val="0"/>
            <c:spPr>
              <a:solidFill>
                <a:srgbClr val="F3DCA4"/>
              </a:solidFill>
              <a:ln w="9525" cap="flat">
                <a:solidFill>
                  <a:srgbClr val="16233E"/>
                </a:solidFill>
                <a:prstDash val="solid"/>
                <a:round/>
              </a:ln>
              <a:effectLst/>
            </c:spPr>
          </c:dPt>
          <c:dPt>
            <c:idx val="1"/>
            <c:bubble3D val="0"/>
            <c:spPr>
              <a:solidFill>
                <a:srgbClr val="2C3E63"/>
              </a:solidFill>
              <a:ln w="9525" cap="flat">
                <a:solidFill>
                  <a:srgbClr val="16233E"/>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자체 신고 17개</c:v>
                </c:pt>
                <c:pt idx="1">
                  <c:v>그 외 5개</c:v>
                </c:pt>
              </c:strCache>
            </c:strRef>
          </c:cat>
          <c:val>
            <c:numRef>
              <c:f>Sheet1!$B$2:$B$3</c:f>
              <c:numCache>
                <c:ptCount val="2"/>
                <c:pt idx="0">
                  <c:v>17</c:v>
                </c:pt>
                <c:pt idx="1">
                  <c:v>5</c:v>
                </c:pt>
              </c:numCache>
            </c:numRef>
          </c:val>
        </c:ser>
        <c:firstSliceAng val="0"/>
        <c:holeSize val="64"/>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자경 면적(평)</c:v>
                </c:pt>
              </c:strCache>
            </c:strRef>
          </c:tx>
          <c:spPr>
            <a:solidFill>
              <a:srgbClr val="D9B66F"/>
            </a:solidFill>
            <a:effectLst/>
          </c:spPr>
          <c:invertIfNegative val="0"/>
          <c:dLbls>
            <c:numFmt formatCode="#,##0" sourceLinked="0"/>
            <c:txPr>
              <a:bodyPr/>
              <a:lstStyle/>
              <a:p>
                <a:pPr>
                  <a:defRPr b="0" i="0" strike="noStrike" sz="1100" u="none">
                    <a:solidFill>
                      <a:srgbClr val="F5F2EA"/>
                    </a:solidFill>
                    <a:latin typeface="Malgun Gothic"/>
                  </a:defRPr>
                </a:pPr>
              </a:p>
            </c:txPr>
            <c:showLegendKey val="0"/>
            <c:showVal val="1"/>
            <c:showCatName val="0"/>
            <c:showSerName val="0"/>
            <c:showPercent val="0"/>
            <c:showBubbleSize val="0"/>
            <c:showLeaderLines val="0"/>
          </c:dLbls>
          <c:cat>
            <c:multiLvlStrRef>
              <c:f>Sheet1!$A$2:$A$13</c:f>
              <c:multiLvlStrCache>
                <c:ptCount val="12"/>
                <c:lvl>
                  <c:pt idx="0">
                    <c:v>세종특별자치시</c:v>
                  </c:pt>
                  <c:pt idx="1">
                    <c:v>충남 천안시</c:v>
                  </c:pt>
                  <c:pt idx="2">
                    <c:v>인천광역시</c:v>
                  </c:pt>
                  <c:pt idx="3">
                    <c:v>대전광역시</c:v>
                  </c:pt>
                  <c:pt idx="4">
                    <c:v>충남 공주시</c:v>
                  </c:pt>
                  <c:pt idx="5">
                    <c:v>경북 경주시</c:v>
                  </c:pt>
                  <c:pt idx="6">
                    <c:v>경기 시흥시</c:v>
                  </c:pt>
                  <c:pt idx="7">
                    <c:v>전북특별자치도</c:v>
                  </c:pt>
                  <c:pt idx="8">
                    <c:v>경기 안산시</c:v>
                  </c:pt>
                  <c:pt idx="9">
                    <c:v>경기 양주시</c:v>
                  </c:pt>
                  <c:pt idx="10">
                    <c:v>전남광주통합특별시</c:v>
                  </c:pt>
                  <c:pt idx="11">
                    <c:v>충남 부여군</c:v>
                  </c:pt>
                </c:lvl>
              </c:multiLvlStrCache>
            </c:multiLvlStrRef>
          </c:cat>
          <c:val>
            <c:numRef>
              <c:f>Sheet1!$B$2:$B$13</c:f>
              <c:numCache>
                <c:formatCode>General</c:formatCode>
                <c:ptCount val="12"/>
                <c:pt idx="0">
                  <c:v>22323</c:v>
                </c:pt>
                <c:pt idx="1">
                  <c:v>15385</c:v>
                </c:pt>
                <c:pt idx="2">
                  <c:v>12645</c:v>
                </c:pt>
                <c:pt idx="3">
                  <c:v>1685</c:v>
                </c:pt>
                <c:pt idx="4">
                  <c:v>567</c:v>
                </c:pt>
                <c:pt idx="5">
                  <c:v>416</c:v>
                </c:pt>
                <c:pt idx="6">
                  <c:v>308</c:v>
                </c:pt>
                <c:pt idx="7">
                  <c:v>280</c:v>
                </c:pt>
                <c:pt idx="8">
                  <c:v>200</c:v>
                </c:pt>
                <c:pt idx="9">
                  <c:v>184</c:v>
                </c:pt>
                <c:pt idx="10">
                  <c:v>138</c:v>
                </c:pt>
                <c:pt idx="11">
                  <c:v>33</c:v>
                </c:pt>
              </c:numCache>
            </c:numRef>
          </c:val>
        </c:ser>
        <c:dLbls>
          <c:numFmt formatCode="#,##0" sourceLinked="0"/>
          <c:txPr>
            <a:bodyPr/>
            <a:lstStyle/>
            <a:p>
              <a:pPr>
                <a:defRPr b="0" i="0" strike="noStrike" sz="1100" u="none">
                  <a:solidFill>
                    <a:srgbClr val="F5F2EA"/>
                  </a:solidFill>
                  <a:latin typeface="Malgun Gothic"/>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5F2EA"/>
                </a:solidFill>
                <a:latin typeface="Malgun Gothic"/>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A9B3C9"/>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변동 매장</c:v>
                </c:pt>
              </c:strCache>
            </c:strRef>
          </c:tx>
          <c:spPr>
            <a:solidFill>
              <a:srgbClr val="D9B66F"/>
            </a:solidFill>
            <a:effectLst/>
          </c:spPr>
          <c:invertIfNegative val="0"/>
          <c:dLbls>
            <c:numFmt formatCode="#,##0" sourceLinked="0"/>
            <c:txPr>
              <a:bodyPr/>
              <a:lstStyle/>
              <a:p>
                <a:pPr>
                  <a:defRPr b="0" i="0" strike="noStrike" sz="900" u="none">
                    <a:solidFill>
                      <a:srgbClr val="F5F2EA"/>
                    </a:solidFill>
                    <a:latin typeface="Malgun Gothic"/>
                  </a:defRPr>
                </a:pPr>
              </a:p>
            </c:txPr>
            <c:showLegendKey val="0"/>
            <c:showVal val="1"/>
            <c:showCatName val="0"/>
            <c:showSerName val="0"/>
            <c:showPercent val="0"/>
            <c:showBubbleSize val="0"/>
            <c:showLeaderLines val="0"/>
          </c:dLbls>
          <c:cat>
            <c:multiLvlStrRef>
              <c:f>Sheet1!$A$2:$A$10</c:f>
              <c:multiLvlStrCache>
                <c:ptCount val="9"/>
                <c:lvl>
                  <c:pt idx="0">
                    <c:v>1월</c:v>
                  </c:pt>
                  <c:pt idx="1">
                    <c:v>2월</c:v>
                  </c:pt>
                  <c:pt idx="2">
                    <c:v>3월</c:v>
                  </c:pt>
                  <c:pt idx="3">
                    <c:v>4월</c:v>
                  </c:pt>
                  <c:pt idx="4">
                    <c:v>5월</c:v>
                  </c:pt>
                  <c:pt idx="5">
                    <c:v>6월</c:v>
                  </c:pt>
                  <c:pt idx="6">
                    <c:v>7월</c:v>
                  </c:pt>
                  <c:pt idx="7">
                    <c:v>8월</c:v>
                  </c:pt>
                  <c:pt idx="8">
                    <c:v>9월</c:v>
                  </c:pt>
                </c:lvl>
              </c:multiLvlStrCache>
            </c:multiLvlStrRef>
          </c:cat>
          <c:val>
            <c:numRef>
              <c:f>Sheet1!$B$2:$B$10</c:f>
              <c:numCache>
                <c:formatCode>General</c:formatCode>
                <c:ptCount val="9"/>
                <c:pt idx="0">
                  <c:v>35</c:v>
                </c:pt>
                <c:pt idx="1">
                  <c:v>32</c:v>
                </c:pt>
                <c:pt idx="2">
                  <c:v>46</c:v>
                </c:pt>
                <c:pt idx="3">
                  <c:v>36</c:v>
                </c:pt>
                <c:pt idx="4">
                  <c:v>35</c:v>
                </c:pt>
                <c:pt idx="5">
                  <c:v>33</c:v>
                </c:pt>
                <c:pt idx="6">
                  <c:v>38</c:v>
                </c:pt>
                <c:pt idx="7">
                  <c:v>37</c:v>
                </c:pt>
                <c:pt idx="8">
                  <c:v>30</c:v>
                </c:pt>
              </c:numCache>
            </c:numRef>
          </c:val>
        </c:ser>
        <c:ser>
          <c:idx val="1"/>
          <c:order val="1"/>
          <c:tx>
            <c:strRef>
              <c:f>Sheet1!$C$1</c:f>
              <c:strCache>
                <c:ptCount val="1"/>
                <c:pt idx="0">
                  <c:v>재계약</c:v>
                </c:pt>
              </c:strCache>
            </c:strRef>
          </c:tx>
          <c:spPr>
            <a:solidFill>
              <a:srgbClr val="6AA7E6"/>
            </a:solidFill>
            <a:effectLst/>
          </c:spPr>
          <c:invertIfNegative val="0"/>
          <c:dLbls>
            <c:numFmt formatCode="#,##0" sourceLinked="0"/>
            <c:txPr>
              <a:bodyPr/>
              <a:lstStyle/>
              <a:p>
                <a:pPr>
                  <a:defRPr b="0" i="0" strike="noStrike" sz="900" u="none">
                    <a:solidFill>
                      <a:srgbClr val="F5F2EA"/>
                    </a:solidFill>
                    <a:latin typeface="Malgun Gothic"/>
                  </a:defRPr>
                </a:pPr>
              </a:p>
            </c:txPr>
            <c:showLegendKey val="0"/>
            <c:showVal val="1"/>
            <c:showCatName val="0"/>
            <c:showSerName val="0"/>
            <c:showPercent val="0"/>
            <c:showBubbleSize val="0"/>
            <c:showLeaderLines val="0"/>
          </c:dLbls>
          <c:cat>
            <c:multiLvlStrRef>
              <c:f>Sheet1!$A$2:$A$10</c:f>
              <c:multiLvlStrCache>
                <c:ptCount val="9"/>
                <c:lvl>
                  <c:pt idx="0">
                    <c:v>1월</c:v>
                  </c:pt>
                  <c:pt idx="1">
                    <c:v>2월</c:v>
                  </c:pt>
                  <c:pt idx="2">
                    <c:v>3월</c:v>
                  </c:pt>
                  <c:pt idx="3">
                    <c:v>4월</c:v>
                  </c:pt>
                  <c:pt idx="4">
                    <c:v>5월</c:v>
                  </c:pt>
                  <c:pt idx="5">
                    <c:v>6월</c:v>
                  </c:pt>
                  <c:pt idx="6">
                    <c:v>7월</c:v>
                  </c:pt>
                  <c:pt idx="7">
                    <c:v>8월</c:v>
                  </c:pt>
                  <c:pt idx="8">
                    <c:v>9월</c:v>
                  </c:pt>
                </c:lvl>
              </c:multiLvlStrCache>
            </c:multiLvlStrRef>
          </c:cat>
          <c:val>
            <c:numRef>
              <c:f>Sheet1!$C$2:$C$10</c:f>
              <c:numCache>
                <c:formatCode>General</c:formatCode>
                <c:ptCount val="9"/>
                <c:pt idx="0">
                  <c:v>28</c:v>
                </c:pt>
                <c:pt idx="1">
                  <c:v>28</c:v>
                </c:pt>
                <c:pt idx="2">
                  <c:v>31</c:v>
                </c:pt>
                <c:pt idx="3">
                  <c:v>33</c:v>
                </c:pt>
                <c:pt idx="4">
                  <c:v>38</c:v>
                </c:pt>
                <c:pt idx="5">
                  <c:v>40</c:v>
                </c:pt>
                <c:pt idx="6">
                  <c:v>31</c:v>
                </c:pt>
                <c:pt idx="7">
                  <c:v>26</c:v>
                </c:pt>
                <c:pt idx="8">
                  <c:v>18</c:v>
                </c:pt>
              </c:numCache>
            </c:numRef>
          </c:val>
        </c:ser>
        <c:dLbls>
          <c:numFmt formatCode="#,##0" sourceLinked="0"/>
          <c:txPr>
            <a:bodyPr/>
            <a:lstStyle/>
            <a:p>
              <a:pPr>
                <a:defRPr b="0" i="0" strike="noStrike" sz="900" u="none">
                  <a:solidFill>
                    <a:srgbClr val="F5F2EA"/>
                  </a:solidFill>
                  <a:latin typeface="Malgun Gothic"/>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5F2EA"/>
                </a:solidFill>
                <a:latin typeface="Malgun Gothic"/>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2C3E6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A9B3C9"/>
                </a:solidFill>
                <a:latin typeface="Malgun Gothic"/>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A9B3C9"/>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경영전략본부 2026년 3분기 실적보고를 시작하겠습니다.
오늘 보고는 3분기 업무 성과와 4분기 중점 추진 목표, 두 가지로 구성되어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이현희 이사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김호철 차장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조은희 과장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이은영 차장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최은지 과장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문장한 과장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최병익 대리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박성준 대리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최기윤 대리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정현우 사원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임성윤 사원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 열한 명의 경영전략본부 구성원이, 지금부터 3분기 성과를 보고드리겠습니다.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순서는 2026년 3분기 업무성과 보고입니다.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3분기 성과를 열 가지로 요약했습니다.
관리법인은 22개로 늘었고, 17개 법인은 자체 기장으로 신고를 수행했습니다.
소득금액변동통지 소송에서는 승소하여 약 25억 원 환급이 진행 중이고, 원풍약품상사 재고실사로 법인세 1억 8천만 원을 절감할 수 있게 되었습니다.
에어프레미아 파견과 좋은타이어 회계프로그램 연동, 농업법인 농지 자경 54,164평 완료, 지방세 서면조사 적정 결과도 있었습니다.
마지막으로 MMDA 금리 관리와 위수탁사업계약서 595건 작성까지 완료했습니다. 하나씩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관계사 관리법인 현황입니다.
지난해 20개였던 관리법인이 올해 22개로 두 개 늘었습니다.
1월에 굿타이어를 신규 설립했고, 4월에는 파멥신, 7월에는 심뱅스의 경영권을 확보했습니다.
법인이 늘어난 만큼 체계적인 업무 분장을 통해 효율적으로 대응하고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관리법인 자체 기장입니다. 자금, 세무, 회계, 총무, 인사까지 자체 장부를 운영하여 빠르고 정확한 의사결정을 돕고 있습니다.
세무 분야에서는 관계사 22개 법인 중 5개 법인을 제외한 17개 법인의 부가가치세를 자체적으로 신고하고 납부했습니다.
또한 타이어뱅크의 539개 지자체 사업소분 주민세도 직접 신고하고 납부를 완료했습니다.
재무회계 측면에서는 매월 15일 월간 손익계산서를 보고하고, 매출채권 회수 기일을 검토해 대손채권을 예방하며, 손익분기점 분석으로 원가를 통제하고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소득금액변동통지 소송 승소입니다.
2016년 11월 세무조사 결과가 통지된 뒤, 30일간 과세전적부심사를 청구할 수 있었음에도 불과 3일 만에 1차 소득금액변동통지가 이루어졌습니다.
2024년 3월 26일 서대전세무서는 2013년도 통지 약 72억 원을 스스로 취소하고 69억 원으로 줄여 예고했습니다. 다음날 소득금액 변경통지를 했지만 30일의 반론 기회를 주지 않아 위법하다고 보고 소송을 제기했습니다.
그 결과 2026년 8월 27일 대전지방법원은 타이어뱅크 승소로 판결했고, 해당 통지는 무효가 되어 원천징수 예상세액 약 25억 원이 환급될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번째는 원풍약품상사 재고 실사입니다. 지난 9월 28일 경영전략본부 박성준, 최기윤, 정현우 직원과 원풍약품상사 직원이 함께 전산 재고와 실사 재고의 일치 여부를 확인했습니다.
유통기한이 지난 폐기 재고는 예상 금액 7억 5천만 원이며, 이를 결산에 반영하면 법인세 24.2퍼센트, 약 1억 8천만 원을 절감할 수 있습니다.
2026년 ERP 개발이 완료되면 도입하여 전산 재고와 실재고의 일치를 지속적으로 확보하겠습니다.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관계사 에어프레미아 파견 근무입니다.
수입심사 파트 결원에 따라 박성준 직원이 2026년 5월 18일부터 7월 16일까지 약 두 달간 행정업무를 지원했습니다.
수입심사 업무 프로세스를 숙지하고, 거래처 정산 이상 사례와 프로모션 오남용, NF 티켓 운영 현황을 확인했습니다.
이를 통해 에어프레미아 수입심사 파트의 운영 현황을 파악하고 개선 방안을 도출했습니다.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좋은타이어 회계프로그램 변경과 자동전표 연동입니다.
현재 이천점, 공촌점 등 9개 매장이 운영 중이며, 매출과 재고를 모두 수기 엑셀로 관리하고 있었습니다.
매장 수가 늘어날 것에 대비하여 제닉스X 회계프로그램을 도입하고 자동전표 연동을 완료했으며, 이에 맞춘 판매 ERP 설계도 마쳤습니다.
판매 ERP가 도입되면 수기 항목이 전산화되어 업무 시간이 줄고, 판매관리와 매장별 재고의 정확성을 검증할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일곱 번째는 농업법인 농지 자경입니다.
올해 2월 24일 정부가 정부 수립 후 첫 전국 농지 전수조사에 착수했고, 5월 7일에는 처분명령을 강화하는 농지법 개정안이 국회를 통과했습니다.
올해는 1996년 이후 취득 농지, 내년에는 그 이전 취득 농지를 대상으로 2단계 전수조사가 진행됩니다.
이에 대응하여 당사는 12개 지역, 총 54,164평의 농지에 대한 자경을 완료했고 농작물 매출도 발생했습니다.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지역별로 보면 세종특별자치시가 22,323평으로 가장 넓고, 충남 천안 15,385평, 인천 12,645평 순입니다.
이 세 곳이 전체 면적의 대부분을 차지하며, 대전과 충남 공주, 경북 경주 등 나머지 아홉 개 지역까지 모두 자경을 완료했습니다.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농지 자경 전과 후 사진을 보시겠습니다. 먼저 세종특별시입니다.
잡초가 무성하던 비탈 농지에 묘목을 심어 정비했습니다.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대전광역시입니다.
풀과 마른 수풀로 덮여 있던 땅에 멀칭 작업을 하여 농작물을 재배할 수 있게 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전북특별자치도입니다.
방치된 농지를 정비하고 비닐 멀칭 후 작물을 식재하여 자경 요건을 갖췄습니다.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여덟 번째, 지방세 서면조사 결과입니다.
춘천시청의 2021년부터 2025년까지 5개 연도, 춘천시 소재 5개 매장에 대한 조사에 대응했습니다.
전주시청은 2022년부터 2025년까지 4개 연도, 전주시 소재 11개 매장이 대상이었습니다.
두 곳 모두 추징세액 없이 적정으로 통지받았습니다. 직원들의 탁월한 직무 능력으로 평소 세무 신고가 정확했음을 외부 조사로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아홉 번째, MMDA 이자율과 여신 금리 관리입니다.
매월 관계 금융기관의 MMDA 이자율을 확인하여 예치 금융기관을 정하고 있으며, 10월 현재 농협은행 2.5퍼센트, 우리은행 2.3퍼센트입니다.
또한 기준금리 인상으로 여신 금리가 상승한 만큼, 금리를 지속 확인하여 상환 또는 연장을 진행하고 있습니다. 현재 기준금리는 3.0퍼센트입니다.
이를 통해 이자수익은 극대화하고, 이자비용은 최소화하고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열 번째, 위수탁사업계약서 작성 현황입니다.
1월부터 9월까지 총 595건을 작성했고, 이는 전년 동기 547건보다 48건, 8.8퍼센트 증가한 수치입니다.
신규 및 사업장 변경이 322건, 재계약이 273건이며, 9월 말 기준 매장은 545개로 연초보다 25개 늘었습니다.
월평균 35개 매장에서 이동과 계약 해지가 발생하고 있으며, 특히 3월, 7월, 8월이 많았습니다. 앞으로 월 30개 이내로 관리가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계약서 작성은 경영전략본부 8명이 전체 595건을 체결했고, 1인당 약 74건, 월 평균으로는 8건 정도를 작성했습니다.
2026년 10월부터는 신규와 사업장 변경 계약서 작성 업무를 사업주전담팀으로 이관했습니다.
다만 이관분 검토, 사업주 신원보증보험, 세무대리인, 계약서 이력 관리, 재계약 관련 업무는 경영전략본부에서 계속 수행합니다.
또한 수탁사업주 위임을 받아 세무대리인에게 개업을 의뢰하여, 사업자 미등록에 따른 가산세와 매입세액 불공제 문제를 해결했습니다.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이어서 두 번째 순서, 4분기 중점업무 추진목표입니다.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4분기 첫 번째 축은 세무와 재무입니다.
조세쟁송은 2014년 귀속 상여처분에 대한 행정심에 대응하고, 자금관리는 MMDA와 여신 금리를 계속 관리하겠습니다.
세법 검토로는 2027년 개정세법을 분석하여 2026년 귀속 법인세 절감 방안을 연구하겠습니다.
부가가치세, 취득세, 양도소득세 신고와 납부를 기한 내에 마치고, 타이어뱅크, 원풍약품상사, 풍년농사를 시작으로 중간 외부감사에 대응하겠습니다.
연말에는 자체 장부를 운영하는 17개 법인의 2026년 귀속 결산을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축은 시스템과 관계법인 관리입니다.
2027년 도입 예정인 AI 기반 ERP 옴니이솔은 인사, 회계, 그룹웨어, 메신저, 전자결재, 1인 1 GPT, 모바일결제를 하나의 플랫폼에서 지원하며, 11월 9일부터 일부를 먼저 사용할 수 있습니다.
원풍약품상사 ERP는 올해 개발을 완료해 물류 정확성을 확보하고, 하반기에 영업관리 기능을 추가하여 채권채무와 업체별 신용관리를 체계화하겠습니다.
관계법인은 10월 29일 선농종합식품 재고실사와 성공 주식회사, 성공정보통신의 중임 등기를 기한 내 마감합니다.
또한 547개 매장에 설치될 사이니지 TV에 타사 광고도 유치해 광고비 수익을 늘리겠습니다.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법인세 절감 계획입니다.
원풍약품상사의 9월 28일 재고실사에서 확인된 유통기한 경과 폐기 재고 7억 5천만 원을 올해 결산에 반영합니다.
그러면 법인세와 지방소득세 1억 8천만 원, 24.2퍼센트가 줄어들어 세후 순이익 영향은 마이너스 5억 7천만 원으로 감소합니다.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경영전략본부 2026년 3분기 실적보고를 마치겠습니다. 경청해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K">
    <p:bg>
      <p:bgPr>
        <a:solidFill>
          <a:srgbClr val="0B142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image" Target="../media/image-13-8.jpg"/><Relationship Id="rId9" Type="http://schemas.openxmlformats.org/officeDocument/2006/relationships/image" Target="../media/image-13-9.jpg"/><Relationship Id="rId10" Type="http://schemas.openxmlformats.org/officeDocument/2006/relationships/image" Target="../media/image-13-10.jpg"/><Relationship Id="rId11" Type="http://schemas.openxmlformats.org/officeDocument/2006/relationships/image" Target="../media/image-13-11.jpg"/><Relationship Id="rId12" Type="http://schemas.openxmlformats.org/officeDocument/2006/relationships/image" Target="../media/image-13-12.jpg"/><Relationship Id="rId13" Type="http://schemas.openxmlformats.org/officeDocument/2006/relationships/slideLayout" Target="../slideLayouts/slideLayout2.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chart" Target="../charts/chart1.xml"/><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chart" Target="../charts/chart2.xml"/><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jpg"/><Relationship Id="rId3" Type="http://schemas.openxmlformats.org/officeDocument/2006/relationships/image" Target="../media/image-24-3.jp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jpg"/><Relationship Id="rId3" Type="http://schemas.openxmlformats.org/officeDocument/2006/relationships/image" Target="../media/image-25-3.jp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g"/><Relationship Id="rId3" Type="http://schemas.openxmlformats.org/officeDocument/2006/relationships/image" Target="../media/image-26-3.jp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g"/><Relationship Id="rId3" Type="http://schemas.openxmlformats.org/officeDocument/2006/relationships/image" Target="../media/image-27-3.jp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chart" Target="../charts/chart3.xml"/><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22960" y="1737360"/>
            <a:ext cx="7315200" cy="365760"/>
          </a:xfrm>
          <a:prstGeom prst="rect">
            <a:avLst/>
          </a:prstGeom>
          <a:noFill/>
          <a:ln/>
        </p:spPr>
        <p:txBody>
          <a:bodyPr wrap="square" lIns="0" tIns="0" rIns="0" bIns="0" rtlCol="0" anchor="t"/>
          <a:lstStyle/>
          <a:p>
            <a:pPr indent="0" marL="0">
              <a:buNone/>
            </a:pPr>
            <a:r>
              <a:rPr lang="en-US" sz="1500" b="1" spc="500" kern="0" dirty="0">
                <a:solidFill>
                  <a:srgbClr val="D9B66F"/>
                </a:solidFill>
                <a:latin typeface="Malgun Gothic" pitchFamily="34" charset="0"/>
                <a:ea typeface="Malgun Gothic" pitchFamily="34" charset="-122"/>
                <a:cs typeface="Malgun Gothic" pitchFamily="34" charset="-120"/>
              </a:rPr>
              <a:t>QUARTERLY PERFORMANCE REPORT</a:t>
            </a:r>
            <a:endParaRPr lang="en-US" sz="1500" dirty="0"/>
          </a:p>
        </p:txBody>
      </p:sp>
      <p:sp>
        <p:nvSpPr>
          <p:cNvPr id="4" name="Text 1"/>
          <p:cNvSpPr txBox="1"/>
          <p:nvPr/>
        </p:nvSpPr>
        <p:spPr>
          <a:xfrm>
            <a:off x="822960" y="2194560"/>
            <a:ext cx="6949440" cy="2194560"/>
          </a:xfrm>
          <a:prstGeom prst="rect">
            <a:avLst/>
          </a:prstGeom>
          <a:noFill/>
          <a:ln/>
        </p:spPr>
        <p:txBody>
          <a:bodyPr wrap="square" lIns="0" tIns="0" rIns="0" bIns="0" rtlCol="0" anchor="t"/>
          <a:lstStyle/>
          <a:p>
            <a:pPr indent="0" marL="0">
              <a:buNone/>
            </a:pPr>
            <a:r>
              <a:rPr lang="en-US" sz="5400" b="1" dirty="0">
                <a:solidFill>
                  <a:srgbClr val="F5F2EA"/>
                </a:solidFill>
                <a:latin typeface="Malgun Gothic" pitchFamily="34" charset="0"/>
                <a:ea typeface="Malgun Gothic" pitchFamily="34" charset="-122"/>
                <a:cs typeface="Malgun Gothic" pitchFamily="34" charset="-120"/>
              </a:rPr>
              <a:t>2026년</a:t>
            </a:r>
            <a:endParaRPr lang="en-US" sz="5400" dirty="0"/>
          </a:p>
          <a:p>
            <a:pPr indent="0" marL="0">
              <a:buNone/>
            </a:pPr>
            <a:r>
              <a:rPr lang="en-US" sz="5400" b="1" dirty="0">
                <a:solidFill>
                  <a:srgbClr val="F5F2EA"/>
                </a:solidFill>
                <a:latin typeface="Malgun Gothic" pitchFamily="34" charset="0"/>
                <a:ea typeface="Malgun Gothic" pitchFamily="34" charset="-122"/>
                <a:cs typeface="Malgun Gothic" pitchFamily="34" charset="-120"/>
              </a:rPr>
              <a:t>3분기 실적보고서</a:t>
            </a:r>
            <a:endParaRPr lang="en-US" sz="5400" dirty="0"/>
          </a:p>
        </p:txBody>
      </p:sp>
      <p:sp>
        <p:nvSpPr>
          <p:cNvPr id="5" name="Text 2"/>
          <p:cNvSpPr txBox="1"/>
          <p:nvPr/>
        </p:nvSpPr>
        <p:spPr>
          <a:xfrm>
            <a:off x="822960" y="4526280"/>
            <a:ext cx="731520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경영전략본부</a:t>
            </a:r>
            <a:pPr indent="0" marL="0">
              <a:buNone/>
            </a:pPr>
            <a:r>
              <a:rPr lang="en-US" sz="2200" dirty="0">
                <a:solidFill>
                  <a:srgbClr val="A9B3C9"/>
                </a:solidFill>
                <a:latin typeface="Malgun Gothic" pitchFamily="34" charset="0"/>
                <a:ea typeface="Malgun Gothic" pitchFamily="34" charset="-122"/>
                <a:cs typeface="Malgun Gothic" pitchFamily="34" charset="-120"/>
              </a:rPr>
              <a:t>   ·   2026. 10. 27</a:t>
            </a:r>
            <a:endParaRPr lang="en-US" sz="2200" dirty="0"/>
          </a:p>
        </p:txBody>
      </p:sp>
      <p:sp>
        <p:nvSpPr>
          <p:cNvPr id="6" name="Text 3"/>
          <p:cNvSpPr txBox="1"/>
          <p:nvPr/>
        </p:nvSpPr>
        <p:spPr>
          <a:xfrm>
            <a:off x="822960" y="5212080"/>
            <a:ext cx="7132320" cy="82296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이현희  ·  김호철  ·  조은희</a:t>
            </a:r>
            <a:endParaRPr lang="en-US" sz="1400" dirty="0"/>
          </a:p>
          <a:p>
            <a:pPr indent="0" marL="0">
              <a:buNone/>
            </a:pPr>
            <a:r>
              <a:rPr lang="en-US" sz="1400" dirty="0">
                <a:solidFill>
                  <a:srgbClr val="A9B3C9"/>
                </a:solidFill>
                <a:latin typeface="Malgun Gothic" pitchFamily="34" charset="0"/>
                <a:ea typeface="Malgun Gothic" pitchFamily="34" charset="-122"/>
                <a:cs typeface="Malgun Gothic" pitchFamily="34" charset="-120"/>
              </a:rPr>
              <a:t>이은영  ·  최은지  ·  문장한  ·  최병익  ·  박성준  ·  최기윤  ·  정현우  ·  임성윤</a:t>
            </a:r>
            <a:endParaRPr lang="en-US" sz="1400" dirty="0"/>
          </a:p>
        </p:txBody>
      </p:sp>
      <p:sp>
        <p:nvSpPr>
          <p:cNvPr id="7" name="Shape 4"/>
          <p:cNvSpPr/>
          <p:nvPr/>
        </p:nvSpPr>
        <p:spPr>
          <a:xfrm>
            <a:off x="8366760" y="2148840"/>
            <a:ext cx="3383280" cy="2377440"/>
          </a:xfrm>
          <a:prstGeom prst="roundRect">
            <a:avLst>
              <a:gd name="adj" fmla="val 7692"/>
            </a:avLst>
          </a:prstGeom>
          <a:solidFill>
            <a:srgbClr val="D9B66F"/>
          </a:solidFill>
          <a:ln w="12700">
            <a:solidFill>
              <a:srgbClr val="D9B66F"/>
            </a:solidFill>
            <a:prstDash val="solid"/>
          </a:ln>
        </p:spPr>
        <p:txBody>
          <a:bodyPr/>
          <a:p/>
        </p:txBody>
      </p:sp>
      <p:sp>
        <p:nvSpPr>
          <p:cNvPr id="8" name="Shape 5"/>
          <p:cNvSpPr/>
          <p:nvPr/>
        </p:nvSpPr>
        <p:spPr>
          <a:xfrm>
            <a:off x="8183880" y="1965960"/>
            <a:ext cx="3383280" cy="2377440"/>
          </a:xfrm>
          <a:prstGeom prst="roundRect">
            <a:avLst>
              <a:gd name="adj" fmla="val 7692"/>
            </a:avLst>
          </a:prstGeom>
          <a:solidFill>
            <a:srgbClr val="FFFFFF"/>
          </a:solidFill>
          <a:ln w="12700">
            <a:solidFill>
              <a:srgbClr val="FFFFFF"/>
            </a:solidFill>
            <a:prstDash val="solid"/>
          </a:ln>
          <a:effectLst>
            <a:outerShdw sx="100000" sy="100000" kx="0" ky="0" algn="bl" rotWithShape="0" blurRad="279400" dist="127000" dir="5400000">
              <a:srgbClr val="000000">
                <a:alpha val="60000"/>
              </a:srgbClr>
            </a:outerShdw>
          </a:effectLst>
        </p:spPr>
        <p:txBody>
          <a:bodyPr/>
          <a:p/>
        </p:txBody>
      </p:sp>
      <p:pic>
        <p:nvPicPr>
          <p:cNvPr id="9" name="Image 0" descr="D:\Desktop\타뱅발표\assets\logo.png">    </p:cNvPr>
          <p:cNvPicPr>
            <a:picLocks noChangeAspect="1"/>
          </p:cNvPicPr>
          <p:nvPr/>
        </p:nvPicPr>
        <p:blipFill>
          <a:blip r:embed="rId1"/>
          <a:stretch>
            <a:fillRect/>
          </a:stretch>
        </p:blipFill>
        <p:spPr>
          <a:xfrm>
            <a:off x="8275320" y="2011680"/>
            <a:ext cx="3200400" cy="2286000"/>
          </a:xfrm>
          <a:prstGeom prst="rect">
            <a:avLst/>
          </a:prstGeom>
        </p:spPr>
      </p:pic>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1.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01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이현희</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이사</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2.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02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김호철</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차장</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3.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03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조은희</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과장</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4.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04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이은영</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차장</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5.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05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최은지</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과장</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6.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06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문장한</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과장</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7.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07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최병익</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대리</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8.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08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박성준</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대리</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9.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09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최기윤</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대리</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10.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10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정현우</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사원</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365760"/>
            <a:ext cx="5486400" cy="365760"/>
          </a:xfrm>
          <a:prstGeom prst="rect">
            <a:avLst/>
          </a:prstGeom>
          <a:noFill/>
          <a:ln/>
        </p:spPr>
        <p:txBody>
          <a:bodyPr wrap="square" lIns="0" tIns="0" rIns="0" bIns="0" rtlCol="0" anchor="t"/>
          <a:lstStyle/>
          <a:p>
            <a:pPr indent="0" marL="0">
              <a:buNone/>
            </a:pPr>
            <a:r>
              <a:rPr lang="en-US" sz="1600" dirty="0">
                <a:solidFill>
                  <a:srgbClr val="A9B3C9"/>
                </a:solidFill>
                <a:latin typeface="Malgun Gothic" pitchFamily="34" charset="0"/>
                <a:ea typeface="Malgun Gothic" pitchFamily="34" charset="-122"/>
                <a:cs typeface="Malgun Gothic" pitchFamily="34" charset="-120"/>
              </a:rPr>
              <a:t>경영전략본부 부서원 소개</a:t>
            </a:r>
            <a:endParaRPr lang="en-US" sz="1600" dirty="0"/>
          </a:p>
        </p:txBody>
      </p:sp>
      <p:sp>
        <p:nvSpPr>
          <p:cNvPr id="4" name="Shape 1"/>
          <p:cNvSpPr/>
          <p:nvPr/>
        </p:nvSpPr>
        <p:spPr>
          <a:xfrm>
            <a:off x="1700784" y="1060704"/>
            <a:ext cx="4251960" cy="5349240"/>
          </a:xfrm>
          <a:prstGeom prst="roundRect">
            <a:avLst>
              <a:gd name="adj" fmla="val 2151"/>
            </a:avLst>
          </a:prstGeom>
          <a:solidFill>
            <a:srgbClr val="D9B66F"/>
          </a:solidFill>
          <a:ln w="12700">
            <a:solidFill>
              <a:srgbClr val="D9B66F"/>
            </a:solidFill>
            <a:prstDash val="solid"/>
          </a:ln>
        </p:spPr>
        <p:txBody>
          <a:bodyPr/>
          <a:p/>
        </p:txBody>
      </p:sp>
      <p:sp>
        <p:nvSpPr>
          <p:cNvPr id="5" name="Shape 2"/>
          <p:cNvSpPr/>
          <p:nvPr/>
        </p:nvSpPr>
        <p:spPr>
          <a:xfrm>
            <a:off x="1508760" y="868680"/>
            <a:ext cx="4343400" cy="5440680"/>
          </a:xfrm>
          <a:prstGeom prst="roundRect">
            <a:avLst>
              <a:gd name="adj" fmla="val 2105"/>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6" name="Image 0" descr="D:\Desktop\타뱅발표\assets\p11.jpg">    </p:cNvPr>
          <p:cNvPicPr>
            <a:picLocks noChangeAspect="1"/>
          </p:cNvPicPr>
          <p:nvPr/>
        </p:nvPicPr>
        <p:blipFill>
          <a:blip r:embed="rId1"/>
          <a:srcRect l="0" r="0" t="0" b="0"/>
          <a:stretch/>
        </p:blipFill>
        <p:spPr>
          <a:xfrm>
            <a:off x="1554480" y="914400"/>
            <a:ext cx="4251960" cy="5349240"/>
          </a:xfrm>
          <a:prstGeom prst="rect">
            <a:avLst/>
          </a:prstGeom>
        </p:spPr>
      </p:pic>
      <p:sp>
        <p:nvSpPr>
          <p:cNvPr id="7" name="Text 3"/>
          <p:cNvSpPr txBox="1"/>
          <p:nvPr/>
        </p:nvSpPr>
        <p:spPr>
          <a:xfrm>
            <a:off x="6766560" y="2103120"/>
            <a:ext cx="4572000" cy="457200"/>
          </a:xfrm>
          <a:prstGeom prst="rect">
            <a:avLst/>
          </a:prstGeom>
          <a:noFill/>
          <a:ln/>
        </p:spPr>
        <p:txBody>
          <a:bodyPr wrap="square" lIns="0" tIns="0" rIns="0" bIns="0" rtlCol="0" anchor="t"/>
          <a:lstStyle/>
          <a:p>
            <a:pPr indent="0" marL="0">
              <a:buNone/>
            </a:pPr>
            <a:r>
              <a:rPr lang="en-US" sz="2200" spc="400" kern="0" dirty="0">
                <a:solidFill>
                  <a:srgbClr val="D9B66F"/>
                </a:solidFill>
                <a:latin typeface="Malgun Gothic" pitchFamily="34" charset="0"/>
                <a:ea typeface="Malgun Gothic" pitchFamily="34" charset="-122"/>
                <a:cs typeface="Malgun Gothic" pitchFamily="34" charset="-120"/>
              </a:rPr>
              <a:t>11 / 11</a:t>
            </a:r>
            <a:endParaRPr lang="en-US" sz="2200" dirty="0"/>
          </a:p>
        </p:txBody>
      </p:sp>
      <p:sp>
        <p:nvSpPr>
          <p:cNvPr id="8" name="Text 4"/>
          <p:cNvSpPr txBox="1"/>
          <p:nvPr/>
        </p:nvSpPr>
        <p:spPr>
          <a:xfrm>
            <a:off x="6766560" y="2606040"/>
            <a:ext cx="5120640" cy="1554480"/>
          </a:xfrm>
          <a:prstGeom prst="rect">
            <a:avLst/>
          </a:prstGeom>
          <a:noFill/>
          <a:ln/>
        </p:spPr>
        <p:txBody>
          <a:bodyPr wrap="square" lIns="0" tIns="0" rIns="0" bIns="0" rtlCol="0" anchor="ctr"/>
          <a:lstStyle/>
          <a:p>
            <a:pPr indent="0" marL="0">
              <a:buNone/>
            </a:pPr>
            <a:r>
              <a:rPr lang="en-US" sz="8800" b="1" dirty="0">
                <a:solidFill>
                  <a:srgbClr val="F5F2EA"/>
                </a:solidFill>
                <a:latin typeface="Malgun Gothic" pitchFamily="34" charset="0"/>
                <a:ea typeface="Malgun Gothic" pitchFamily="34" charset="-122"/>
                <a:cs typeface="Malgun Gothic" pitchFamily="34" charset="-120"/>
              </a:rPr>
              <a:t>임성윤</a:t>
            </a:r>
            <a:endParaRPr lang="en-US" sz="8800" dirty="0"/>
          </a:p>
        </p:txBody>
      </p:sp>
      <p:sp>
        <p:nvSpPr>
          <p:cNvPr id="9" name="Text 5"/>
          <p:cNvSpPr txBox="1"/>
          <p:nvPr/>
        </p:nvSpPr>
        <p:spPr>
          <a:xfrm>
            <a:off x="6766560" y="4251960"/>
            <a:ext cx="5120640" cy="640080"/>
          </a:xfrm>
          <a:prstGeom prst="rect">
            <a:avLst/>
          </a:prstGeom>
          <a:noFill/>
          <a:ln/>
        </p:spPr>
        <p:txBody>
          <a:bodyPr wrap="square" lIns="0" tIns="0" rIns="0" bIns="0" rtlCol="0" anchor="t"/>
          <a:lstStyle/>
          <a:p>
            <a:pPr indent="0" marL="0">
              <a:buNone/>
            </a:pPr>
            <a:r>
              <a:rPr lang="en-US" sz="3600" dirty="0">
                <a:solidFill>
                  <a:srgbClr val="F3DCA4"/>
                </a:solidFill>
                <a:latin typeface="Malgun Gothic" pitchFamily="34" charset="0"/>
                <a:ea typeface="Malgun Gothic" pitchFamily="34" charset="-122"/>
                <a:cs typeface="Malgun Gothic" pitchFamily="34" charset="-120"/>
              </a:rPr>
              <a:t>사원</a:t>
            </a:r>
            <a:endParaRPr lang="en-US" sz="3600" dirty="0"/>
          </a:p>
        </p:txBody>
      </p:sp>
      <p:sp>
        <p:nvSpPr>
          <p:cNvPr id="10" name="Shape 6"/>
          <p:cNvSpPr/>
          <p:nvPr/>
        </p:nvSpPr>
        <p:spPr>
          <a:xfrm>
            <a:off x="6766560" y="5074920"/>
            <a:ext cx="1463040" cy="54864"/>
          </a:xfrm>
          <a:prstGeom prst="rect">
            <a:avLst/>
          </a:prstGeom>
          <a:solidFill>
            <a:srgbClr val="D9B66F"/>
          </a:solidFill>
          <a:ln w="12700">
            <a:solidFill>
              <a:srgbClr val="D9B66F"/>
            </a:solidFill>
            <a:prstDash val="solid"/>
          </a:ln>
        </p:spPr>
        <p:txBody>
          <a:bodyP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팀</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경영전략본부 부서원 소개</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함께 만든 3분기 성과 · 총 11명</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41732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9" name="Image 1" descr="D:\Desktop\타뱅발표\assets\p1.jpg">    </p:cNvPr>
          <p:cNvPicPr>
            <a:picLocks noChangeAspect="1"/>
          </p:cNvPicPr>
          <p:nvPr/>
        </p:nvPicPr>
        <p:blipFill>
          <a:blip r:embed="rId2"/>
          <a:srcRect l="0" r="0" t="0" b="0"/>
          <a:stretch/>
        </p:blipFill>
        <p:spPr>
          <a:xfrm>
            <a:off x="685800" y="1527048"/>
            <a:ext cx="1005840" cy="1335024"/>
          </a:xfrm>
          <a:prstGeom prst="rect">
            <a:avLst/>
          </a:prstGeom>
        </p:spPr>
      </p:pic>
      <p:sp>
        <p:nvSpPr>
          <p:cNvPr id="10" name="Text 5"/>
          <p:cNvSpPr txBox="1"/>
          <p:nvPr/>
        </p:nvSpPr>
        <p:spPr>
          <a:xfrm>
            <a:off x="2651760" y="150876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01</a:t>
            </a:r>
            <a:endParaRPr lang="en-US" sz="1100" dirty="0"/>
          </a:p>
        </p:txBody>
      </p:sp>
      <p:sp>
        <p:nvSpPr>
          <p:cNvPr id="11" name="Text 6"/>
          <p:cNvSpPr txBox="1"/>
          <p:nvPr/>
        </p:nvSpPr>
        <p:spPr>
          <a:xfrm>
            <a:off x="1828800" y="192024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이현희</a:t>
            </a:r>
            <a:endParaRPr lang="en-US" sz="2200" dirty="0"/>
          </a:p>
        </p:txBody>
      </p:sp>
      <p:sp>
        <p:nvSpPr>
          <p:cNvPr id="12" name="Text 7"/>
          <p:cNvSpPr txBox="1"/>
          <p:nvPr/>
        </p:nvSpPr>
        <p:spPr>
          <a:xfrm>
            <a:off x="1828800" y="237744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이사</a:t>
            </a:r>
            <a:endParaRPr lang="en-US" sz="1600" dirty="0"/>
          </a:p>
        </p:txBody>
      </p:sp>
      <p:sp>
        <p:nvSpPr>
          <p:cNvPr id="13" name="card"/>
          <p:cNvSpPr/>
          <p:nvPr/>
        </p:nvSpPr>
        <p:spPr>
          <a:xfrm>
            <a:off x="3355848" y="141732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14" name="Image 2" descr="D:\Desktop\타뱅발표\assets\p2.jpg">    </p:cNvPr>
          <p:cNvPicPr>
            <a:picLocks noChangeAspect="1"/>
          </p:cNvPicPr>
          <p:nvPr/>
        </p:nvPicPr>
        <p:blipFill>
          <a:blip r:embed="rId3"/>
          <a:srcRect l="0" r="0" t="0" b="0"/>
          <a:stretch/>
        </p:blipFill>
        <p:spPr>
          <a:xfrm>
            <a:off x="3493008" y="1527048"/>
            <a:ext cx="1005840" cy="1335024"/>
          </a:xfrm>
          <a:prstGeom prst="rect">
            <a:avLst/>
          </a:prstGeom>
        </p:spPr>
      </p:pic>
      <p:sp>
        <p:nvSpPr>
          <p:cNvPr id="15" name="Text 9"/>
          <p:cNvSpPr txBox="1"/>
          <p:nvPr/>
        </p:nvSpPr>
        <p:spPr>
          <a:xfrm>
            <a:off x="5458968" y="150876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02</a:t>
            </a:r>
            <a:endParaRPr lang="en-US" sz="1100" dirty="0"/>
          </a:p>
        </p:txBody>
      </p:sp>
      <p:sp>
        <p:nvSpPr>
          <p:cNvPr id="16" name="Text 10"/>
          <p:cNvSpPr txBox="1"/>
          <p:nvPr/>
        </p:nvSpPr>
        <p:spPr>
          <a:xfrm>
            <a:off x="4636008" y="192024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김호철</a:t>
            </a:r>
            <a:endParaRPr lang="en-US" sz="2200" dirty="0"/>
          </a:p>
        </p:txBody>
      </p:sp>
      <p:sp>
        <p:nvSpPr>
          <p:cNvPr id="17" name="Text 11"/>
          <p:cNvSpPr txBox="1"/>
          <p:nvPr/>
        </p:nvSpPr>
        <p:spPr>
          <a:xfrm>
            <a:off x="4636008" y="237744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차장</a:t>
            </a:r>
            <a:endParaRPr lang="en-US" sz="1600" dirty="0"/>
          </a:p>
        </p:txBody>
      </p:sp>
      <p:sp>
        <p:nvSpPr>
          <p:cNvPr id="18" name="card"/>
          <p:cNvSpPr/>
          <p:nvPr/>
        </p:nvSpPr>
        <p:spPr>
          <a:xfrm>
            <a:off x="6163056" y="141732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19" name="Image 3" descr="D:\Desktop\타뱅발표\assets\p3.jpg">    </p:cNvPr>
          <p:cNvPicPr>
            <a:picLocks noChangeAspect="1"/>
          </p:cNvPicPr>
          <p:nvPr/>
        </p:nvPicPr>
        <p:blipFill>
          <a:blip r:embed="rId4"/>
          <a:srcRect l="0" r="0" t="0" b="0"/>
          <a:stretch/>
        </p:blipFill>
        <p:spPr>
          <a:xfrm>
            <a:off x="6300216" y="1527048"/>
            <a:ext cx="1005840" cy="1335024"/>
          </a:xfrm>
          <a:prstGeom prst="rect">
            <a:avLst/>
          </a:prstGeom>
        </p:spPr>
      </p:pic>
      <p:sp>
        <p:nvSpPr>
          <p:cNvPr id="20" name="Text 13"/>
          <p:cNvSpPr txBox="1"/>
          <p:nvPr/>
        </p:nvSpPr>
        <p:spPr>
          <a:xfrm>
            <a:off x="8266176" y="150876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03</a:t>
            </a:r>
            <a:endParaRPr lang="en-US" sz="1100" dirty="0"/>
          </a:p>
        </p:txBody>
      </p:sp>
      <p:sp>
        <p:nvSpPr>
          <p:cNvPr id="21" name="Text 14"/>
          <p:cNvSpPr txBox="1"/>
          <p:nvPr/>
        </p:nvSpPr>
        <p:spPr>
          <a:xfrm>
            <a:off x="7443216" y="192024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조은희</a:t>
            </a:r>
            <a:endParaRPr lang="en-US" sz="2200" dirty="0"/>
          </a:p>
        </p:txBody>
      </p:sp>
      <p:sp>
        <p:nvSpPr>
          <p:cNvPr id="22" name="Text 15"/>
          <p:cNvSpPr txBox="1"/>
          <p:nvPr/>
        </p:nvSpPr>
        <p:spPr>
          <a:xfrm>
            <a:off x="7443216" y="237744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과장</a:t>
            </a:r>
            <a:endParaRPr lang="en-US" sz="1600" dirty="0"/>
          </a:p>
        </p:txBody>
      </p:sp>
      <p:sp>
        <p:nvSpPr>
          <p:cNvPr id="23" name="card"/>
          <p:cNvSpPr/>
          <p:nvPr/>
        </p:nvSpPr>
        <p:spPr>
          <a:xfrm>
            <a:off x="8970264" y="141732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24" name="Image 4" descr="D:\Desktop\타뱅발표\assets\p4.jpg">    </p:cNvPr>
          <p:cNvPicPr>
            <a:picLocks noChangeAspect="1"/>
          </p:cNvPicPr>
          <p:nvPr/>
        </p:nvPicPr>
        <p:blipFill>
          <a:blip r:embed="rId5"/>
          <a:srcRect l="0" r="0" t="0" b="0"/>
          <a:stretch/>
        </p:blipFill>
        <p:spPr>
          <a:xfrm>
            <a:off x="9107424" y="1527048"/>
            <a:ext cx="1005840" cy="1335024"/>
          </a:xfrm>
          <a:prstGeom prst="rect">
            <a:avLst/>
          </a:prstGeom>
        </p:spPr>
      </p:pic>
      <p:sp>
        <p:nvSpPr>
          <p:cNvPr id="25" name="Text 17"/>
          <p:cNvSpPr txBox="1"/>
          <p:nvPr/>
        </p:nvSpPr>
        <p:spPr>
          <a:xfrm>
            <a:off x="11073384" y="150876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04</a:t>
            </a:r>
            <a:endParaRPr lang="en-US" sz="1100" dirty="0"/>
          </a:p>
        </p:txBody>
      </p:sp>
      <p:sp>
        <p:nvSpPr>
          <p:cNvPr id="26" name="Text 18"/>
          <p:cNvSpPr txBox="1"/>
          <p:nvPr/>
        </p:nvSpPr>
        <p:spPr>
          <a:xfrm>
            <a:off x="10250424" y="192024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이은영</a:t>
            </a:r>
            <a:endParaRPr lang="en-US" sz="2200" dirty="0"/>
          </a:p>
        </p:txBody>
      </p:sp>
      <p:sp>
        <p:nvSpPr>
          <p:cNvPr id="27" name="Text 19"/>
          <p:cNvSpPr txBox="1"/>
          <p:nvPr/>
        </p:nvSpPr>
        <p:spPr>
          <a:xfrm>
            <a:off x="10250424" y="237744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차장</a:t>
            </a:r>
            <a:endParaRPr lang="en-US" sz="1600" dirty="0"/>
          </a:p>
        </p:txBody>
      </p:sp>
      <p:sp>
        <p:nvSpPr>
          <p:cNvPr id="28" name="card"/>
          <p:cNvSpPr/>
          <p:nvPr/>
        </p:nvSpPr>
        <p:spPr>
          <a:xfrm>
            <a:off x="548640" y="310896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29" name="Image 5" descr="D:\Desktop\타뱅발표\assets\p5.jpg">    </p:cNvPr>
          <p:cNvPicPr>
            <a:picLocks noChangeAspect="1"/>
          </p:cNvPicPr>
          <p:nvPr/>
        </p:nvPicPr>
        <p:blipFill>
          <a:blip r:embed="rId6"/>
          <a:srcRect l="0" r="0" t="0" b="0"/>
          <a:stretch/>
        </p:blipFill>
        <p:spPr>
          <a:xfrm>
            <a:off x="685800" y="3218688"/>
            <a:ext cx="1005840" cy="1335024"/>
          </a:xfrm>
          <a:prstGeom prst="rect">
            <a:avLst/>
          </a:prstGeom>
        </p:spPr>
      </p:pic>
      <p:sp>
        <p:nvSpPr>
          <p:cNvPr id="30" name="Text 21"/>
          <p:cNvSpPr txBox="1"/>
          <p:nvPr/>
        </p:nvSpPr>
        <p:spPr>
          <a:xfrm>
            <a:off x="2651760" y="320040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05</a:t>
            </a:r>
            <a:endParaRPr lang="en-US" sz="1100" dirty="0"/>
          </a:p>
        </p:txBody>
      </p:sp>
      <p:sp>
        <p:nvSpPr>
          <p:cNvPr id="31" name="Text 22"/>
          <p:cNvSpPr txBox="1"/>
          <p:nvPr/>
        </p:nvSpPr>
        <p:spPr>
          <a:xfrm>
            <a:off x="1828800" y="361188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최은지</a:t>
            </a:r>
            <a:endParaRPr lang="en-US" sz="2200" dirty="0"/>
          </a:p>
        </p:txBody>
      </p:sp>
      <p:sp>
        <p:nvSpPr>
          <p:cNvPr id="32" name="Text 23"/>
          <p:cNvSpPr txBox="1"/>
          <p:nvPr/>
        </p:nvSpPr>
        <p:spPr>
          <a:xfrm>
            <a:off x="1828800" y="406908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과장</a:t>
            </a:r>
            <a:endParaRPr lang="en-US" sz="1600" dirty="0"/>
          </a:p>
        </p:txBody>
      </p:sp>
      <p:sp>
        <p:nvSpPr>
          <p:cNvPr id="33" name="card"/>
          <p:cNvSpPr/>
          <p:nvPr/>
        </p:nvSpPr>
        <p:spPr>
          <a:xfrm>
            <a:off x="3355848" y="310896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34" name="Image 6" descr="D:\Desktop\타뱅발표\assets\p6.jpg">    </p:cNvPr>
          <p:cNvPicPr>
            <a:picLocks noChangeAspect="1"/>
          </p:cNvPicPr>
          <p:nvPr/>
        </p:nvPicPr>
        <p:blipFill>
          <a:blip r:embed="rId7"/>
          <a:srcRect l="0" r="0" t="0" b="0"/>
          <a:stretch/>
        </p:blipFill>
        <p:spPr>
          <a:xfrm>
            <a:off x="3493008" y="3218688"/>
            <a:ext cx="1005840" cy="1335024"/>
          </a:xfrm>
          <a:prstGeom prst="rect">
            <a:avLst/>
          </a:prstGeom>
        </p:spPr>
      </p:pic>
      <p:sp>
        <p:nvSpPr>
          <p:cNvPr id="35" name="Text 25"/>
          <p:cNvSpPr txBox="1"/>
          <p:nvPr/>
        </p:nvSpPr>
        <p:spPr>
          <a:xfrm>
            <a:off x="5458968" y="320040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06</a:t>
            </a:r>
            <a:endParaRPr lang="en-US" sz="1100" dirty="0"/>
          </a:p>
        </p:txBody>
      </p:sp>
      <p:sp>
        <p:nvSpPr>
          <p:cNvPr id="36" name="Text 26"/>
          <p:cNvSpPr txBox="1"/>
          <p:nvPr/>
        </p:nvSpPr>
        <p:spPr>
          <a:xfrm>
            <a:off x="4636008" y="361188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문장한</a:t>
            </a:r>
            <a:endParaRPr lang="en-US" sz="2200" dirty="0"/>
          </a:p>
        </p:txBody>
      </p:sp>
      <p:sp>
        <p:nvSpPr>
          <p:cNvPr id="37" name="Text 27"/>
          <p:cNvSpPr txBox="1"/>
          <p:nvPr/>
        </p:nvSpPr>
        <p:spPr>
          <a:xfrm>
            <a:off x="4636008" y="406908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과장</a:t>
            </a:r>
            <a:endParaRPr lang="en-US" sz="1600" dirty="0"/>
          </a:p>
        </p:txBody>
      </p:sp>
      <p:sp>
        <p:nvSpPr>
          <p:cNvPr id="38" name="card"/>
          <p:cNvSpPr/>
          <p:nvPr/>
        </p:nvSpPr>
        <p:spPr>
          <a:xfrm>
            <a:off x="6163056" y="310896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39" name="Image 7" descr="D:\Desktop\타뱅발표\assets\p7.jpg">    </p:cNvPr>
          <p:cNvPicPr>
            <a:picLocks noChangeAspect="1"/>
          </p:cNvPicPr>
          <p:nvPr/>
        </p:nvPicPr>
        <p:blipFill>
          <a:blip r:embed="rId8"/>
          <a:srcRect l="0" r="0" t="0" b="0"/>
          <a:stretch/>
        </p:blipFill>
        <p:spPr>
          <a:xfrm>
            <a:off x="6300216" y="3218688"/>
            <a:ext cx="1005840" cy="1335024"/>
          </a:xfrm>
          <a:prstGeom prst="rect">
            <a:avLst/>
          </a:prstGeom>
        </p:spPr>
      </p:pic>
      <p:sp>
        <p:nvSpPr>
          <p:cNvPr id="40" name="Text 29"/>
          <p:cNvSpPr txBox="1"/>
          <p:nvPr/>
        </p:nvSpPr>
        <p:spPr>
          <a:xfrm>
            <a:off x="8266176" y="320040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07</a:t>
            </a:r>
            <a:endParaRPr lang="en-US" sz="1100" dirty="0"/>
          </a:p>
        </p:txBody>
      </p:sp>
      <p:sp>
        <p:nvSpPr>
          <p:cNvPr id="41" name="Text 30"/>
          <p:cNvSpPr txBox="1"/>
          <p:nvPr/>
        </p:nvSpPr>
        <p:spPr>
          <a:xfrm>
            <a:off x="7443216" y="361188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최병익</a:t>
            </a:r>
            <a:endParaRPr lang="en-US" sz="2200" dirty="0"/>
          </a:p>
        </p:txBody>
      </p:sp>
      <p:sp>
        <p:nvSpPr>
          <p:cNvPr id="42" name="Text 31"/>
          <p:cNvSpPr txBox="1"/>
          <p:nvPr/>
        </p:nvSpPr>
        <p:spPr>
          <a:xfrm>
            <a:off x="7443216" y="406908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대리</a:t>
            </a:r>
            <a:endParaRPr lang="en-US" sz="1600" dirty="0"/>
          </a:p>
        </p:txBody>
      </p:sp>
      <p:sp>
        <p:nvSpPr>
          <p:cNvPr id="43" name="card"/>
          <p:cNvSpPr/>
          <p:nvPr/>
        </p:nvSpPr>
        <p:spPr>
          <a:xfrm>
            <a:off x="8970264" y="310896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44" name="Image 8" descr="D:\Desktop\타뱅발표\assets\p8.jpg">    </p:cNvPr>
          <p:cNvPicPr>
            <a:picLocks noChangeAspect="1"/>
          </p:cNvPicPr>
          <p:nvPr/>
        </p:nvPicPr>
        <p:blipFill>
          <a:blip r:embed="rId9"/>
          <a:srcRect l="0" r="0" t="0" b="0"/>
          <a:stretch/>
        </p:blipFill>
        <p:spPr>
          <a:xfrm>
            <a:off x="9107424" y="3218688"/>
            <a:ext cx="1005840" cy="1335024"/>
          </a:xfrm>
          <a:prstGeom prst="rect">
            <a:avLst/>
          </a:prstGeom>
        </p:spPr>
      </p:pic>
      <p:sp>
        <p:nvSpPr>
          <p:cNvPr id="45" name="Text 33"/>
          <p:cNvSpPr txBox="1"/>
          <p:nvPr/>
        </p:nvSpPr>
        <p:spPr>
          <a:xfrm>
            <a:off x="11073384" y="320040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08</a:t>
            </a:r>
            <a:endParaRPr lang="en-US" sz="1100" dirty="0"/>
          </a:p>
        </p:txBody>
      </p:sp>
      <p:sp>
        <p:nvSpPr>
          <p:cNvPr id="46" name="Text 34"/>
          <p:cNvSpPr txBox="1"/>
          <p:nvPr/>
        </p:nvSpPr>
        <p:spPr>
          <a:xfrm>
            <a:off x="10250424" y="361188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박성준</a:t>
            </a:r>
            <a:endParaRPr lang="en-US" sz="2200" dirty="0"/>
          </a:p>
        </p:txBody>
      </p:sp>
      <p:sp>
        <p:nvSpPr>
          <p:cNvPr id="47" name="Text 35"/>
          <p:cNvSpPr txBox="1"/>
          <p:nvPr/>
        </p:nvSpPr>
        <p:spPr>
          <a:xfrm>
            <a:off x="10250424" y="406908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대리</a:t>
            </a:r>
            <a:endParaRPr lang="en-US" sz="1600" dirty="0"/>
          </a:p>
        </p:txBody>
      </p:sp>
      <p:sp>
        <p:nvSpPr>
          <p:cNvPr id="48" name="card"/>
          <p:cNvSpPr/>
          <p:nvPr/>
        </p:nvSpPr>
        <p:spPr>
          <a:xfrm>
            <a:off x="548640" y="480060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49" name="Image 9" descr="D:\Desktop\타뱅발표\assets\p9.jpg">    </p:cNvPr>
          <p:cNvPicPr>
            <a:picLocks noChangeAspect="1"/>
          </p:cNvPicPr>
          <p:nvPr/>
        </p:nvPicPr>
        <p:blipFill>
          <a:blip r:embed="rId10"/>
          <a:srcRect l="0" r="0" t="0" b="0"/>
          <a:stretch/>
        </p:blipFill>
        <p:spPr>
          <a:xfrm>
            <a:off x="685800" y="4910328"/>
            <a:ext cx="1005840" cy="1335024"/>
          </a:xfrm>
          <a:prstGeom prst="rect">
            <a:avLst/>
          </a:prstGeom>
        </p:spPr>
      </p:pic>
      <p:sp>
        <p:nvSpPr>
          <p:cNvPr id="50" name="Text 37"/>
          <p:cNvSpPr txBox="1"/>
          <p:nvPr/>
        </p:nvSpPr>
        <p:spPr>
          <a:xfrm>
            <a:off x="2651760" y="489204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09</a:t>
            </a:r>
            <a:endParaRPr lang="en-US" sz="1100" dirty="0"/>
          </a:p>
        </p:txBody>
      </p:sp>
      <p:sp>
        <p:nvSpPr>
          <p:cNvPr id="51" name="Text 38"/>
          <p:cNvSpPr txBox="1"/>
          <p:nvPr/>
        </p:nvSpPr>
        <p:spPr>
          <a:xfrm>
            <a:off x="1828800" y="530352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최기윤</a:t>
            </a:r>
            <a:endParaRPr lang="en-US" sz="2200" dirty="0"/>
          </a:p>
        </p:txBody>
      </p:sp>
      <p:sp>
        <p:nvSpPr>
          <p:cNvPr id="52" name="Text 39"/>
          <p:cNvSpPr txBox="1"/>
          <p:nvPr/>
        </p:nvSpPr>
        <p:spPr>
          <a:xfrm>
            <a:off x="1828800" y="576072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대리</a:t>
            </a:r>
            <a:endParaRPr lang="en-US" sz="1600" dirty="0"/>
          </a:p>
        </p:txBody>
      </p:sp>
      <p:sp>
        <p:nvSpPr>
          <p:cNvPr id="53" name="card"/>
          <p:cNvSpPr/>
          <p:nvPr/>
        </p:nvSpPr>
        <p:spPr>
          <a:xfrm>
            <a:off x="3355848" y="480060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54" name="Image 10" descr="D:\Desktop\타뱅발표\assets\p10.jpg">    </p:cNvPr>
          <p:cNvPicPr>
            <a:picLocks noChangeAspect="1"/>
          </p:cNvPicPr>
          <p:nvPr/>
        </p:nvPicPr>
        <p:blipFill>
          <a:blip r:embed="rId11"/>
          <a:srcRect l="0" r="0" t="0" b="0"/>
          <a:stretch/>
        </p:blipFill>
        <p:spPr>
          <a:xfrm>
            <a:off x="3493008" y="4910328"/>
            <a:ext cx="1005840" cy="1335024"/>
          </a:xfrm>
          <a:prstGeom prst="rect">
            <a:avLst/>
          </a:prstGeom>
        </p:spPr>
      </p:pic>
      <p:sp>
        <p:nvSpPr>
          <p:cNvPr id="55" name="Text 41"/>
          <p:cNvSpPr txBox="1"/>
          <p:nvPr/>
        </p:nvSpPr>
        <p:spPr>
          <a:xfrm>
            <a:off x="5458968" y="489204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10</a:t>
            </a:r>
            <a:endParaRPr lang="en-US" sz="1100" dirty="0"/>
          </a:p>
        </p:txBody>
      </p:sp>
      <p:sp>
        <p:nvSpPr>
          <p:cNvPr id="56" name="Text 42"/>
          <p:cNvSpPr txBox="1"/>
          <p:nvPr/>
        </p:nvSpPr>
        <p:spPr>
          <a:xfrm>
            <a:off x="4636008" y="530352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정현우</a:t>
            </a:r>
            <a:endParaRPr lang="en-US" sz="2200" dirty="0"/>
          </a:p>
        </p:txBody>
      </p:sp>
      <p:sp>
        <p:nvSpPr>
          <p:cNvPr id="57" name="Text 43"/>
          <p:cNvSpPr txBox="1"/>
          <p:nvPr/>
        </p:nvSpPr>
        <p:spPr>
          <a:xfrm>
            <a:off x="4636008" y="576072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사원</a:t>
            </a:r>
            <a:endParaRPr lang="en-US" sz="1600" dirty="0"/>
          </a:p>
        </p:txBody>
      </p:sp>
      <p:sp>
        <p:nvSpPr>
          <p:cNvPr id="58" name="card"/>
          <p:cNvSpPr/>
          <p:nvPr/>
        </p:nvSpPr>
        <p:spPr>
          <a:xfrm>
            <a:off x="6163056" y="4800600"/>
            <a:ext cx="265176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pic>
        <p:nvPicPr>
          <p:cNvPr id="59" name="Image 11" descr="D:\Desktop\타뱅발표\assets\p11.jpg">    </p:cNvPr>
          <p:cNvPicPr>
            <a:picLocks noChangeAspect="1"/>
          </p:cNvPicPr>
          <p:nvPr/>
        </p:nvPicPr>
        <p:blipFill>
          <a:blip r:embed="rId12"/>
          <a:srcRect l="0" r="0" t="0" b="0"/>
          <a:stretch/>
        </p:blipFill>
        <p:spPr>
          <a:xfrm>
            <a:off x="6300216" y="4910328"/>
            <a:ext cx="1005840" cy="1335024"/>
          </a:xfrm>
          <a:prstGeom prst="rect">
            <a:avLst/>
          </a:prstGeom>
        </p:spPr>
      </p:pic>
      <p:sp>
        <p:nvSpPr>
          <p:cNvPr id="60" name="Text 45"/>
          <p:cNvSpPr txBox="1"/>
          <p:nvPr/>
        </p:nvSpPr>
        <p:spPr>
          <a:xfrm>
            <a:off x="8266176" y="4892040"/>
            <a:ext cx="411480" cy="228600"/>
          </a:xfrm>
          <a:prstGeom prst="rect">
            <a:avLst/>
          </a:prstGeom>
          <a:noFill/>
          <a:ln/>
        </p:spPr>
        <p:txBody>
          <a:bodyPr wrap="square" lIns="0" tIns="0" rIns="0" bIns="0" rtlCol="0" anchor="t"/>
          <a:lstStyle/>
          <a:p>
            <a:pPr algn="r" indent="0" marL="0">
              <a:buNone/>
            </a:pPr>
            <a:r>
              <a:rPr lang="en-US" sz="1100" dirty="0">
                <a:solidFill>
                  <a:srgbClr val="A9B3C9"/>
                </a:solidFill>
                <a:latin typeface="Malgun Gothic" pitchFamily="34" charset="0"/>
                <a:ea typeface="Malgun Gothic" pitchFamily="34" charset="-122"/>
                <a:cs typeface="Malgun Gothic" pitchFamily="34" charset="-120"/>
              </a:rPr>
              <a:t>11</a:t>
            </a:r>
            <a:endParaRPr lang="en-US" sz="1100" dirty="0"/>
          </a:p>
        </p:txBody>
      </p:sp>
      <p:sp>
        <p:nvSpPr>
          <p:cNvPr id="61" name="Text 46"/>
          <p:cNvSpPr txBox="1"/>
          <p:nvPr/>
        </p:nvSpPr>
        <p:spPr>
          <a:xfrm>
            <a:off x="7443216" y="5303520"/>
            <a:ext cx="1325880" cy="457200"/>
          </a:xfrm>
          <a:prstGeom prst="rect">
            <a:avLst/>
          </a:prstGeom>
          <a:noFill/>
          <a:ln/>
        </p:spPr>
        <p:txBody>
          <a:bodyPr wrap="square" lIns="0" tIns="0" rIns="0" bIns="0" rtlCol="0" anchor="t"/>
          <a:lstStyle/>
          <a:p>
            <a:pPr indent="0" marL="0">
              <a:buNone/>
            </a:pPr>
            <a:r>
              <a:rPr lang="en-US" sz="2200" b="1" dirty="0">
                <a:solidFill>
                  <a:srgbClr val="F5F2EA"/>
                </a:solidFill>
                <a:latin typeface="Malgun Gothic" pitchFamily="34" charset="0"/>
                <a:ea typeface="Malgun Gothic" pitchFamily="34" charset="-122"/>
                <a:cs typeface="Malgun Gothic" pitchFamily="34" charset="-120"/>
              </a:rPr>
              <a:t>임성윤</a:t>
            </a:r>
            <a:endParaRPr lang="en-US" sz="2200" dirty="0"/>
          </a:p>
        </p:txBody>
      </p:sp>
      <p:sp>
        <p:nvSpPr>
          <p:cNvPr id="62" name="Text 47"/>
          <p:cNvSpPr txBox="1"/>
          <p:nvPr/>
        </p:nvSpPr>
        <p:spPr>
          <a:xfrm>
            <a:off x="7443216" y="5760720"/>
            <a:ext cx="1325880" cy="320040"/>
          </a:xfrm>
          <a:prstGeom prst="rect">
            <a:avLst/>
          </a:prstGeom>
          <a:noFill/>
          <a:ln/>
        </p:spPr>
        <p:txBody>
          <a:bodyPr wrap="square" lIns="0" tIns="0" rIns="0" bIns="0" rtlCol="0" anchor="t"/>
          <a:lstStyle/>
          <a:p>
            <a:pPr indent="0" marL="0">
              <a:buNone/>
            </a:pPr>
            <a:r>
              <a:rPr lang="en-US" sz="1600" dirty="0">
                <a:solidFill>
                  <a:srgbClr val="F3DCA4"/>
                </a:solidFill>
                <a:latin typeface="Malgun Gothic" pitchFamily="34" charset="0"/>
                <a:ea typeface="Malgun Gothic" pitchFamily="34" charset="-122"/>
                <a:cs typeface="Malgun Gothic" pitchFamily="34" charset="-120"/>
              </a:rPr>
              <a:t>사원</a:t>
            </a:r>
            <a:endParaRPr lang="en-US" sz="1600" dirty="0"/>
          </a:p>
        </p:txBody>
      </p:sp>
      <p:sp>
        <p:nvSpPr>
          <p:cNvPr id="63" name="card"/>
          <p:cNvSpPr/>
          <p:nvPr/>
        </p:nvSpPr>
        <p:spPr>
          <a:xfrm>
            <a:off x="8970264" y="4800600"/>
            <a:ext cx="2651760" cy="1554480"/>
          </a:xfrm>
          <a:prstGeom prst="roundRect">
            <a:avLst>
              <a:gd name="adj" fmla="val 7059"/>
            </a:avLst>
          </a:prstGeom>
          <a:solidFill>
            <a:srgbClr val="2A2740"/>
          </a:solidFill>
          <a:ln w="9525">
            <a:solidFill>
              <a:srgbClr val="D9B66F"/>
            </a:solidFill>
            <a:prstDash val="solid"/>
          </a:ln>
          <a:effectLst>
            <a:outerShdw sx="100000" sy="100000" kx="0" ky="0" algn="bl" rotWithShape="0" blurRad="127000" dist="50800" dir="5400000">
              <a:srgbClr val="000000">
                <a:alpha val="35000"/>
              </a:srgbClr>
            </a:outerShdw>
          </a:effectLst>
        </p:spPr>
        <p:txBody>
          <a:bodyPr/>
          <a:p/>
        </p:txBody>
      </p:sp>
      <p:sp>
        <p:nvSpPr>
          <p:cNvPr id="64" name="Text 49"/>
          <p:cNvSpPr txBox="1"/>
          <p:nvPr/>
        </p:nvSpPr>
        <p:spPr>
          <a:xfrm>
            <a:off x="8970264" y="4983480"/>
            <a:ext cx="2651760" cy="36576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경영전략본부</a:t>
            </a:r>
            <a:endParaRPr lang="en-US" sz="1400" dirty="0"/>
          </a:p>
        </p:txBody>
      </p:sp>
      <p:sp>
        <p:nvSpPr>
          <p:cNvPr id="65" name="Text 50"/>
          <p:cNvSpPr txBox="1"/>
          <p:nvPr/>
        </p:nvSpPr>
        <p:spPr>
          <a:xfrm>
            <a:off x="8970264" y="5349240"/>
            <a:ext cx="2651760" cy="731520"/>
          </a:xfrm>
          <a:prstGeom prst="rect">
            <a:avLst/>
          </a:prstGeom>
          <a:noFill/>
          <a:ln/>
        </p:spPr>
        <p:txBody>
          <a:bodyPr wrap="square" lIns="0" tIns="0" rIns="0" bIns="0" rtlCol="0" anchor="t"/>
          <a:lstStyle/>
          <a:p>
            <a:pPr algn="ctr" indent="0" marL="0">
              <a:buNone/>
            </a:pPr>
            <a:r>
              <a:rPr lang="en-US" sz="4000" b="1" dirty="0">
                <a:solidFill>
                  <a:srgbClr val="F3DCA4"/>
                </a:solidFill>
                <a:latin typeface="Malgun Gothic" pitchFamily="34" charset="0"/>
                <a:ea typeface="Malgun Gothic" pitchFamily="34" charset="-122"/>
                <a:cs typeface="Malgun Gothic" pitchFamily="34" charset="-120"/>
              </a:rPr>
              <a:t>11명</a:t>
            </a:r>
            <a:endParaRPr lang="en-US" sz="40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822960" y="731520"/>
            <a:ext cx="4572000" cy="2743200"/>
          </a:xfrm>
          <a:prstGeom prst="rect">
            <a:avLst/>
          </a:prstGeom>
          <a:noFill/>
          <a:ln/>
        </p:spPr>
        <p:txBody>
          <a:bodyPr wrap="square" lIns="0" tIns="0" rIns="0" bIns="0" rtlCol="0" anchor="t"/>
          <a:lstStyle/>
          <a:p>
            <a:pPr indent="0" marL="0">
              <a:buNone/>
            </a:pPr>
            <a:r>
              <a:rPr lang="en-US" sz="17000" b="1" dirty="0">
                <a:solidFill>
                  <a:srgbClr val="D9B66F"/>
                </a:solidFill>
                <a:latin typeface="Malgun Gothic" pitchFamily="34" charset="0"/>
                <a:ea typeface="Malgun Gothic" pitchFamily="34" charset="-122"/>
                <a:cs typeface="Malgun Gothic" pitchFamily="34" charset="-120"/>
              </a:rPr>
              <a:t>Ⅰ</a:t>
            </a:r>
            <a:endParaRPr lang="en-US" sz="17000" dirty="0"/>
          </a:p>
        </p:txBody>
      </p:sp>
      <p:sp>
        <p:nvSpPr>
          <p:cNvPr id="4" name="Text 1"/>
          <p:cNvSpPr txBox="1"/>
          <p:nvPr/>
        </p:nvSpPr>
        <p:spPr>
          <a:xfrm>
            <a:off x="822960" y="3566160"/>
            <a:ext cx="9144000" cy="1828800"/>
          </a:xfrm>
          <a:prstGeom prst="rect">
            <a:avLst/>
          </a:prstGeom>
          <a:noFill/>
          <a:ln/>
        </p:spPr>
        <p:txBody>
          <a:bodyPr wrap="square" lIns="0" tIns="0" rIns="0" bIns="0" rtlCol="0" anchor="t"/>
          <a:lstStyle/>
          <a:p>
            <a:pPr indent="0" marL="0">
              <a:buNone/>
            </a:pPr>
            <a:r>
              <a:rPr lang="en-US" sz="5400" b="1" dirty="0">
                <a:solidFill>
                  <a:srgbClr val="F5F2EA"/>
                </a:solidFill>
                <a:latin typeface="Malgun Gothic" pitchFamily="34" charset="0"/>
                <a:ea typeface="Malgun Gothic" pitchFamily="34" charset="-122"/>
                <a:cs typeface="Malgun Gothic" pitchFamily="34" charset="-120"/>
              </a:rPr>
              <a:t>2026년 3분기</a:t>
            </a:r>
            <a:endParaRPr lang="en-US" sz="5400" dirty="0"/>
          </a:p>
          <a:p>
            <a:pPr indent="0" marL="0">
              <a:buNone/>
            </a:pPr>
            <a:r>
              <a:rPr lang="en-US" sz="5400" b="1" dirty="0">
                <a:solidFill>
                  <a:srgbClr val="F5F2EA"/>
                </a:solidFill>
                <a:latin typeface="Malgun Gothic" pitchFamily="34" charset="0"/>
                <a:ea typeface="Malgun Gothic" pitchFamily="34" charset="-122"/>
                <a:cs typeface="Malgun Gothic" pitchFamily="34" charset="-120"/>
              </a:rPr>
              <a:t>업무성과 보고</a:t>
            </a:r>
            <a:endParaRPr lang="en-US" sz="5400" dirty="0"/>
          </a:p>
        </p:txBody>
      </p:sp>
      <p:sp>
        <p:nvSpPr>
          <p:cNvPr id="5" name="Text 2"/>
          <p:cNvSpPr txBox="1"/>
          <p:nvPr/>
        </p:nvSpPr>
        <p:spPr>
          <a:xfrm>
            <a:off x="822960" y="5486400"/>
            <a:ext cx="9144000" cy="457200"/>
          </a:xfrm>
          <a:prstGeom prst="rect">
            <a:avLst/>
          </a:prstGeom>
          <a:noFill/>
          <a:ln/>
        </p:spPr>
        <p:txBody>
          <a:bodyPr wrap="square" lIns="0" tIns="0" rIns="0" bIns="0" rtlCol="0" anchor="t"/>
          <a:lstStyle/>
          <a:p>
            <a:pPr indent="0" marL="0">
              <a:buNone/>
            </a:pPr>
            <a:r>
              <a:rPr lang="en-US" sz="2000" dirty="0">
                <a:solidFill>
                  <a:srgbClr val="A9B3C9"/>
                </a:solidFill>
                <a:latin typeface="Malgun Gothic" pitchFamily="34" charset="0"/>
                <a:ea typeface="Malgun Gothic" pitchFamily="34" charset="-122"/>
                <a:cs typeface="Malgun Gothic" pitchFamily="34" charset="-120"/>
              </a:rPr>
              <a:t>한눈에 보는 10대 성과부터 세부 내용까지</a:t>
            </a:r>
            <a:endParaRPr lang="en-US" sz="20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Ⅰ</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한눈에 보는 10대 성과</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2026년 3분기 경영전략본부</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4173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Text 5"/>
          <p:cNvSpPr txBox="1"/>
          <p:nvPr/>
        </p:nvSpPr>
        <p:spPr>
          <a:xfrm>
            <a:off x="731520" y="15544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Ⅰ</a:t>
            </a:r>
            <a:endParaRPr lang="en-US" sz="1600" dirty="0"/>
          </a:p>
        </p:txBody>
      </p:sp>
      <p:sp>
        <p:nvSpPr>
          <p:cNvPr id="10" name="Text 6"/>
          <p:cNvSpPr txBox="1"/>
          <p:nvPr/>
        </p:nvSpPr>
        <p:spPr>
          <a:xfrm>
            <a:off x="731520" y="1920240"/>
            <a:ext cx="1783080" cy="64008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관리법인 현황</a:t>
            </a:r>
            <a:endParaRPr lang="en-US" sz="1500" dirty="0"/>
          </a:p>
        </p:txBody>
      </p:sp>
      <p:sp>
        <p:nvSpPr>
          <p:cNvPr id="11" name="Text 7"/>
          <p:cNvSpPr txBox="1"/>
          <p:nvPr/>
        </p:nvSpPr>
        <p:spPr>
          <a:xfrm>
            <a:off x="731520" y="2606040"/>
            <a:ext cx="1783080" cy="54864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22</a:t>
            </a:r>
            <a:endParaRPr lang="en-US" sz="3200" dirty="0"/>
          </a:p>
        </p:txBody>
      </p:sp>
      <p:sp>
        <p:nvSpPr>
          <p:cNvPr id="12" name="Text 8"/>
          <p:cNvSpPr txBox="1"/>
          <p:nvPr/>
        </p:nvSpPr>
        <p:spPr>
          <a:xfrm>
            <a:off x="731520" y="32004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개 (+2)</a:t>
            </a:r>
            <a:endParaRPr lang="en-US" sz="1200" dirty="0"/>
          </a:p>
        </p:txBody>
      </p:sp>
      <p:sp>
        <p:nvSpPr>
          <p:cNvPr id="13" name="card"/>
          <p:cNvSpPr/>
          <p:nvPr/>
        </p:nvSpPr>
        <p:spPr>
          <a:xfrm>
            <a:off x="2788920" y="14173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4" name="Text 10"/>
          <p:cNvSpPr txBox="1"/>
          <p:nvPr/>
        </p:nvSpPr>
        <p:spPr>
          <a:xfrm>
            <a:off x="2971800" y="15544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Ⅱ</a:t>
            </a:r>
            <a:endParaRPr lang="en-US" sz="1600" dirty="0"/>
          </a:p>
        </p:txBody>
      </p:sp>
      <p:sp>
        <p:nvSpPr>
          <p:cNvPr id="15" name="Text 11"/>
          <p:cNvSpPr txBox="1"/>
          <p:nvPr/>
        </p:nvSpPr>
        <p:spPr>
          <a:xfrm>
            <a:off x="2971800" y="1920240"/>
            <a:ext cx="1783080" cy="64008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관리법인 자체기장</a:t>
            </a:r>
            <a:endParaRPr lang="en-US" sz="1500" dirty="0"/>
          </a:p>
        </p:txBody>
      </p:sp>
      <p:sp>
        <p:nvSpPr>
          <p:cNvPr id="16" name="Text 12"/>
          <p:cNvSpPr txBox="1"/>
          <p:nvPr/>
        </p:nvSpPr>
        <p:spPr>
          <a:xfrm>
            <a:off x="2971800" y="2606040"/>
            <a:ext cx="1783080" cy="54864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17</a:t>
            </a:r>
            <a:endParaRPr lang="en-US" sz="3200" dirty="0"/>
          </a:p>
        </p:txBody>
      </p:sp>
      <p:sp>
        <p:nvSpPr>
          <p:cNvPr id="17" name="Text 13"/>
          <p:cNvSpPr txBox="1"/>
          <p:nvPr/>
        </p:nvSpPr>
        <p:spPr>
          <a:xfrm>
            <a:off x="2971800" y="32004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개 법인 자체 신고</a:t>
            </a:r>
            <a:endParaRPr lang="en-US" sz="1200" dirty="0"/>
          </a:p>
        </p:txBody>
      </p:sp>
      <p:sp>
        <p:nvSpPr>
          <p:cNvPr id="18" name="card"/>
          <p:cNvSpPr/>
          <p:nvPr/>
        </p:nvSpPr>
        <p:spPr>
          <a:xfrm>
            <a:off x="5029200" y="14173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9" name="Text 15"/>
          <p:cNvSpPr txBox="1"/>
          <p:nvPr/>
        </p:nvSpPr>
        <p:spPr>
          <a:xfrm>
            <a:off x="5212080" y="15544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Ⅲ</a:t>
            </a:r>
            <a:endParaRPr lang="en-US" sz="1600" dirty="0"/>
          </a:p>
        </p:txBody>
      </p:sp>
      <p:sp>
        <p:nvSpPr>
          <p:cNvPr id="20" name="Text 16"/>
          <p:cNvSpPr txBox="1"/>
          <p:nvPr/>
        </p:nvSpPr>
        <p:spPr>
          <a:xfrm>
            <a:off x="5212080" y="1920240"/>
            <a:ext cx="1783080" cy="64008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소득금액변동통지 승소</a:t>
            </a:r>
            <a:endParaRPr lang="en-US" sz="1500" dirty="0"/>
          </a:p>
        </p:txBody>
      </p:sp>
      <p:sp>
        <p:nvSpPr>
          <p:cNvPr id="21" name="Text 17"/>
          <p:cNvSpPr txBox="1"/>
          <p:nvPr/>
        </p:nvSpPr>
        <p:spPr>
          <a:xfrm>
            <a:off x="5212080" y="2606040"/>
            <a:ext cx="1783080" cy="54864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25</a:t>
            </a:r>
            <a:endParaRPr lang="en-US" sz="3200" dirty="0"/>
          </a:p>
        </p:txBody>
      </p:sp>
      <p:sp>
        <p:nvSpPr>
          <p:cNvPr id="22" name="Text 18"/>
          <p:cNvSpPr txBox="1"/>
          <p:nvPr/>
        </p:nvSpPr>
        <p:spPr>
          <a:xfrm>
            <a:off x="5212080" y="32004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억 환급 진행</a:t>
            </a:r>
            <a:endParaRPr lang="en-US" sz="1200" dirty="0"/>
          </a:p>
        </p:txBody>
      </p:sp>
      <p:sp>
        <p:nvSpPr>
          <p:cNvPr id="23" name="card"/>
          <p:cNvSpPr/>
          <p:nvPr/>
        </p:nvSpPr>
        <p:spPr>
          <a:xfrm>
            <a:off x="7269480" y="14173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4" name="Text 20"/>
          <p:cNvSpPr txBox="1"/>
          <p:nvPr/>
        </p:nvSpPr>
        <p:spPr>
          <a:xfrm>
            <a:off x="7452360" y="15544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Ⅳ</a:t>
            </a:r>
            <a:endParaRPr lang="en-US" sz="1600" dirty="0"/>
          </a:p>
        </p:txBody>
      </p:sp>
      <p:sp>
        <p:nvSpPr>
          <p:cNvPr id="25" name="Text 21"/>
          <p:cNvSpPr txBox="1"/>
          <p:nvPr/>
        </p:nvSpPr>
        <p:spPr>
          <a:xfrm>
            <a:off x="7452360" y="1920240"/>
            <a:ext cx="1783080" cy="64008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원풍약품상사 재고실사</a:t>
            </a:r>
            <a:endParaRPr lang="en-US" sz="1500" dirty="0"/>
          </a:p>
        </p:txBody>
      </p:sp>
      <p:sp>
        <p:nvSpPr>
          <p:cNvPr id="26" name="Text 22"/>
          <p:cNvSpPr txBox="1"/>
          <p:nvPr/>
        </p:nvSpPr>
        <p:spPr>
          <a:xfrm>
            <a:off x="7452360" y="2606040"/>
            <a:ext cx="1783080" cy="54864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1.8</a:t>
            </a:r>
            <a:endParaRPr lang="en-US" sz="3200" dirty="0"/>
          </a:p>
        </p:txBody>
      </p:sp>
      <p:sp>
        <p:nvSpPr>
          <p:cNvPr id="27" name="Text 23"/>
          <p:cNvSpPr txBox="1"/>
          <p:nvPr/>
        </p:nvSpPr>
        <p:spPr>
          <a:xfrm>
            <a:off x="7452360" y="32004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억 법인세 절감</a:t>
            </a:r>
            <a:endParaRPr lang="en-US" sz="1200" dirty="0"/>
          </a:p>
        </p:txBody>
      </p:sp>
      <p:sp>
        <p:nvSpPr>
          <p:cNvPr id="28" name="card"/>
          <p:cNvSpPr/>
          <p:nvPr/>
        </p:nvSpPr>
        <p:spPr>
          <a:xfrm>
            <a:off x="9509760" y="14173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9" name="Text 25"/>
          <p:cNvSpPr txBox="1"/>
          <p:nvPr/>
        </p:nvSpPr>
        <p:spPr>
          <a:xfrm>
            <a:off x="9692640" y="15544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Ⅴ</a:t>
            </a:r>
            <a:endParaRPr lang="en-US" sz="1600" dirty="0"/>
          </a:p>
        </p:txBody>
      </p:sp>
      <p:sp>
        <p:nvSpPr>
          <p:cNvPr id="30" name="Text 26"/>
          <p:cNvSpPr txBox="1"/>
          <p:nvPr/>
        </p:nvSpPr>
        <p:spPr>
          <a:xfrm>
            <a:off x="9692640" y="1920240"/>
            <a:ext cx="1783080" cy="64008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에어프레미아 파견</a:t>
            </a:r>
            <a:endParaRPr lang="en-US" sz="1500" dirty="0"/>
          </a:p>
        </p:txBody>
      </p:sp>
      <p:sp>
        <p:nvSpPr>
          <p:cNvPr id="31" name="Text 27"/>
          <p:cNvSpPr txBox="1"/>
          <p:nvPr/>
        </p:nvSpPr>
        <p:spPr>
          <a:xfrm>
            <a:off x="9692640" y="2606040"/>
            <a:ext cx="1783080" cy="54864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2</a:t>
            </a:r>
            <a:endParaRPr lang="en-US" sz="3200" dirty="0"/>
          </a:p>
        </p:txBody>
      </p:sp>
      <p:sp>
        <p:nvSpPr>
          <p:cNvPr id="32" name="Text 28"/>
          <p:cNvSpPr txBox="1"/>
          <p:nvPr/>
        </p:nvSpPr>
        <p:spPr>
          <a:xfrm>
            <a:off x="9692640" y="32004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개월 RA 업무 지원</a:t>
            </a:r>
            <a:endParaRPr lang="en-US" sz="1200" dirty="0"/>
          </a:p>
        </p:txBody>
      </p:sp>
      <p:sp>
        <p:nvSpPr>
          <p:cNvPr id="33" name="card"/>
          <p:cNvSpPr/>
          <p:nvPr/>
        </p:nvSpPr>
        <p:spPr>
          <a:xfrm>
            <a:off x="548640" y="39319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4" name="Text 30"/>
          <p:cNvSpPr txBox="1"/>
          <p:nvPr/>
        </p:nvSpPr>
        <p:spPr>
          <a:xfrm>
            <a:off x="731520" y="40690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Ⅵ</a:t>
            </a:r>
            <a:endParaRPr lang="en-US" sz="1600" dirty="0"/>
          </a:p>
        </p:txBody>
      </p:sp>
      <p:sp>
        <p:nvSpPr>
          <p:cNvPr id="35" name="Text 31"/>
          <p:cNvSpPr txBox="1"/>
          <p:nvPr/>
        </p:nvSpPr>
        <p:spPr>
          <a:xfrm>
            <a:off x="731520" y="4434840"/>
            <a:ext cx="1783080" cy="640080"/>
          </a:xfrm>
          <a:prstGeom prst="rect">
            <a:avLst/>
          </a:prstGeom>
          <a:noFill/>
          <a:ln/>
        </p:spPr>
        <p:txBody>
          <a:bodyPr wrap="square" lIns="0" tIns="0" rIns="0" bIns="0" rtlCol="0" anchor="t"/>
          <a:lstStyle/>
          <a:p>
            <a:pPr indent="0" marL="0">
              <a:buNone/>
            </a:pPr>
            <a:r>
              <a:t>좋은타이어 회계프로그램 변경</a:t>
            </a:r>
            <a:endParaRPr lang="en-US" sz="1500" dirty="0"/>
          </a:p>
        </p:txBody>
      </p:sp>
      <p:sp>
        <p:nvSpPr>
          <p:cNvPr id="36" name="Text 32"/>
          <p:cNvSpPr txBox="1"/>
          <p:nvPr/>
        </p:nvSpPr>
        <p:spPr>
          <a:xfrm>
            <a:off x="731520" y="5120640"/>
            <a:ext cx="1783080" cy="54864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9</a:t>
            </a:r>
            <a:endParaRPr lang="en-US" sz="3200" dirty="0"/>
          </a:p>
        </p:txBody>
      </p:sp>
      <p:sp>
        <p:nvSpPr>
          <p:cNvPr id="37" name="Text 33"/>
          <p:cNvSpPr txBox="1"/>
          <p:nvPr/>
        </p:nvSpPr>
        <p:spPr>
          <a:xfrm>
            <a:off x="731520" y="57150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개 매장 자동전표</a:t>
            </a:r>
            <a:endParaRPr lang="en-US" sz="1200" dirty="0"/>
          </a:p>
        </p:txBody>
      </p:sp>
      <p:sp>
        <p:nvSpPr>
          <p:cNvPr id="38" name="card"/>
          <p:cNvSpPr/>
          <p:nvPr/>
        </p:nvSpPr>
        <p:spPr>
          <a:xfrm>
            <a:off x="2788920" y="39319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9" name="Text 35"/>
          <p:cNvSpPr txBox="1"/>
          <p:nvPr/>
        </p:nvSpPr>
        <p:spPr>
          <a:xfrm>
            <a:off x="2971800" y="40690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Ⅶ</a:t>
            </a:r>
            <a:endParaRPr lang="en-US" sz="1600" dirty="0"/>
          </a:p>
        </p:txBody>
      </p:sp>
      <p:sp>
        <p:nvSpPr>
          <p:cNvPr id="40" name="Text 36"/>
          <p:cNvSpPr txBox="1"/>
          <p:nvPr/>
        </p:nvSpPr>
        <p:spPr>
          <a:xfrm>
            <a:off x="2971800" y="4434840"/>
            <a:ext cx="1783080" cy="64008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농업법인 농지 자경</a:t>
            </a:r>
            <a:endParaRPr lang="en-US" sz="1500" dirty="0"/>
          </a:p>
        </p:txBody>
      </p:sp>
      <p:sp>
        <p:nvSpPr>
          <p:cNvPr id="41" name="Text 37"/>
          <p:cNvSpPr txBox="1"/>
          <p:nvPr/>
        </p:nvSpPr>
        <p:spPr>
          <a:xfrm>
            <a:off x="2971800" y="5120640"/>
            <a:ext cx="1783080" cy="548640"/>
          </a:xfrm>
          <a:prstGeom prst="rect">
            <a:avLst/>
          </a:prstGeom>
          <a:noFill/>
          <a:ln/>
        </p:spPr>
        <p:txBody>
          <a:bodyPr wrap="square" lIns="0" tIns="0" rIns="0" bIns="0" rtlCol="0" anchor="ctr"/>
          <a:lstStyle/>
          <a:p>
            <a:pPr indent="0" marL="0">
              <a:buNone/>
            </a:pPr>
            <a:r>
              <a:rPr lang="en-US" sz="2600" b="1" dirty="0">
                <a:solidFill>
                  <a:srgbClr val="F3DCA4"/>
                </a:solidFill>
                <a:latin typeface="Malgun Gothic" pitchFamily="34" charset="0"/>
                <a:ea typeface="Malgun Gothic" pitchFamily="34" charset="-122"/>
                <a:cs typeface="Malgun Gothic" pitchFamily="34" charset="-120"/>
              </a:rPr>
              <a:t>54,164</a:t>
            </a:r>
            <a:endParaRPr lang="en-US" sz="2600" dirty="0"/>
          </a:p>
        </p:txBody>
      </p:sp>
      <p:sp>
        <p:nvSpPr>
          <p:cNvPr id="42" name="Text 38"/>
          <p:cNvSpPr txBox="1"/>
          <p:nvPr/>
        </p:nvSpPr>
        <p:spPr>
          <a:xfrm>
            <a:off x="2971800" y="57150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평 자경 완료</a:t>
            </a:r>
            <a:endParaRPr lang="en-US" sz="1200" dirty="0"/>
          </a:p>
        </p:txBody>
      </p:sp>
      <p:sp>
        <p:nvSpPr>
          <p:cNvPr id="43" name="card"/>
          <p:cNvSpPr/>
          <p:nvPr/>
        </p:nvSpPr>
        <p:spPr>
          <a:xfrm>
            <a:off x="5029200" y="39319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44" name="Text 40"/>
          <p:cNvSpPr txBox="1"/>
          <p:nvPr/>
        </p:nvSpPr>
        <p:spPr>
          <a:xfrm>
            <a:off x="5212080" y="40690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Ⅷ</a:t>
            </a:r>
            <a:endParaRPr lang="en-US" sz="1600" dirty="0"/>
          </a:p>
        </p:txBody>
      </p:sp>
      <p:sp>
        <p:nvSpPr>
          <p:cNvPr id="45" name="Text 41"/>
          <p:cNvSpPr txBox="1"/>
          <p:nvPr/>
        </p:nvSpPr>
        <p:spPr>
          <a:xfrm>
            <a:off x="5212080" y="4434840"/>
            <a:ext cx="1783080" cy="64008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지방세 서면조사</a:t>
            </a:r>
            <a:endParaRPr lang="en-US" sz="1500" dirty="0"/>
          </a:p>
        </p:txBody>
      </p:sp>
      <p:sp>
        <p:nvSpPr>
          <p:cNvPr id="46" name="Text 42"/>
          <p:cNvSpPr txBox="1"/>
          <p:nvPr/>
        </p:nvSpPr>
        <p:spPr>
          <a:xfrm>
            <a:off x="5212080" y="5120640"/>
            <a:ext cx="1783080" cy="54864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적정</a:t>
            </a:r>
            <a:endParaRPr lang="en-US" sz="3200" dirty="0"/>
          </a:p>
        </p:txBody>
      </p:sp>
      <p:sp>
        <p:nvSpPr>
          <p:cNvPr id="47" name="Text 43"/>
          <p:cNvSpPr txBox="1"/>
          <p:nvPr/>
        </p:nvSpPr>
        <p:spPr>
          <a:xfrm>
            <a:off x="5212080" y="57150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추징세액 없음</a:t>
            </a:r>
            <a:endParaRPr lang="en-US" sz="1200" dirty="0"/>
          </a:p>
        </p:txBody>
      </p:sp>
      <p:sp>
        <p:nvSpPr>
          <p:cNvPr id="48" name="card"/>
          <p:cNvSpPr/>
          <p:nvPr/>
        </p:nvSpPr>
        <p:spPr>
          <a:xfrm>
            <a:off x="7269480" y="39319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49" name="Text 45"/>
          <p:cNvSpPr txBox="1"/>
          <p:nvPr/>
        </p:nvSpPr>
        <p:spPr>
          <a:xfrm>
            <a:off x="7452360" y="40690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Ⅸ</a:t>
            </a:r>
            <a:endParaRPr lang="en-US" sz="1600" dirty="0"/>
          </a:p>
        </p:txBody>
      </p:sp>
      <p:sp>
        <p:nvSpPr>
          <p:cNvPr id="50" name="Text 46"/>
          <p:cNvSpPr txBox="1"/>
          <p:nvPr/>
        </p:nvSpPr>
        <p:spPr>
          <a:xfrm>
            <a:off x="7452360" y="4434840"/>
            <a:ext cx="1783080" cy="64008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MMDA·여신금리</a:t>
            </a:r>
            <a:endParaRPr lang="en-US" sz="1500" dirty="0"/>
          </a:p>
        </p:txBody>
      </p:sp>
      <p:sp>
        <p:nvSpPr>
          <p:cNvPr id="51" name="Text 47"/>
          <p:cNvSpPr txBox="1"/>
          <p:nvPr/>
        </p:nvSpPr>
        <p:spPr>
          <a:xfrm>
            <a:off x="7452360" y="5120640"/>
            <a:ext cx="1783080" cy="54864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2.5</a:t>
            </a:r>
            <a:endParaRPr lang="en-US" sz="3200" dirty="0"/>
          </a:p>
        </p:txBody>
      </p:sp>
      <p:sp>
        <p:nvSpPr>
          <p:cNvPr id="52" name="Text 48"/>
          <p:cNvSpPr txBox="1"/>
          <p:nvPr/>
        </p:nvSpPr>
        <p:spPr>
          <a:xfrm>
            <a:off x="7452360" y="57150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 농협 MMDA 금리</a:t>
            </a:r>
            <a:endParaRPr lang="en-US" sz="1200" dirty="0"/>
          </a:p>
        </p:txBody>
      </p:sp>
      <p:sp>
        <p:nvSpPr>
          <p:cNvPr id="53" name="card"/>
          <p:cNvSpPr/>
          <p:nvPr/>
        </p:nvSpPr>
        <p:spPr>
          <a:xfrm>
            <a:off x="9509760" y="3931920"/>
            <a:ext cx="2103120" cy="2331720"/>
          </a:xfrm>
          <a:prstGeom prst="roundRect">
            <a:avLst>
              <a:gd name="adj" fmla="val 521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54" name="Text 50"/>
          <p:cNvSpPr txBox="1"/>
          <p:nvPr/>
        </p:nvSpPr>
        <p:spPr>
          <a:xfrm>
            <a:off x="9692640" y="4069080"/>
            <a:ext cx="914400" cy="320040"/>
          </a:xfrm>
          <a:prstGeom prst="rect">
            <a:avLst/>
          </a:prstGeom>
          <a:noFill/>
          <a:ln/>
        </p:spPr>
        <p:txBody>
          <a:bodyPr wrap="square" lIns="0" tIns="0" rIns="0" bIns="0" rtlCol="0" anchor="t"/>
          <a:lstStyle/>
          <a:p>
            <a:pPr indent="0" marL="0">
              <a:buNone/>
            </a:pPr>
            <a:r>
              <a:rPr lang="en-US" sz="1600" b="1" dirty="0">
                <a:solidFill>
                  <a:srgbClr val="D9B66F"/>
                </a:solidFill>
                <a:latin typeface="Malgun Gothic" pitchFamily="34" charset="0"/>
                <a:ea typeface="Malgun Gothic" pitchFamily="34" charset="-122"/>
                <a:cs typeface="Malgun Gothic" pitchFamily="34" charset="-120"/>
              </a:rPr>
              <a:t>Ⅹ</a:t>
            </a:r>
            <a:endParaRPr lang="en-US" sz="1600" dirty="0"/>
          </a:p>
        </p:txBody>
      </p:sp>
      <p:sp>
        <p:nvSpPr>
          <p:cNvPr id="55" name="Text 51"/>
          <p:cNvSpPr txBox="1"/>
          <p:nvPr/>
        </p:nvSpPr>
        <p:spPr>
          <a:xfrm>
            <a:off x="9692640" y="4434840"/>
            <a:ext cx="1783080" cy="64008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위수탁사업계약서</a:t>
            </a:r>
            <a:endParaRPr lang="en-US" sz="1500" dirty="0"/>
          </a:p>
        </p:txBody>
      </p:sp>
      <p:sp>
        <p:nvSpPr>
          <p:cNvPr id="56" name="Text 52"/>
          <p:cNvSpPr txBox="1"/>
          <p:nvPr/>
        </p:nvSpPr>
        <p:spPr>
          <a:xfrm>
            <a:off x="9692640" y="5120640"/>
            <a:ext cx="1783080" cy="54864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595</a:t>
            </a:r>
            <a:endParaRPr lang="en-US" sz="3200" dirty="0"/>
          </a:p>
        </p:txBody>
      </p:sp>
      <p:sp>
        <p:nvSpPr>
          <p:cNvPr id="57" name="Text 53"/>
          <p:cNvSpPr txBox="1"/>
          <p:nvPr/>
        </p:nvSpPr>
        <p:spPr>
          <a:xfrm>
            <a:off x="9692640" y="5715000"/>
            <a:ext cx="1783080" cy="45720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건 작성 완료</a:t>
            </a:r>
            <a:endParaRPr lang="en-US" sz="12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Ⅰ</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2026년 3분기 관계사 관리법인 현황</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체계적인 업무 분장으로 증가한 법인에 효율적으로 대응</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371600"/>
            <a:ext cx="6309360" cy="1600200"/>
          </a:xfrm>
          <a:prstGeom prst="roundRect">
            <a:avLst>
              <a:gd name="adj" fmla="val 685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Text 5"/>
          <p:cNvSpPr txBox="1"/>
          <p:nvPr/>
        </p:nvSpPr>
        <p:spPr>
          <a:xfrm>
            <a:off x="777240" y="1463040"/>
            <a:ext cx="1371600" cy="274320"/>
          </a:xfrm>
          <a:prstGeom prst="rect">
            <a:avLst/>
          </a:prstGeom>
          <a:noFill/>
          <a:ln/>
        </p:spPr>
        <p:txBody>
          <a:bodyPr wrap="square" lIns="0" tIns="0" rIns="0" bIns="0" rtlCol="0" anchor="t"/>
          <a:lstStyle/>
          <a:p>
            <a:pPr indent="0" marL="0">
              <a:buNone/>
            </a:pPr>
            <a:r>
              <a:rPr lang="en-US" sz="1300" dirty="0">
                <a:solidFill>
                  <a:srgbClr val="A9B3C9"/>
                </a:solidFill>
                <a:latin typeface="Malgun Gothic" pitchFamily="34" charset="0"/>
                <a:ea typeface="Malgun Gothic" pitchFamily="34" charset="-122"/>
                <a:cs typeface="Malgun Gothic" pitchFamily="34" charset="-120"/>
              </a:rPr>
              <a:t>2025년</a:t>
            </a:r>
            <a:endParaRPr lang="en-US" sz="1300" dirty="0"/>
          </a:p>
        </p:txBody>
      </p:sp>
      <p:sp>
        <p:nvSpPr>
          <p:cNvPr id="10" name="Text 6"/>
          <p:cNvSpPr txBox="1"/>
          <p:nvPr/>
        </p:nvSpPr>
        <p:spPr>
          <a:xfrm>
            <a:off x="777240" y="1737360"/>
            <a:ext cx="1737360" cy="1005840"/>
          </a:xfrm>
          <a:prstGeom prst="rect">
            <a:avLst/>
          </a:prstGeom>
          <a:noFill/>
          <a:ln/>
        </p:spPr>
        <p:txBody>
          <a:bodyPr wrap="square" lIns="0" tIns="0" rIns="0" bIns="0" rtlCol="0" anchor="ctr"/>
          <a:lstStyle/>
          <a:p>
            <a:pPr indent="0" marL="0">
              <a:buNone/>
            </a:pPr>
            <a:r>
              <a:rPr lang="en-US" sz="4400" b="1" dirty="0">
                <a:solidFill>
                  <a:srgbClr val="A9B3C9"/>
                </a:solidFill>
                <a:latin typeface="Malgun Gothic" pitchFamily="34" charset="0"/>
                <a:ea typeface="Malgun Gothic" pitchFamily="34" charset="-122"/>
                <a:cs typeface="Malgun Gothic" pitchFamily="34" charset="-120"/>
              </a:rPr>
              <a:t>20개</a:t>
            </a:r>
            <a:endParaRPr lang="en-US" sz="4400" dirty="0"/>
          </a:p>
        </p:txBody>
      </p:sp>
      <p:sp>
        <p:nvSpPr>
          <p:cNvPr id="11" name="Text 7"/>
          <p:cNvSpPr txBox="1"/>
          <p:nvPr/>
        </p:nvSpPr>
        <p:spPr>
          <a:xfrm>
            <a:off x="2468880" y="1737360"/>
            <a:ext cx="640080" cy="1005840"/>
          </a:xfrm>
          <a:prstGeom prst="rect">
            <a:avLst/>
          </a:prstGeom>
          <a:noFill/>
          <a:ln/>
        </p:spPr>
        <p:txBody>
          <a:bodyPr wrap="square" lIns="0" tIns="0" rIns="0" bIns="0" rtlCol="0" anchor="ctr"/>
          <a:lstStyle/>
          <a:p>
            <a:pPr algn="ctr" indent="0" marL="0">
              <a:buNone/>
            </a:pPr>
            <a:r>
              <a:rPr lang="en-US" sz="3200" dirty="0">
                <a:solidFill>
                  <a:srgbClr val="D9B66F"/>
                </a:solidFill>
                <a:latin typeface="Malgun Gothic" pitchFamily="34" charset="0"/>
                <a:ea typeface="Malgun Gothic" pitchFamily="34" charset="-122"/>
                <a:cs typeface="Malgun Gothic" pitchFamily="34" charset="-120"/>
              </a:rPr>
              <a:t>➜</a:t>
            </a:r>
            <a:endParaRPr lang="en-US" sz="3200" dirty="0"/>
          </a:p>
        </p:txBody>
      </p:sp>
      <p:sp>
        <p:nvSpPr>
          <p:cNvPr id="12" name="Text 8"/>
          <p:cNvSpPr txBox="1"/>
          <p:nvPr/>
        </p:nvSpPr>
        <p:spPr>
          <a:xfrm>
            <a:off x="3200400" y="1463040"/>
            <a:ext cx="1371600" cy="274320"/>
          </a:xfrm>
          <a:prstGeom prst="rect">
            <a:avLst/>
          </a:prstGeom>
          <a:noFill/>
          <a:ln/>
        </p:spPr>
        <p:txBody>
          <a:bodyPr wrap="square" lIns="0" tIns="0" rIns="0" bIns="0" rtlCol="0" anchor="t"/>
          <a:lstStyle/>
          <a:p>
            <a:pPr indent="0" marL="0">
              <a:buNone/>
            </a:pPr>
            <a:r>
              <a:rPr lang="en-US" sz="1300" dirty="0">
                <a:solidFill>
                  <a:srgbClr val="A9B3C9"/>
                </a:solidFill>
                <a:latin typeface="Malgun Gothic" pitchFamily="34" charset="0"/>
                <a:ea typeface="Malgun Gothic" pitchFamily="34" charset="-122"/>
                <a:cs typeface="Malgun Gothic" pitchFamily="34" charset="-120"/>
              </a:rPr>
              <a:t>2026년</a:t>
            </a:r>
            <a:endParaRPr lang="en-US" sz="1300" dirty="0"/>
          </a:p>
        </p:txBody>
      </p:sp>
      <p:sp>
        <p:nvSpPr>
          <p:cNvPr id="13" name="Text 9"/>
          <p:cNvSpPr txBox="1"/>
          <p:nvPr/>
        </p:nvSpPr>
        <p:spPr>
          <a:xfrm>
            <a:off x="3200400" y="1737360"/>
            <a:ext cx="1828800" cy="1005840"/>
          </a:xfrm>
          <a:prstGeom prst="rect">
            <a:avLst/>
          </a:prstGeom>
          <a:noFill/>
          <a:ln/>
        </p:spPr>
        <p:txBody>
          <a:bodyPr wrap="square" lIns="0" tIns="0" rIns="0" bIns="0" rtlCol="0" anchor="ctr"/>
          <a:lstStyle/>
          <a:p>
            <a:pPr indent="0" marL="0">
              <a:buNone/>
            </a:pPr>
            <a:r>
              <a:rPr lang="en-US" sz="5400" b="1" dirty="0">
                <a:solidFill>
                  <a:srgbClr val="F3DCA4"/>
                </a:solidFill>
                <a:latin typeface="Malgun Gothic" pitchFamily="34" charset="0"/>
                <a:ea typeface="Malgun Gothic" pitchFamily="34" charset="-122"/>
                <a:cs typeface="Malgun Gothic" pitchFamily="34" charset="-120"/>
              </a:rPr>
              <a:t>22개</a:t>
            </a:r>
            <a:endParaRPr lang="en-US" sz="5400" dirty="0"/>
          </a:p>
        </p:txBody>
      </p:sp>
      <p:sp>
        <p:nvSpPr>
          <p:cNvPr id="14" name="Shape 10"/>
          <p:cNvSpPr/>
          <p:nvPr/>
        </p:nvSpPr>
        <p:spPr>
          <a:xfrm>
            <a:off x="5120640" y="1965960"/>
            <a:ext cx="1554480" cy="502920"/>
          </a:xfrm>
          <a:prstGeom prst="roundRect">
            <a:avLst>
              <a:gd name="adj" fmla="val 49091"/>
            </a:avLst>
          </a:prstGeom>
          <a:solidFill>
            <a:srgbClr val="D9B66F">
              <a:alpha val="25000"/>
            </a:srgbClr>
          </a:solidFill>
          <a:ln w="12700">
            <a:solidFill>
              <a:srgbClr val="D9B66F"/>
            </a:solidFill>
            <a:prstDash val="solid"/>
          </a:ln>
        </p:spPr>
        <p:txBody>
          <a:bodyPr/>
          <a:p/>
        </p:txBody>
      </p:sp>
      <p:sp>
        <p:nvSpPr>
          <p:cNvPr id="15" name="Text 11"/>
          <p:cNvSpPr txBox="1"/>
          <p:nvPr/>
        </p:nvSpPr>
        <p:spPr>
          <a:xfrm>
            <a:off x="5120640" y="1965960"/>
            <a:ext cx="1554480" cy="502920"/>
          </a:xfrm>
          <a:prstGeom prst="rect">
            <a:avLst/>
          </a:prstGeom>
          <a:noFill/>
          <a:ln/>
        </p:spPr>
        <p:txBody>
          <a:bodyPr wrap="square" lIns="0" tIns="0" rIns="0" bIns="0" rtlCol="0" anchor="ctr"/>
          <a:lstStyle/>
          <a:p>
            <a:pPr algn="ctr" indent="0" marL="0">
              <a:buNone/>
            </a:pPr>
            <a:r>
              <a:rPr lang="en-US" sz="1500" b="1" dirty="0">
                <a:solidFill>
                  <a:srgbClr val="F3DCA4"/>
                </a:solidFill>
                <a:latin typeface="Malgun Gothic" pitchFamily="34" charset="0"/>
                <a:ea typeface="Malgun Gothic" pitchFamily="34" charset="-122"/>
                <a:cs typeface="Malgun Gothic" pitchFamily="34" charset="-120"/>
              </a:rPr>
              <a:t>관리법인 +2</a:t>
            </a:r>
            <a:endParaRPr lang="en-US" sz="1500" dirty="0"/>
          </a:p>
        </p:txBody>
      </p:sp>
      <p:sp>
        <p:nvSpPr>
          <p:cNvPr id="16" name="Shape 12"/>
          <p:cNvSpPr/>
          <p:nvPr/>
        </p:nvSpPr>
        <p:spPr>
          <a:xfrm>
            <a:off x="7772400" y="1417320"/>
            <a:ext cx="548640" cy="548640"/>
          </a:xfrm>
          <a:prstGeom prst="ellipse">
            <a:avLst/>
          </a:prstGeom>
          <a:solidFill>
            <a:srgbClr val="D9B66F"/>
          </a:solidFill>
          <a:ln w="25400">
            <a:solidFill>
              <a:srgbClr val="0B1426"/>
            </a:solidFill>
            <a:prstDash val="solid"/>
          </a:ln>
        </p:spPr>
        <p:txBody>
          <a:bodyPr/>
          <a:p/>
        </p:txBody>
      </p:sp>
      <p:sp>
        <p:nvSpPr>
          <p:cNvPr id="17" name="Text 13"/>
          <p:cNvSpPr txBox="1"/>
          <p:nvPr/>
        </p:nvSpPr>
        <p:spPr>
          <a:xfrm>
            <a:off x="7772400" y="1417320"/>
            <a:ext cx="548640" cy="54864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1</a:t>
            </a:r>
            <a:endParaRPr lang="en-US" sz="1600" dirty="0"/>
          </a:p>
        </p:txBody>
      </p:sp>
      <p:sp>
        <p:nvSpPr>
          <p:cNvPr id="18" name="Text 14"/>
          <p:cNvSpPr txBox="1"/>
          <p:nvPr/>
        </p:nvSpPr>
        <p:spPr>
          <a:xfrm>
            <a:off x="7269480" y="2057400"/>
            <a:ext cx="1554480" cy="274320"/>
          </a:xfrm>
          <a:prstGeom prst="rect">
            <a:avLst/>
          </a:prstGeom>
          <a:noFill/>
          <a:ln/>
        </p:spPr>
        <p:txBody>
          <a:bodyPr wrap="square" lIns="0" tIns="0" rIns="0" bIns="0" rtlCol="0" anchor="t"/>
          <a:lstStyle/>
          <a:p>
            <a:pPr algn="ctr" indent="0" marL="0">
              <a:buNone/>
            </a:pPr>
            <a:r>
              <a:rPr lang="en-US" sz="1300" b="1" dirty="0">
                <a:solidFill>
                  <a:srgbClr val="F3DCA4"/>
                </a:solidFill>
                <a:latin typeface="Malgun Gothic" pitchFamily="34" charset="0"/>
                <a:ea typeface="Malgun Gothic" pitchFamily="34" charset="-122"/>
                <a:cs typeface="Malgun Gothic" pitchFamily="34" charset="-120"/>
              </a:rPr>
              <a:t>2026.01</a:t>
            </a:r>
            <a:endParaRPr lang="en-US" sz="1300" dirty="0"/>
          </a:p>
        </p:txBody>
      </p:sp>
      <p:sp>
        <p:nvSpPr>
          <p:cNvPr id="19" name="Text 15"/>
          <p:cNvSpPr txBox="1"/>
          <p:nvPr/>
        </p:nvSpPr>
        <p:spPr>
          <a:xfrm>
            <a:off x="7269480" y="2331720"/>
            <a:ext cx="1554480" cy="640080"/>
          </a:xfrm>
          <a:prstGeom prst="rect">
            <a:avLst/>
          </a:prstGeom>
          <a:noFill/>
          <a:ln/>
        </p:spPr>
        <p:txBody>
          <a:bodyPr wrap="square" lIns="0" tIns="0" rIns="0" bIns="0" rtlCol="0" anchor="t"/>
          <a:lstStyle/>
          <a:p>
            <a:pPr algn="ctr" indent="0" marL="0">
              <a:buNone/>
            </a:pPr>
            <a:r>
              <a:rPr lang="en-US" sz="1200" dirty="0">
                <a:solidFill>
                  <a:srgbClr val="F5F2EA"/>
                </a:solidFill>
                <a:latin typeface="Malgun Gothic" pitchFamily="34" charset="0"/>
                <a:ea typeface="Malgun Gothic" pitchFamily="34" charset="-122"/>
                <a:cs typeface="Malgun Gothic" pitchFamily="34" charset="-120"/>
              </a:rPr>
              <a:t>굿타이어㈜ 신규 설립</a:t>
            </a:r>
            <a:endParaRPr lang="en-US" sz="1200" dirty="0"/>
          </a:p>
        </p:txBody>
      </p:sp>
      <p:sp>
        <p:nvSpPr>
          <p:cNvPr id="20" name="Shape 16"/>
          <p:cNvSpPr/>
          <p:nvPr/>
        </p:nvSpPr>
        <p:spPr>
          <a:xfrm>
            <a:off x="9372600" y="1417320"/>
            <a:ext cx="548640" cy="548640"/>
          </a:xfrm>
          <a:prstGeom prst="ellipse">
            <a:avLst/>
          </a:prstGeom>
          <a:solidFill>
            <a:srgbClr val="D9B66F"/>
          </a:solidFill>
          <a:ln w="25400">
            <a:solidFill>
              <a:srgbClr val="0B1426"/>
            </a:solidFill>
            <a:prstDash val="solid"/>
          </a:ln>
        </p:spPr>
        <p:txBody>
          <a:bodyPr/>
          <a:p/>
        </p:txBody>
      </p:sp>
      <p:sp>
        <p:nvSpPr>
          <p:cNvPr id="21" name="Text 17"/>
          <p:cNvSpPr txBox="1"/>
          <p:nvPr/>
        </p:nvSpPr>
        <p:spPr>
          <a:xfrm>
            <a:off x="9372600" y="1417320"/>
            <a:ext cx="548640" cy="54864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4</a:t>
            </a:r>
            <a:endParaRPr lang="en-US" sz="1600" dirty="0"/>
          </a:p>
        </p:txBody>
      </p:sp>
      <p:sp>
        <p:nvSpPr>
          <p:cNvPr id="22" name="Text 18"/>
          <p:cNvSpPr txBox="1"/>
          <p:nvPr/>
        </p:nvSpPr>
        <p:spPr>
          <a:xfrm>
            <a:off x="8869680" y="2057400"/>
            <a:ext cx="1554480" cy="274320"/>
          </a:xfrm>
          <a:prstGeom prst="rect">
            <a:avLst/>
          </a:prstGeom>
          <a:noFill/>
          <a:ln/>
        </p:spPr>
        <p:txBody>
          <a:bodyPr wrap="square" lIns="0" tIns="0" rIns="0" bIns="0" rtlCol="0" anchor="t"/>
          <a:lstStyle/>
          <a:p>
            <a:pPr algn="ctr" indent="0" marL="0">
              <a:buNone/>
            </a:pPr>
            <a:r>
              <a:rPr lang="en-US" sz="1300" b="1" dirty="0">
                <a:solidFill>
                  <a:srgbClr val="F3DCA4"/>
                </a:solidFill>
                <a:latin typeface="Malgun Gothic" pitchFamily="34" charset="0"/>
                <a:ea typeface="Malgun Gothic" pitchFamily="34" charset="-122"/>
                <a:cs typeface="Malgun Gothic" pitchFamily="34" charset="-120"/>
              </a:rPr>
              <a:t>2026.04</a:t>
            </a:r>
            <a:endParaRPr lang="en-US" sz="1300" dirty="0"/>
          </a:p>
        </p:txBody>
      </p:sp>
      <p:sp>
        <p:nvSpPr>
          <p:cNvPr id="23" name="Text 19"/>
          <p:cNvSpPr txBox="1"/>
          <p:nvPr/>
        </p:nvSpPr>
        <p:spPr>
          <a:xfrm>
            <a:off x="8869680" y="2331720"/>
            <a:ext cx="1554480" cy="640080"/>
          </a:xfrm>
          <a:prstGeom prst="rect">
            <a:avLst/>
          </a:prstGeom>
          <a:noFill/>
          <a:ln/>
        </p:spPr>
        <p:txBody>
          <a:bodyPr wrap="square" lIns="0" tIns="0" rIns="0" bIns="0" rtlCol="0" anchor="t"/>
          <a:lstStyle/>
          <a:p>
            <a:pPr algn="ctr" indent="0" marL="0">
              <a:buNone/>
            </a:pPr>
            <a:r>
              <a:rPr lang="en-US" sz="1200" dirty="0">
                <a:solidFill>
                  <a:srgbClr val="F5F2EA"/>
                </a:solidFill>
                <a:latin typeface="Malgun Gothic" pitchFamily="34" charset="0"/>
                <a:ea typeface="Malgun Gothic" pitchFamily="34" charset="-122"/>
                <a:cs typeface="Malgun Gothic" pitchFamily="34" charset="-120"/>
              </a:rPr>
              <a:t>㈜파멥신 경영권 확보</a:t>
            </a:r>
            <a:endParaRPr lang="en-US" sz="1200" dirty="0"/>
          </a:p>
        </p:txBody>
      </p:sp>
      <p:sp>
        <p:nvSpPr>
          <p:cNvPr id="24" name="Shape 20"/>
          <p:cNvSpPr/>
          <p:nvPr/>
        </p:nvSpPr>
        <p:spPr>
          <a:xfrm>
            <a:off x="10972800" y="1417320"/>
            <a:ext cx="548640" cy="548640"/>
          </a:xfrm>
          <a:prstGeom prst="ellipse">
            <a:avLst/>
          </a:prstGeom>
          <a:solidFill>
            <a:srgbClr val="D9B66F"/>
          </a:solidFill>
          <a:ln w="25400">
            <a:solidFill>
              <a:srgbClr val="0B1426"/>
            </a:solidFill>
            <a:prstDash val="solid"/>
          </a:ln>
        </p:spPr>
        <p:txBody>
          <a:bodyPr/>
          <a:p/>
        </p:txBody>
      </p:sp>
      <p:sp>
        <p:nvSpPr>
          <p:cNvPr id="25" name="Text 21"/>
          <p:cNvSpPr txBox="1"/>
          <p:nvPr/>
        </p:nvSpPr>
        <p:spPr>
          <a:xfrm>
            <a:off x="10972800" y="1417320"/>
            <a:ext cx="548640" cy="54864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7</a:t>
            </a:r>
            <a:endParaRPr lang="en-US" sz="1600" dirty="0"/>
          </a:p>
        </p:txBody>
      </p:sp>
      <p:sp>
        <p:nvSpPr>
          <p:cNvPr id="26" name="Text 22"/>
          <p:cNvSpPr txBox="1"/>
          <p:nvPr/>
        </p:nvSpPr>
        <p:spPr>
          <a:xfrm>
            <a:off x="10469880" y="2057400"/>
            <a:ext cx="1554480" cy="274320"/>
          </a:xfrm>
          <a:prstGeom prst="rect">
            <a:avLst/>
          </a:prstGeom>
          <a:noFill/>
          <a:ln/>
        </p:spPr>
        <p:txBody>
          <a:bodyPr wrap="square" lIns="0" tIns="0" rIns="0" bIns="0" rtlCol="0" anchor="t"/>
          <a:lstStyle/>
          <a:p>
            <a:pPr algn="ctr" indent="0" marL="0">
              <a:buNone/>
            </a:pPr>
            <a:r>
              <a:rPr lang="en-US" sz="1300" b="1" dirty="0">
                <a:solidFill>
                  <a:srgbClr val="F3DCA4"/>
                </a:solidFill>
                <a:latin typeface="Malgun Gothic" pitchFamily="34" charset="0"/>
                <a:ea typeface="Malgun Gothic" pitchFamily="34" charset="-122"/>
                <a:cs typeface="Malgun Gothic" pitchFamily="34" charset="-120"/>
              </a:rPr>
              <a:t>2026.07</a:t>
            </a:r>
            <a:endParaRPr lang="en-US" sz="1300" dirty="0"/>
          </a:p>
        </p:txBody>
      </p:sp>
      <p:sp>
        <p:nvSpPr>
          <p:cNvPr id="27" name="Text 23"/>
          <p:cNvSpPr txBox="1"/>
          <p:nvPr/>
        </p:nvSpPr>
        <p:spPr>
          <a:xfrm>
            <a:off x="10469880" y="2331720"/>
            <a:ext cx="1554480" cy="640080"/>
          </a:xfrm>
          <a:prstGeom prst="rect">
            <a:avLst/>
          </a:prstGeom>
          <a:noFill/>
          <a:ln/>
        </p:spPr>
        <p:txBody>
          <a:bodyPr wrap="square" lIns="0" tIns="0" rIns="0" bIns="0" rtlCol="0" anchor="t"/>
          <a:lstStyle/>
          <a:p>
            <a:pPr algn="ctr" indent="0" marL="0">
              <a:buNone/>
            </a:pPr>
            <a:r>
              <a:rPr lang="en-US" sz="1200" dirty="0">
                <a:solidFill>
                  <a:srgbClr val="F5F2EA"/>
                </a:solidFill>
                <a:latin typeface="Malgun Gothic" pitchFamily="34" charset="0"/>
                <a:ea typeface="Malgun Gothic" pitchFamily="34" charset="-122"/>
                <a:cs typeface="Malgun Gothic" pitchFamily="34" charset="-120"/>
              </a:rPr>
              <a:t>심뱅스㈜ 경영권 확보</a:t>
            </a:r>
            <a:endParaRPr lang="en-US" sz="1200" dirty="0"/>
          </a:p>
        </p:txBody>
      </p:sp>
      <p:sp>
        <p:nvSpPr>
          <p:cNvPr id="28" name="Shape 24"/>
          <p:cNvSpPr/>
          <p:nvPr/>
        </p:nvSpPr>
        <p:spPr>
          <a:xfrm>
            <a:off x="8046720" y="1664208"/>
            <a:ext cx="3200400" cy="27432"/>
          </a:xfrm>
          <a:prstGeom prst="rect">
            <a:avLst/>
          </a:prstGeom>
          <a:solidFill>
            <a:srgbClr val="D9B66F"/>
          </a:solidFill>
          <a:ln w="12700">
            <a:solidFill>
              <a:srgbClr val="D9B66F"/>
            </a:solidFill>
            <a:prstDash val="solid"/>
          </a:ln>
        </p:spPr>
        <p:txBody>
          <a:bodyPr/>
          <a:p/>
        </p:txBody>
      </p:sp>
      <p:sp>
        <p:nvSpPr>
          <p:cNvPr id="29" name="Shape 25"/>
          <p:cNvSpPr/>
          <p:nvPr/>
        </p:nvSpPr>
        <p:spPr>
          <a:xfrm>
            <a:off x="548640" y="3246120"/>
            <a:ext cx="2670048" cy="420624"/>
          </a:xfrm>
          <a:prstGeom prst="roundRect">
            <a:avLst>
              <a:gd name="adj" fmla="val 15217"/>
            </a:avLst>
          </a:prstGeom>
          <a:solidFill>
            <a:srgbClr val="16233E"/>
          </a:solidFill>
          <a:ln w="9525">
            <a:solidFill>
              <a:srgbClr val="2C3E63"/>
            </a:solidFill>
            <a:prstDash val="solid"/>
          </a:ln>
        </p:spPr>
        <p:txBody>
          <a:bodyPr/>
          <a:p/>
        </p:txBody>
      </p:sp>
      <p:sp>
        <p:nvSpPr>
          <p:cNvPr id="30" name="Text 26"/>
          <p:cNvSpPr txBox="1"/>
          <p:nvPr/>
        </p:nvSpPr>
        <p:spPr>
          <a:xfrm>
            <a:off x="658368" y="324612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 </a:t>
            </a:r>
            <a:pPr indent="0" marL="0">
              <a:buNone/>
            </a:pPr>
            <a:r>
              <a:rPr lang="en-US" sz="1300" dirty="0">
                <a:solidFill>
                  <a:srgbClr val="F5F2EA"/>
                </a:solidFill>
                <a:latin typeface="Malgun Gothic" pitchFamily="34" charset="0"/>
                <a:ea typeface="Malgun Gothic" pitchFamily="34" charset="-122"/>
                <a:cs typeface="Malgun Gothic" pitchFamily="34" charset="-120"/>
              </a:rPr>
              <a:t>타이어뱅크㈜</a:t>
            </a:r>
            <a:endParaRPr lang="en-US" sz="1300" dirty="0"/>
          </a:p>
        </p:txBody>
      </p:sp>
      <p:sp>
        <p:nvSpPr>
          <p:cNvPr id="31" name="Shape 27"/>
          <p:cNvSpPr/>
          <p:nvPr/>
        </p:nvSpPr>
        <p:spPr>
          <a:xfrm>
            <a:off x="3355848" y="3246120"/>
            <a:ext cx="2670048" cy="420624"/>
          </a:xfrm>
          <a:prstGeom prst="roundRect">
            <a:avLst>
              <a:gd name="adj" fmla="val 15217"/>
            </a:avLst>
          </a:prstGeom>
          <a:solidFill>
            <a:srgbClr val="16233E"/>
          </a:solidFill>
          <a:ln w="9525">
            <a:solidFill>
              <a:srgbClr val="2C3E63"/>
            </a:solidFill>
            <a:prstDash val="solid"/>
          </a:ln>
        </p:spPr>
        <p:txBody>
          <a:bodyPr/>
          <a:p/>
        </p:txBody>
      </p:sp>
      <p:sp>
        <p:nvSpPr>
          <p:cNvPr id="32" name="Text 28"/>
          <p:cNvSpPr txBox="1"/>
          <p:nvPr/>
        </p:nvSpPr>
        <p:spPr>
          <a:xfrm>
            <a:off x="3465576" y="324612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2 </a:t>
            </a:r>
            <a:pPr indent="0" marL="0">
              <a:buNone/>
            </a:pPr>
            <a:r>
              <a:rPr lang="en-US" sz="1300" dirty="0">
                <a:solidFill>
                  <a:srgbClr val="F5F2EA"/>
                </a:solidFill>
                <a:latin typeface="Malgun Gothic" pitchFamily="34" charset="0"/>
                <a:ea typeface="Malgun Gothic" pitchFamily="34" charset="-122"/>
                <a:cs typeface="Malgun Gothic" pitchFamily="34" charset="-120"/>
              </a:rPr>
              <a:t>성공을만드는㈜</a:t>
            </a:r>
            <a:endParaRPr lang="en-US" sz="1300" dirty="0"/>
          </a:p>
        </p:txBody>
      </p:sp>
      <p:sp>
        <p:nvSpPr>
          <p:cNvPr id="33" name="Shape 29"/>
          <p:cNvSpPr/>
          <p:nvPr/>
        </p:nvSpPr>
        <p:spPr>
          <a:xfrm>
            <a:off x="6163056" y="3246120"/>
            <a:ext cx="2670048" cy="420624"/>
          </a:xfrm>
          <a:prstGeom prst="roundRect">
            <a:avLst>
              <a:gd name="adj" fmla="val 15217"/>
            </a:avLst>
          </a:prstGeom>
          <a:solidFill>
            <a:srgbClr val="16233E"/>
          </a:solidFill>
          <a:ln w="9525">
            <a:solidFill>
              <a:srgbClr val="2C3E63"/>
            </a:solidFill>
            <a:prstDash val="solid"/>
          </a:ln>
        </p:spPr>
        <p:txBody>
          <a:bodyPr/>
          <a:p/>
        </p:txBody>
      </p:sp>
      <p:sp>
        <p:nvSpPr>
          <p:cNvPr id="34" name="Text 30"/>
          <p:cNvSpPr txBox="1"/>
          <p:nvPr/>
        </p:nvSpPr>
        <p:spPr>
          <a:xfrm>
            <a:off x="6272784" y="324612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3 </a:t>
            </a:r>
            <a:pPr indent="0" marL="0">
              <a:buNone/>
            </a:pPr>
            <a:r>
              <a:rPr lang="en-US" sz="1300" dirty="0">
                <a:solidFill>
                  <a:srgbClr val="F5F2EA"/>
                </a:solidFill>
                <a:latin typeface="Malgun Gothic" pitchFamily="34" charset="0"/>
                <a:ea typeface="Malgun Gothic" pitchFamily="34" charset="-122"/>
                <a:cs typeface="Malgun Gothic" pitchFamily="34" charset="-120"/>
              </a:rPr>
              <a:t>재미슨㈜</a:t>
            </a:r>
            <a:endParaRPr lang="en-US" sz="1300" dirty="0"/>
          </a:p>
        </p:txBody>
      </p:sp>
      <p:sp>
        <p:nvSpPr>
          <p:cNvPr id="35" name="Shape 31"/>
          <p:cNvSpPr/>
          <p:nvPr/>
        </p:nvSpPr>
        <p:spPr>
          <a:xfrm>
            <a:off x="8970264" y="3246120"/>
            <a:ext cx="2670048" cy="420624"/>
          </a:xfrm>
          <a:prstGeom prst="roundRect">
            <a:avLst>
              <a:gd name="adj" fmla="val 15217"/>
            </a:avLst>
          </a:prstGeom>
          <a:solidFill>
            <a:srgbClr val="16233E"/>
          </a:solidFill>
          <a:ln w="9525">
            <a:solidFill>
              <a:srgbClr val="2C3E63"/>
            </a:solidFill>
            <a:prstDash val="solid"/>
          </a:ln>
        </p:spPr>
        <p:txBody>
          <a:bodyPr/>
          <a:p/>
        </p:txBody>
      </p:sp>
      <p:sp>
        <p:nvSpPr>
          <p:cNvPr id="36" name="Text 32"/>
          <p:cNvSpPr txBox="1"/>
          <p:nvPr/>
        </p:nvSpPr>
        <p:spPr>
          <a:xfrm>
            <a:off x="9079992" y="324612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4 </a:t>
            </a:r>
            <a:pPr indent="0" marL="0">
              <a:buNone/>
            </a:pPr>
            <a:r>
              <a:rPr lang="en-US" sz="1300" dirty="0">
                <a:solidFill>
                  <a:srgbClr val="F5F2EA"/>
                </a:solidFill>
                <a:latin typeface="Malgun Gothic" pitchFamily="34" charset="0"/>
                <a:ea typeface="Malgun Gothic" pitchFamily="34" charset="-122"/>
                <a:cs typeface="Malgun Gothic" pitchFamily="34" charset="-120"/>
              </a:rPr>
              <a:t>농업법인㈜풍년농사</a:t>
            </a:r>
            <a:endParaRPr lang="en-US" sz="1300" dirty="0"/>
          </a:p>
        </p:txBody>
      </p:sp>
      <p:sp>
        <p:nvSpPr>
          <p:cNvPr id="37" name="Shape 33"/>
          <p:cNvSpPr/>
          <p:nvPr/>
        </p:nvSpPr>
        <p:spPr>
          <a:xfrm>
            <a:off x="548640" y="3749040"/>
            <a:ext cx="2670048" cy="420624"/>
          </a:xfrm>
          <a:prstGeom prst="roundRect">
            <a:avLst>
              <a:gd name="adj" fmla="val 15217"/>
            </a:avLst>
          </a:prstGeom>
          <a:solidFill>
            <a:srgbClr val="16233E"/>
          </a:solidFill>
          <a:ln w="9525">
            <a:solidFill>
              <a:srgbClr val="2C3E63"/>
            </a:solidFill>
            <a:prstDash val="solid"/>
          </a:ln>
        </p:spPr>
        <p:txBody>
          <a:bodyPr/>
          <a:p/>
        </p:txBody>
      </p:sp>
      <p:sp>
        <p:nvSpPr>
          <p:cNvPr id="38" name="Text 34"/>
          <p:cNvSpPr txBox="1"/>
          <p:nvPr/>
        </p:nvSpPr>
        <p:spPr>
          <a:xfrm>
            <a:off x="658368" y="374904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5 </a:t>
            </a:r>
            <a:pPr indent="0" marL="0">
              <a:buNone/>
            </a:pPr>
            <a:r>
              <a:rPr lang="en-US" sz="1300" dirty="0">
                <a:solidFill>
                  <a:srgbClr val="F5F2EA"/>
                </a:solidFill>
                <a:latin typeface="Malgun Gothic" pitchFamily="34" charset="0"/>
                <a:ea typeface="Malgun Gothic" pitchFamily="34" charset="-122"/>
                <a:cs typeface="Malgun Gothic" pitchFamily="34" charset="-120"/>
              </a:rPr>
              <a:t>㈜최고좋은터 행복한집</a:t>
            </a:r>
            <a:endParaRPr lang="en-US" sz="1300" dirty="0"/>
          </a:p>
        </p:txBody>
      </p:sp>
      <p:sp>
        <p:nvSpPr>
          <p:cNvPr id="39" name="Shape 35"/>
          <p:cNvSpPr/>
          <p:nvPr/>
        </p:nvSpPr>
        <p:spPr>
          <a:xfrm>
            <a:off x="3355848" y="3749040"/>
            <a:ext cx="2670048" cy="420624"/>
          </a:xfrm>
          <a:prstGeom prst="roundRect">
            <a:avLst>
              <a:gd name="adj" fmla="val 15217"/>
            </a:avLst>
          </a:prstGeom>
          <a:solidFill>
            <a:srgbClr val="16233E"/>
          </a:solidFill>
          <a:ln w="9525">
            <a:solidFill>
              <a:srgbClr val="2C3E63"/>
            </a:solidFill>
            <a:prstDash val="solid"/>
          </a:ln>
        </p:spPr>
        <p:txBody>
          <a:bodyPr/>
          <a:p/>
        </p:txBody>
      </p:sp>
      <p:sp>
        <p:nvSpPr>
          <p:cNvPr id="40" name="Text 36"/>
          <p:cNvSpPr txBox="1"/>
          <p:nvPr/>
        </p:nvSpPr>
        <p:spPr>
          <a:xfrm>
            <a:off x="3465576" y="374904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6 </a:t>
            </a:r>
            <a:pPr indent="0" marL="0">
              <a:buNone/>
            </a:pPr>
            <a:r>
              <a:rPr lang="en-US" sz="1300" dirty="0">
                <a:solidFill>
                  <a:srgbClr val="F5F2EA"/>
                </a:solidFill>
                <a:latin typeface="Malgun Gothic" pitchFamily="34" charset="0"/>
                <a:ea typeface="Malgun Gothic" pitchFamily="34" charset="-122"/>
                <a:cs typeface="Malgun Gothic" pitchFamily="34" charset="-120"/>
              </a:rPr>
              <a:t>㈜AP홀딩스</a:t>
            </a:r>
            <a:endParaRPr lang="en-US" sz="1300" dirty="0"/>
          </a:p>
        </p:txBody>
      </p:sp>
      <p:sp>
        <p:nvSpPr>
          <p:cNvPr id="41" name="Shape 37"/>
          <p:cNvSpPr/>
          <p:nvPr/>
        </p:nvSpPr>
        <p:spPr>
          <a:xfrm>
            <a:off x="6163056" y="3749040"/>
            <a:ext cx="2670048" cy="420624"/>
          </a:xfrm>
          <a:prstGeom prst="roundRect">
            <a:avLst>
              <a:gd name="adj" fmla="val 15217"/>
            </a:avLst>
          </a:prstGeom>
          <a:solidFill>
            <a:srgbClr val="16233E"/>
          </a:solidFill>
          <a:ln w="9525">
            <a:solidFill>
              <a:srgbClr val="2C3E63"/>
            </a:solidFill>
            <a:prstDash val="solid"/>
          </a:ln>
        </p:spPr>
        <p:txBody>
          <a:bodyPr/>
          <a:p/>
        </p:txBody>
      </p:sp>
      <p:sp>
        <p:nvSpPr>
          <p:cNvPr id="42" name="Text 38"/>
          <p:cNvSpPr txBox="1"/>
          <p:nvPr/>
        </p:nvSpPr>
        <p:spPr>
          <a:xfrm>
            <a:off x="6272784" y="374904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7 </a:t>
            </a:r>
            <a:pPr indent="0" marL="0">
              <a:buNone/>
            </a:pPr>
            <a:r>
              <a:rPr lang="en-US" sz="1300" dirty="0">
                <a:solidFill>
                  <a:srgbClr val="F5F2EA"/>
                </a:solidFill>
                <a:latin typeface="Malgun Gothic" pitchFamily="34" charset="0"/>
                <a:ea typeface="Malgun Gothic" pitchFamily="34" charset="-122"/>
                <a:cs typeface="Malgun Gothic" pitchFamily="34" charset="-120"/>
              </a:rPr>
              <a:t>성공㈜</a:t>
            </a:r>
            <a:endParaRPr lang="en-US" sz="1300" dirty="0"/>
          </a:p>
        </p:txBody>
      </p:sp>
      <p:sp>
        <p:nvSpPr>
          <p:cNvPr id="43" name="Shape 39"/>
          <p:cNvSpPr/>
          <p:nvPr/>
        </p:nvSpPr>
        <p:spPr>
          <a:xfrm>
            <a:off x="8970264" y="3749040"/>
            <a:ext cx="2670048" cy="420624"/>
          </a:xfrm>
          <a:prstGeom prst="roundRect">
            <a:avLst>
              <a:gd name="adj" fmla="val 15217"/>
            </a:avLst>
          </a:prstGeom>
          <a:solidFill>
            <a:srgbClr val="16233E"/>
          </a:solidFill>
          <a:ln w="9525">
            <a:solidFill>
              <a:srgbClr val="2C3E63"/>
            </a:solidFill>
            <a:prstDash val="solid"/>
          </a:ln>
        </p:spPr>
        <p:txBody>
          <a:bodyPr/>
          <a:p/>
        </p:txBody>
      </p:sp>
      <p:sp>
        <p:nvSpPr>
          <p:cNvPr id="44" name="Text 40"/>
          <p:cNvSpPr txBox="1"/>
          <p:nvPr/>
        </p:nvSpPr>
        <p:spPr>
          <a:xfrm>
            <a:off x="9079992" y="374904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8 </a:t>
            </a:r>
            <a:pPr indent="0" marL="0">
              <a:buNone/>
            </a:pPr>
            <a:r>
              <a:rPr lang="en-US" sz="1300" dirty="0">
                <a:solidFill>
                  <a:srgbClr val="F5F2EA"/>
                </a:solidFill>
                <a:latin typeface="Malgun Gothic" pitchFamily="34" charset="0"/>
                <a:ea typeface="Malgun Gothic" pitchFamily="34" charset="-122"/>
                <a:cs typeface="Malgun Gothic" pitchFamily="34" charset="-120"/>
              </a:rPr>
              <a:t>건물코디뱅크㈜</a:t>
            </a:r>
            <a:endParaRPr lang="en-US" sz="1300" dirty="0"/>
          </a:p>
        </p:txBody>
      </p:sp>
      <p:sp>
        <p:nvSpPr>
          <p:cNvPr id="45" name="Shape 41"/>
          <p:cNvSpPr/>
          <p:nvPr/>
        </p:nvSpPr>
        <p:spPr>
          <a:xfrm>
            <a:off x="548640" y="4251960"/>
            <a:ext cx="2670048" cy="420624"/>
          </a:xfrm>
          <a:prstGeom prst="roundRect">
            <a:avLst>
              <a:gd name="adj" fmla="val 15217"/>
            </a:avLst>
          </a:prstGeom>
          <a:solidFill>
            <a:srgbClr val="16233E"/>
          </a:solidFill>
          <a:ln w="9525">
            <a:solidFill>
              <a:srgbClr val="2C3E63"/>
            </a:solidFill>
            <a:prstDash val="solid"/>
          </a:ln>
        </p:spPr>
        <p:txBody>
          <a:bodyPr/>
          <a:p/>
        </p:txBody>
      </p:sp>
      <p:sp>
        <p:nvSpPr>
          <p:cNvPr id="46" name="Text 42"/>
          <p:cNvSpPr txBox="1"/>
          <p:nvPr/>
        </p:nvSpPr>
        <p:spPr>
          <a:xfrm>
            <a:off x="658368" y="425196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9 </a:t>
            </a:r>
            <a:pPr indent="0" marL="0">
              <a:buNone/>
            </a:pPr>
            <a:r>
              <a:rPr lang="en-US" sz="1300" dirty="0">
                <a:solidFill>
                  <a:srgbClr val="F5F2EA"/>
                </a:solidFill>
                <a:latin typeface="Malgun Gothic" pitchFamily="34" charset="0"/>
                <a:ea typeface="Malgun Gothic" pitchFamily="34" charset="-122"/>
                <a:cs typeface="Malgun Gothic" pitchFamily="34" charset="-120"/>
              </a:rPr>
              <a:t>파이프뱅크</a:t>
            </a:r>
            <a:endParaRPr lang="en-US" sz="1300" dirty="0"/>
          </a:p>
        </p:txBody>
      </p:sp>
      <p:sp>
        <p:nvSpPr>
          <p:cNvPr id="47" name="Shape 43"/>
          <p:cNvSpPr/>
          <p:nvPr/>
        </p:nvSpPr>
        <p:spPr>
          <a:xfrm>
            <a:off x="3355848" y="4251960"/>
            <a:ext cx="2670048" cy="420624"/>
          </a:xfrm>
          <a:prstGeom prst="roundRect">
            <a:avLst>
              <a:gd name="adj" fmla="val 15217"/>
            </a:avLst>
          </a:prstGeom>
          <a:solidFill>
            <a:srgbClr val="16233E"/>
          </a:solidFill>
          <a:ln w="9525">
            <a:solidFill>
              <a:srgbClr val="2C3E63"/>
            </a:solidFill>
            <a:prstDash val="solid"/>
          </a:ln>
        </p:spPr>
        <p:txBody>
          <a:bodyPr/>
          <a:p/>
        </p:txBody>
      </p:sp>
      <p:sp>
        <p:nvSpPr>
          <p:cNvPr id="48" name="Text 44"/>
          <p:cNvSpPr txBox="1"/>
          <p:nvPr/>
        </p:nvSpPr>
        <p:spPr>
          <a:xfrm>
            <a:off x="3465576" y="425196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10 </a:t>
            </a:r>
            <a:pPr indent="0" marL="0">
              <a:buNone/>
            </a:pPr>
            <a:r>
              <a:rPr lang="en-US" sz="1300" dirty="0">
                <a:solidFill>
                  <a:srgbClr val="F5F2EA"/>
                </a:solidFill>
                <a:latin typeface="Malgun Gothic" pitchFamily="34" charset="0"/>
                <a:ea typeface="Malgun Gothic" pitchFamily="34" charset="-122"/>
                <a:cs typeface="Malgun Gothic" pitchFamily="34" charset="-120"/>
              </a:rPr>
              <a:t>선농종합식품㈜</a:t>
            </a:r>
            <a:endParaRPr lang="en-US" sz="1300" dirty="0"/>
          </a:p>
        </p:txBody>
      </p:sp>
      <p:sp>
        <p:nvSpPr>
          <p:cNvPr id="49" name="Shape 45"/>
          <p:cNvSpPr/>
          <p:nvPr/>
        </p:nvSpPr>
        <p:spPr>
          <a:xfrm>
            <a:off x="6163056" y="4251960"/>
            <a:ext cx="2670048" cy="420624"/>
          </a:xfrm>
          <a:prstGeom prst="roundRect">
            <a:avLst>
              <a:gd name="adj" fmla="val 15217"/>
            </a:avLst>
          </a:prstGeom>
          <a:solidFill>
            <a:srgbClr val="16233E"/>
          </a:solidFill>
          <a:ln w="9525">
            <a:solidFill>
              <a:srgbClr val="2C3E63"/>
            </a:solidFill>
            <a:prstDash val="solid"/>
          </a:ln>
        </p:spPr>
        <p:txBody>
          <a:bodyPr/>
          <a:p/>
        </p:txBody>
      </p:sp>
      <p:sp>
        <p:nvSpPr>
          <p:cNvPr id="50" name="Text 46"/>
          <p:cNvSpPr txBox="1"/>
          <p:nvPr/>
        </p:nvSpPr>
        <p:spPr>
          <a:xfrm>
            <a:off x="6272784" y="425196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11 </a:t>
            </a:r>
            <a:pPr indent="0" marL="0">
              <a:buNone/>
            </a:pPr>
            <a:r>
              <a:rPr lang="en-US" sz="1300" dirty="0">
                <a:solidFill>
                  <a:srgbClr val="F5F2EA"/>
                </a:solidFill>
                <a:latin typeface="Malgun Gothic" pitchFamily="34" charset="0"/>
                <a:ea typeface="Malgun Gothic" pitchFamily="34" charset="-122"/>
                <a:cs typeface="Malgun Gothic" pitchFamily="34" charset="-120"/>
              </a:rPr>
              <a:t>㈜파멥신</a:t>
            </a:r>
            <a:endParaRPr lang="en-US" sz="1300" dirty="0"/>
          </a:p>
        </p:txBody>
      </p:sp>
      <p:sp>
        <p:nvSpPr>
          <p:cNvPr id="51" name="Shape 47"/>
          <p:cNvSpPr/>
          <p:nvPr/>
        </p:nvSpPr>
        <p:spPr>
          <a:xfrm>
            <a:off x="8970264" y="4251960"/>
            <a:ext cx="2670048" cy="420624"/>
          </a:xfrm>
          <a:prstGeom prst="roundRect">
            <a:avLst>
              <a:gd name="adj" fmla="val 15217"/>
            </a:avLst>
          </a:prstGeom>
          <a:solidFill>
            <a:srgbClr val="16233E"/>
          </a:solidFill>
          <a:ln w="9525">
            <a:solidFill>
              <a:srgbClr val="2C3E63"/>
            </a:solidFill>
            <a:prstDash val="solid"/>
          </a:ln>
        </p:spPr>
        <p:txBody>
          <a:bodyPr/>
          <a:p/>
        </p:txBody>
      </p:sp>
      <p:sp>
        <p:nvSpPr>
          <p:cNvPr id="52" name="Text 48"/>
          <p:cNvSpPr txBox="1"/>
          <p:nvPr/>
        </p:nvSpPr>
        <p:spPr>
          <a:xfrm>
            <a:off x="9079992" y="425196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12 </a:t>
            </a:r>
            <a:pPr indent="0" marL="0">
              <a:buNone/>
            </a:pPr>
            <a:r>
              <a:rPr lang="en-US" sz="1300" dirty="0">
                <a:solidFill>
                  <a:srgbClr val="F5F2EA"/>
                </a:solidFill>
                <a:latin typeface="Malgun Gothic" pitchFamily="34" charset="0"/>
                <a:ea typeface="Malgun Gothic" pitchFamily="34" charset="-122"/>
                <a:cs typeface="Malgun Gothic" pitchFamily="34" charset="-120"/>
              </a:rPr>
              <a:t>에어프레미아㈜</a:t>
            </a:r>
            <a:endParaRPr lang="en-US" sz="1300" dirty="0"/>
          </a:p>
        </p:txBody>
      </p:sp>
      <p:sp>
        <p:nvSpPr>
          <p:cNvPr id="53" name="Shape 49"/>
          <p:cNvSpPr/>
          <p:nvPr/>
        </p:nvSpPr>
        <p:spPr>
          <a:xfrm>
            <a:off x="548640" y="4754880"/>
            <a:ext cx="2670048" cy="420624"/>
          </a:xfrm>
          <a:prstGeom prst="roundRect">
            <a:avLst>
              <a:gd name="adj" fmla="val 15217"/>
            </a:avLst>
          </a:prstGeom>
          <a:solidFill>
            <a:srgbClr val="16233E"/>
          </a:solidFill>
          <a:ln w="9525">
            <a:solidFill>
              <a:srgbClr val="2C3E63"/>
            </a:solidFill>
            <a:prstDash val="solid"/>
          </a:ln>
        </p:spPr>
        <p:txBody>
          <a:bodyPr/>
          <a:p/>
        </p:txBody>
      </p:sp>
      <p:sp>
        <p:nvSpPr>
          <p:cNvPr id="54" name="Text 50"/>
          <p:cNvSpPr txBox="1"/>
          <p:nvPr/>
        </p:nvSpPr>
        <p:spPr>
          <a:xfrm>
            <a:off x="658368" y="475488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13 </a:t>
            </a:r>
            <a:pPr indent="0" marL="0">
              <a:buNone/>
            </a:pPr>
            <a:r>
              <a:rPr lang="en-US" sz="1300" dirty="0">
                <a:solidFill>
                  <a:srgbClr val="F5F2EA"/>
                </a:solidFill>
                <a:latin typeface="Malgun Gothic" pitchFamily="34" charset="0"/>
                <a:ea typeface="Malgun Gothic" pitchFamily="34" charset="-122"/>
                <a:cs typeface="Malgun Gothic" pitchFamily="34" charset="-120"/>
              </a:rPr>
              <a:t>㈜폴리텍</a:t>
            </a:r>
            <a:endParaRPr lang="en-US" sz="1300" dirty="0"/>
          </a:p>
        </p:txBody>
      </p:sp>
      <p:sp>
        <p:nvSpPr>
          <p:cNvPr id="55" name="Shape 51"/>
          <p:cNvSpPr/>
          <p:nvPr/>
        </p:nvSpPr>
        <p:spPr>
          <a:xfrm>
            <a:off x="3355848" y="4754880"/>
            <a:ext cx="2670048" cy="420624"/>
          </a:xfrm>
          <a:prstGeom prst="roundRect">
            <a:avLst>
              <a:gd name="adj" fmla="val 15217"/>
            </a:avLst>
          </a:prstGeom>
          <a:solidFill>
            <a:srgbClr val="16233E"/>
          </a:solidFill>
          <a:ln w="9525">
            <a:solidFill>
              <a:srgbClr val="2C3E63"/>
            </a:solidFill>
            <a:prstDash val="solid"/>
          </a:ln>
        </p:spPr>
        <p:txBody>
          <a:bodyPr/>
          <a:p/>
        </p:txBody>
      </p:sp>
      <p:sp>
        <p:nvSpPr>
          <p:cNvPr id="56" name="Text 52"/>
          <p:cNvSpPr txBox="1"/>
          <p:nvPr/>
        </p:nvSpPr>
        <p:spPr>
          <a:xfrm>
            <a:off x="3465576" y="475488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14 </a:t>
            </a:r>
            <a:pPr indent="0" marL="0">
              <a:buNone/>
            </a:pPr>
            <a:r>
              <a:rPr lang="en-US" sz="1300" dirty="0">
                <a:solidFill>
                  <a:srgbClr val="F5F2EA"/>
                </a:solidFill>
                <a:latin typeface="Malgun Gothic" pitchFamily="34" charset="0"/>
                <a:ea typeface="Malgun Gothic" pitchFamily="34" charset="-122"/>
                <a:cs typeface="Malgun Gothic" pitchFamily="34" charset="-120"/>
              </a:rPr>
              <a:t>㈜영종도</a:t>
            </a:r>
            <a:endParaRPr lang="en-US" sz="1300" dirty="0"/>
          </a:p>
        </p:txBody>
      </p:sp>
      <p:sp>
        <p:nvSpPr>
          <p:cNvPr id="57" name="Shape 53"/>
          <p:cNvSpPr/>
          <p:nvPr/>
        </p:nvSpPr>
        <p:spPr>
          <a:xfrm>
            <a:off x="6163056" y="4754880"/>
            <a:ext cx="2670048" cy="420624"/>
          </a:xfrm>
          <a:prstGeom prst="roundRect">
            <a:avLst>
              <a:gd name="adj" fmla="val 15217"/>
            </a:avLst>
          </a:prstGeom>
          <a:solidFill>
            <a:srgbClr val="16233E"/>
          </a:solidFill>
          <a:ln w="9525">
            <a:solidFill>
              <a:srgbClr val="2C3E63"/>
            </a:solidFill>
            <a:prstDash val="solid"/>
          </a:ln>
        </p:spPr>
        <p:txBody>
          <a:bodyPr/>
          <a:p/>
        </p:txBody>
      </p:sp>
      <p:sp>
        <p:nvSpPr>
          <p:cNvPr id="58" name="Text 54"/>
          <p:cNvSpPr txBox="1"/>
          <p:nvPr/>
        </p:nvSpPr>
        <p:spPr>
          <a:xfrm>
            <a:off x="6272784" y="475488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15 </a:t>
            </a:r>
            <a:pPr indent="0" marL="0">
              <a:buNone/>
            </a:pPr>
            <a:r>
              <a:rPr lang="en-US" sz="1300" dirty="0">
                <a:solidFill>
                  <a:srgbClr val="F5F2EA"/>
                </a:solidFill>
                <a:latin typeface="Malgun Gothic" pitchFamily="34" charset="0"/>
                <a:ea typeface="Malgun Gothic" pitchFamily="34" charset="-122"/>
                <a:cs typeface="Malgun Gothic" pitchFamily="34" charset="-120"/>
              </a:rPr>
              <a:t>농업법인㈜좋은농사</a:t>
            </a:r>
            <a:endParaRPr lang="en-US" sz="1300" dirty="0"/>
          </a:p>
        </p:txBody>
      </p:sp>
      <p:sp>
        <p:nvSpPr>
          <p:cNvPr id="59" name="Shape 55"/>
          <p:cNvSpPr/>
          <p:nvPr/>
        </p:nvSpPr>
        <p:spPr>
          <a:xfrm>
            <a:off x="8970264" y="4754880"/>
            <a:ext cx="2670048" cy="420624"/>
          </a:xfrm>
          <a:prstGeom prst="roundRect">
            <a:avLst>
              <a:gd name="adj" fmla="val 15217"/>
            </a:avLst>
          </a:prstGeom>
          <a:solidFill>
            <a:srgbClr val="16233E"/>
          </a:solidFill>
          <a:ln w="9525">
            <a:solidFill>
              <a:srgbClr val="2C3E63"/>
            </a:solidFill>
            <a:prstDash val="solid"/>
          </a:ln>
        </p:spPr>
        <p:txBody>
          <a:bodyPr/>
          <a:p/>
        </p:txBody>
      </p:sp>
      <p:sp>
        <p:nvSpPr>
          <p:cNvPr id="60" name="Text 56"/>
          <p:cNvSpPr txBox="1"/>
          <p:nvPr/>
        </p:nvSpPr>
        <p:spPr>
          <a:xfrm>
            <a:off x="9079992" y="475488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16 </a:t>
            </a:r>
            <a:pPr indent="0" marL="0">
              <a:buNone/>
            </a:pPr>
            <a:r>
              <a:rPr lang="en-US" sz="1300" dirty="0">
                <a:solidFill>
                  <a:srgbClr val="F5F2EA"/>
                </a:solidFill>
                <a:latin typeface="Malgun Gothic" pitchFamily="34" charset="0"/>
                <a:ea typeface="Malgun Gothic" pitchFamily="34" charset="-122"/>
                <a:cs typeface="Malgun Gothic" pitchFamily="34" charset="-120"/>
              </a:rPr>
              <a:t>재단법인 성공사</a:t>
            </a:r>
            <a:endParaRPr lang="en-US" sz="1300" dirty="0"/>
          </a:p>
        </p:txBody>
      </p:sp>
      <p:sp>
        <p:nvSpPr>
          <p:cNvPr id="61" name="Shape 57"/>
          <p:cNvSpPr/>
          <p:nvPr/>
        </p:nvSpPr>
        <p:spPr>
          <a:xfrm>
            <a:off x="548640" y="5257800"/>
            <a:ext cx="2670048" cy="420624"/>
          </a:xfrm>
          <a:prstGeom prst="roundRect">
            <a:avLst>
              <a:gd name="adj" fmla="val 15217"/>
            </a:avLst>
          </a:prstGeom>
          <a:solidFill>
            <a:srgbClr val="16233E"/>
          </a:solidFill>
          <a:ln w="9525">
            <a:solidFill>
              <a:srgbClr val="2C3E63"/>
            </a:solidFill>
            <a:prstDash val="solid"/>
          </a:ln>
        </p:spPr>
        <p:txBody>
          <a:bodyPr/>
          <a:p/>
        </p:txBody>
      </p:sp>
      <p:sp>
        <p:nvSpPr>
          <p:cNvPr id="62" name="Text 58"/>
          <p:cNvSpPr txBox="1"/>
          <p:nvPr/>
        </p:nvSpPr>
        <p:spPr>
          <a:xfrm>
            <a:off x="658368" y="525780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17 </a:t>
            </a:r>
            <a:pPr indent="0" marL="0">
              <a:buNone/>
            </a:pPr>
            <a:r>
              <a:rPr lang="en-US" sz="1300" dirty="0">
                <a:solidFill>
                  <a:srgbClr val="F5F2EA"/>
                </a:solidFill>
                <a:latin typeface="Malgun Gothic" pitchFamily="34" charset="0"/>
                <a:ea typeface="Malgun Gothic" pitchFamily="34" charset="-122"/>
                <a:cs typeface="Malgun Gothic" pitchFamily="34" charset="-120"/>
              </a:rPr>
              <a:t>성공정보통신㈜</a:t>
            </a:r>
            <a:endParaRPr lang="en-US" sz="1300" dirty="0"/>
          </a:p>
        </p:txBody>
      </p:sp>
      <p:sp>
        <p:nvSpPr>
          <p:cNvPr id="63" name="Shape 59"/>
          <p:cNvSpPr/>
          <p:nvPr/>
        </p:nvSpPr>
        <p:spPr>
          <a:xfrm>
            <a:off x="3355848" y="5257800"/>
            <a:ext cx="2670048" cy="420624"/>
          </a:xfrm>
          <a:prstGeom prst="roundRect">
            <a:avLst>
              <a:gd name="adj" fmla="val 15217"/>
            </a:avLst>
          </a:prstGeom>
          <a:solidFill>
            <a:srgbClr val="16233E"/>
          </a:solidFill>
          <a:ln w="9525">
            <a:solidFill>
              <a:srgbClr val="2C3E63"/>
            </a:solidFill>
            <a:prstDash val="solid"/>
          </a:ln>
        </p:spPr>
        <p:txBody>
          <a:bodyPr/>
          <a:p/>
        </p:txBody>
      </p:sp>
      <p:sp>
        <p:nvSpPr>
          <p:cNvPr id="64" name="Text 60"/>
          <p:cNvSpPr txBox="1"/>
          <p:nvPr/>
        </p:nvSpPr>
        <p:spPr>
          <a:xfrm>
            <a:off x="3465576" y="525780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18 </a:t>
            </a:r>
            <a:pPr indent="0" marL="0">
              <a:buNone/>
            </a:pPr>
            <a:r>
              <a:rPr lang="en-US" sz="1300" dirty="0">
                <a:solidFill>
                  <a:srgbClr val="F5F2EA"/>
                </a:solidFill>
                <a:latin typeface="Malgun Gothic" pitchFamily="34" charset="0"/>
                <a:ea typeface="Malgun Gothic" pitchFamily="34" charset="-122"/>
                <a:cs typeface="Malgun Gothic" pitchFamily="34" charset="-120"/>
              </a:rPr>
              <a:t>좋은타이어㈜</a:t>
            </a:r>
            <a:endParaRPr lang="en-US" sz="1300" dirty="0"/>
          </a:p>
        </p:txBody>
      </p:sp>
      <p:sp>
        <p:nvSpPr>
          <p:cNvPr id="65" name="Shape 61"/>
          <p:cNvSpPr/>
          <p:nvPr/>
        </p:nvSpPr>
        <p:spPr>
          <a:xfrm>
            <a:off x="6163056" y="5257800"/>
            <a:ext cx="2670048" cy="420624"/>
          </a:xfrm>
          <a:prstGeom prst="roundRect">
            <a:avLst>
              <a:gd name="adj" fmla="val 15217"/>
            </a:avLst>
          </a:prstGeom>
          <a:solidFill>
            <a:srgbClr val="16233E"/>
          </a:solidFill>
          <a:ln w="9525">
            <a:solidFill>
              <a:srgbClr val="2C3E63"/>
            </a:solidFill>
            <a:prstDash val="solid"/>
          </a:ln>
        </p:spPr>
        <p:txBody>
          <a:bodyPr/>
          <a:p/>
        </p:txBody>
      </p:sp>
      <p:sp>
        <p:nvSpPr>
          <p:cNvPr id="66" name="Text 62"/>
          <p:cNvSpPr txBox="1"/>
          <p:nvPr/>
        </p:nvSpPr>
        <p:spPr>
          <a:xfrm>
            <a:off x="6272784" y="525780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19 </a:t>
            </a:r>
            <a:pPr indent="0" marL="0">
              <a:buNone/>
            </a:pPr>
            <a:r>
              <a:rPr lang="en-US" sz="1300" dirty="0">
                <a:solidFill>
                  <a:srgbClr val="F5F2EA"/>
                </a:solidFill>
                <a:latin typeface="Malgun Gothic" pitchFamily="34" charset="0"/>
                <a:ea typeface="Malgun Gothic" pitchFamily="34" charset="-122"/>
                <a:cs typeface="Malgun Gothic" pitchFamily="34" charset="-120"/>
              </a:rPr>
              <a:t>㈜원풍약품상사</a:t>
            </a:r>
            <a:endParaRPr lang="en-US" sz="1300" dirty="0"/>
          </a:p>
        </p:txBody>
      </p:sp>
      <p:sp>
        <p:nvSpPr>
          <p:cNvPr id="67" name="Shape 63"/>
          <p:cNvSpPr/>
          <p:nvPr/>
        </p:nvSpPr>
        <p:spPr>
          <a:xfrm>
            <a:off x="8970264" y="5257800"/>
            <a:ext cx="2670048" cy="420624"/>
          </a:xfrm>
          <a:prstGeom prst="roundRect">
            <a:avLst>
              <a:gd name="adj" fmla="val 15217"/>
            </a:avLst>
          </a:prstGeom>
          <a:solidFill>
            <a:srgbClr val="16233E"/>
          </a:solidFill>
          <a:ln w="9525">
            <a:solidFill>
              <a:srgbClr val="2C3E63"/>
            </a:solidFill>
            <a:prstDash val="solid"/>
          </a:ln>
        </p:spPr>
        <p:txBody>
          <a:bodyPr/>
          <a:p/>
        </p:txBody>
      </p:sp>
      <p:sp>
        <p:nvSpPr>
          <p:cNvPr id="68" name="Text 64"/>
          <p:cNvSpPr txBox="1"/>
          <p:nvPr/>
        </p:nvSpPr>
        <p:spPr>
          <a:xfrm>
            <a:off x="9079992" y="5257800"/>
            <a:ext cx="2514600" cy="420624"/>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20 </a:t>
            </a:r>
            <a:pPr indent="0" marL="0">
              <a:buNone/>
            </a:pPr>
            <a:r>
              <a:rPr lang="en-US" sz="1300" dirty="0">
                <a:solidFill>
                  <a:srgbClr val="F5F2EA"/>
                </a:solidFill>
                <a:latin typeface="Malgun Gothic" pitchFamily="34" charset="0"/>
                <a:ea typeface="Malgun Gothic" pitchFamily="34" charset="-122"/>
                <a:cs typeface="Malgun Gothic" pitchFamily="34" charset="-120"/>
              </a:rPr>
              <a:t>㈜AP랩스</a:t>
            </a:r>
            <a:endParaRPr lang="en-US" sz="1300" dirty="0"/>
          </a:p>
        </p:txBody>
      </p:sp>
      <p:sp>
        <p:nvSpPr>
          <p:cNvPr id="69" name="Shape 65"/>
          <p:cNvSpPr/>
          <p:nvPr/>
        </p:nvSpPr>
        <p:spPr>
          <a:xfrm>
            <a:off x="548640" y="5760720"/>
            <a:ext cx="2670048" cy="420624"/>
          </a:xfrm>
          <a:prstGeom prst="roundRect">
            <a:avLst>
              <a:gd name="adj" fmla="val 15217"/>
            </a:avLst>
          </a:prstGeom>
          <a:solidFill>
            <a:srgbClr val="4A1F2E"/>
          </a:solidFill>
          <a:ln w="9525">
            <a:solidFill>
              <a:srgbClr val="FF6B73"/>
            </a:solidFill>
            <a:prstDash val="solid"/>
          </a:ln>
        </p:spPr>
        <p:txBody>
          <a:bodyPr/>
          <a:p/>
        </p:txBody>
      </p:sp>
      <p:sp>
        <p:nvSpPr>
          <p:cNvPr id="70" name="Text 66"/>
          <p:cNvSpPr txBox="1"/>
          <p:nvPr/>
        </p:nvSpPr>
        <p:spPr>
          <a:xfrm>
            <a:off x="658368" y="5760720"/>
            <a:ext cx="2514600" cy="420624"/>
          </a:xfrm>
          <a:prstGeom prst="rect">
            <a:avLst/>
          </a:prstGeom>
          <a:noFill/>
          <a:ln/>
        </p:spPr>
        <p:txBody>
          <a:bodyPr wrap="square" lIns="0" tIns="0" rIns="0" bIns="0" rtlCol="0" anchor="ctr"/>
          <a:lstStyle/>
          <a:p>
            <a:pPr indent="0" marL="0">
              <a:buNone/>
            </a:pPr>
            <a:r>
              <a:rPr lang="en-US" sz="1300" b="1" dirty="0">
                <a:solidFill>
                  <a:srgbClr val="FF6B73"/>
                </a:solidFill>
                <a:latin typeface="Malgun Gothic" pitchFamily="34" charset="0"/>
                <a:ea typeface="Malgun Gothic" pitchFamily="34" charset="-122"/>
                <a:cs typeface="Malgun Gothic" pitchFamily="34" charset="-120"/>
              </a:rPr>
              <a:t>21 </a:t>
            </a:r>
            <a:pPr indent="0" marL="0">
              <a:buNone/>
            </a:pPr>
            <a:r>
              <a:rPr lang="en-US" sz="1300" b="1" dirty="0">
                <a:solidFill>
                  <a:srgbClr val="F5F2EA"/>
                </a:solidFill>
                <a:latin typeface="Malgun Gothic" pitchFamily="34" charset="0"/>
                <a:ea typeface="Malgun Gothic" pitchFamily="34" charset="-122"/>
                <a:cs typeface="Malgun Gothic" pitchFamily="34" charset="-120"/>
              </a:rPr>
              <a:t>굿타이어㈜  NEW</a:t>
            </a:r>
            <a:endParaRPr lang="en-US" sz="1300" dirty="0"/>
          </a:p>
        </p:txBody>
      </p:sp>
      <p:sp>
        <p:nvSpPr>
          <p:cNvPr id="71" name="Shape 67"/>
          <p:cNvSpPr/>
          <p:nvPr/>
        </p:nvSpPr>
        <p:spPr>
          <a:xfrm>
            <a:off x="3355848" y="5760720"/>
            <a:ext cx="2670048" cy="420624"/>
          </a:xfrm>
          <a:prstGeom prst="roundRect">
            <a:avLst>
              <a:gd name="adj" fmla="val 15217"/>
            </a:avLst>
          </a:prstGeom>
          <a:solidFill>
            <a:srgbClr val="4A1F2E"/>
          </a:solidFill>
          <a:ln w="9525">
            <a:solidFill>
              <a:srgbClr val="FF6B73"/>
            </a:solidFill>
            <a:prstDash val="solid"/>
          </a:ln>
        </p:spPr>
        <p:txBody>
          <a:bodyPr/>
          <a:p/>
        </p:txBody>
      </p:sp>
      <p:sp>
        <p:nvSpPr>
          <p:cNvPr id="72" name="Text 68"/>
          <p:cNvSpPr txBox="1"/>
          <p:nvPr/>
        </p:nvSpPr>
        <p:spPr>
          <a:xfrm>
            <a:off x="3465576" y="5760720"/>
            <a:ext cx="2514600" cy="420624"/>
          </a:xfrm>
          <a:prstGeom prst="rect">
            <a:avLst/>
          </a:prstGeom>
          <a:noFill/>
          <a:ln/>
        </p:spPr>
        <p:txBody>
          <a:bodyPr wrap="square" lIns="0" tIns="0" rIns="0" bIns="0" rtlCol="0" anchor="ctr"/>
          <a:lstStyle/>
          <a:p>
            <a:pPr indent="0" marL="0">
              <a:buNone/>
            </a:pPr>
            <a:r>
              <a:rPr lang="en-US" sz="1300" b="1" dirty="0">
                <a:solidFill>
                  <a:srgbClr val="FF6B73"/>
                </a:solidFill>
                <a:latin typeface="Malgun Gothic" pitchFamily="34" charset="0"/>
                <a:ea typeface="Malgun Gothic" pitchFamily="34" charset="-122"/>
                <a:cs typeface="Malgun Gothic" pitchFamily="34" charset="-120"/>
              </a:rPr>
              <a:t>22 </a:t>
            </a:r>
            <a:pPr indent="0" marL="0">
              <a:buNone/>
            </a:pPr>
            <a:r>
              <a:rPr lang="en-US" sz="1300" b="1" dirty="0">
                <a:solidFill>
                  <a:srgbClr val="F5F2EA"/>
                </a:solidFill>
                <a:latin typeface="Malgun Gothic" pitchFamily="34" charset="0"/>
                <a:ea typeface="Malgun Gothic" pitchFamily="34" charset="-122"/>
                <a:cs typeface="Malgun Gothic" pitchFamily="34" charset="-120"/>
              </a:rPr>
              <a:t>심뱅스㈜  NEW</a:t>
            </a:r>
            <a:endParaRPr lang="en-US" sz="13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Ⅱ</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관리법인 자체 기장</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자금 · 세무 · 회계 · 총무 · 인사 자체 장부 → 빠르고 정확한 의사결정</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417320"/>
            <a:ext cx="4480560" cy="2697480"/>
          </a:xfrm>
          <a:prstGeom prst="roundRect">
            <a:avLst>
              <a:gd name="adj" fmla="val 4068"/>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Text 5"/>
          <p:cNvSpPr txBox="1"/>
          <p:nvPr/>
        </p:nvSpPr>
        <p:spPr>
          <a:xfrm>
            <a:off x="777240" y="1508760"/>
            <a:ext cx="402336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세무회계 · 부가가치세</a:t>
            </a:r>
            <a:endParaRPr lang="en-US" sz="1400" dirty="0"/>
          </a:p>
        </p:txBody>
      </p:sp>
      <p:graphicFrame>
        <p:nvGraphicFramePr>
          <p:cNvPr id="10" name="Chart 0" descr=""/>
          <p:cNvGraphicFramePr/>
          <p:nvPr/>
        </p:nvGraphicFramePr>
        <p:xfrm>
          <a:off x="731520" y="1783080"/>
          <a:ext cx="2286000" cy="2240280"/>
        </p:xfrm>
        <a:graphic xmlns:a="http://schemas.openxmlformats.org/drawingml/2006/main">
          <a:graphicData uri="http://schemas.openxmlformats.org/drawingml/2006/chart">
            <c:chart xmlns:c="http://schemas.openxmlformats.org/drawingml/2006/chart" r:id="rId2"/>
          </a:graphicData>
        </a:graphic>
      </p:graphicFrame>
      <p:sp>
        <p:nvSpPr>
          <p:cNvPr id="11" name="Text 6"/>
          <p:cNvSpPr txBox="1"/>
          <p:nvPr/>
        </p:nvSpPr>
        <p:spPr>
          <a:xfrm>
            <a:off x="731520" y="2606040"/>
            <a:ext cx="2286000" cy="640080"/>
          </a:xfrm>
          <a:prstGeom prst="rect">
            <a:avLst/>
          </a:prstGeom>
          <a:noFill/>
          <a:ln/>
        </p:spPr>
        <p:txBody>
          <a:bodyPr wrap="square" lIns="0" tIns="0" rIns="0" bIns="0" rtlCol="0" anchor="t"/>
          <a:lstStyle/>
          <a:p>
            <a:pPr algn="ctr" indent="0" marL="0">
              <a:buNone/>
            </a:pPr>
            <a:r>
              <a:rPr lang="en-US" sz="3200" b="1" dirty="0">
                <a:solidFill>
                  <a:srgbClr val="F5F2EA"/>
                </a:solidFill>
                <a:latin typeface="Malgun Gothic" pitchFamily="34" charset="0"/>
                <a:ea typeface="Malgun Gothic" pitchFamily="34" charset="-122"/>
                <a:cs typeface="Malgun Gothic" pitchFamily="34" charset="-120"/>
              </a:rPr>
              <a:t>17</a:t>
            </a:r>
            <a:endParaRPr lang="en-US" sz="3200" dirty="0"/>
          </a:p>
        </p:txBody>
      </p:sp>
      <p:sp>
        <p:nvSpPr>
          <p:cNvPr id="12" name="Text 7"/>
          <p:cNvSpPr txBox="1"/>
          <p:nvPr/>
        </p:nvSpPr>
        <p:spPr>
          <a:xfrm>
            <a:off x="731520" y="3200400"/>
            <a:ext cx="2286000" cy="320040"/>
          </a:xfrm>
          <a:prstGeom prst="rect">
            <a:avLst/>
          </a:prstGeom>
          <a:noFill/>
          <a:ln/>
        </p:spPr>
        <p:txBody>
          <a:bodyPr wrap="square" lIns="0" tIns="0" rIns="0" bIns="0" rtlCol="0" anchor="t"/>
          <a:lstStyle/>
          <a:p>
            <a:pPr algn="ctr" indent="0" marL="0">
              <a:buNone/>
            </a:pPr>
            <a:r>
              <a:rPr lang="en-US" sz="1200" dirty="0">
                <a:solidFill>
                  <a:srgbClr val="A9B3C9"/>
                </a:solidFill>
                <a:latin typeface="Malgun Gothic" pitchFamily="34" charset="0"/>
                <a:ea typeface="Malgun Gothic" pitchFamily="34" charset="-122"/>
                <a:cs typeface="Malgun Gothic" pitchFamily="34" charset="-120"/>
              </a:rPr>
              <a:t>/ 22개 법인</a:t>
            </a:r>
            <a:endParaRPr lang="en-US" sz="1200" dirty="0"/>
          </a:p>
        </p:txBody>
      </p:sp>
      <p:sp>
        <p:nvSpPr>
          <p:cNvPr id="13" name="Text 8"/>
          <p:cNvSpPr txBox="1"/>
          <p:nvPr/>
        </p:nvSpPr>
        <p:spPr>
          <a:xfrm>
            <a:off x="3108960" y="2103120"/>
            <a:ext cx="1828800" cy="822960"/>
          </a:xfrm>
          <a:prstGeom prst="rect">
            <a:avLst/>
          </a:prstGeom>
          <a:noFill/>
          <a:ln/>
        </p:spPr>
        <p:txBody>
          <a:bodyPr wrap="square" lIns="0" tIns="0" rIns="0" bIns="0" rtlCol="0" anchor="t"/>
          <a:lstStyle/>
          <a:p>
            <a:pPr indent="0" marL="0">
              <a:buNone/>
            </a:pPr>
            <a:r>
              <a:rPr lang="en-US" sz="1500" b="1" dirty="0">
                <a:solidFill>
                  <a:srgbClr val="F5F2EA"/>
                </a:solidFill>
                <a:latin typeface="Malgun Gothic" pitchFamily="34" charset="0"/>
                <a:ea typeface="Malgun Gothic" pitchFamily="34" charset="-122"/>
                <a:cs typeface="Malgun Gothic" pitchFamily="34" charset="-120"/>
              </a:rPr>
              <a:t>22개 중</a:t>
            </a:r>
            <a:endParaRPr lang="en-US" sz="1500" dirty="0"/>
          </a:p>
          <a:p>
            <a:pPr indent="0" marL="0">
              <a:buNone/>
            </a:pPr>
            <a:r>
              <a:rPr lang="en-US" sz="1500" b="1" dirty="0">
                <a:solidFill>
                  <a:srgbClr val="F5F2EA"/>
                </a:solidFill>
                <a:latin typeface="Malgun Gothic" pitchFamily="34" charset="0"/>
                <a:ea typeface="Malgun Gothic" pitchFamily="34" charset="-122"/>
                <a:cs typeface="Malgun Gothic" pitchFamily="34" charset="-120"/>
              </a:rPr>
              <a:t>5개 법인 제외</a:t>
            </a:r>
            <a:endParaRPr lang="en-US" sz="1500" dirty="0"/>
          </a:p>
        </p:txBody>
      </p:sp>
      <p:sp>
        <p:nvSpPr>
          <p:cNvPr id="14" name="Text 9"/>
          <p:cNvSpPr txBox="1"/>
          <p:nvPr/>
        </p:nvSpPr>
        <p:spPr>
          <a:xfrm>
            <a:off x="3108960" y="3017520"/>
            <a:ext cx="1828800" cy="640080"/>
          </a:xfrm>
          <a:prstGeom prst="rect">
            <a:avLst/>
          </a:prstGeom>
          <a:noFill/>
          <a:ln/>
        </p:spPr>
        <p:txBody>
          <a:bodyPr wrap="square" lIns="0" tIns="0" rIns="0" bIns="0" rtlCol="0" anchor="t"/>
          <a:lstStyle/>
          <a:p>
            <a:pPr indent="0" marL="0">
              <a:buNone/>
            </a:pPr>
            <a:r>
              <a:rPr lang="en-US" sz="1300" dirty="0">
                <a:solidFill>
                  <a:srgbClr val="F3DCA4"/>
                </a:solidFill>
                <a:latin typeface="Malgun Gothic" pitchFamily="34" charset="0"/>
                <a:ea typeface="Malgun Gothic" pitchFamily="34" charset="-122"/>
                <a:cs typeface="Malgun Gothic" pitchFamily="34" charset="-120"/>
              </a:rPr>
              <a:t>17개 자체 신고·납부</a:t>
            </a:r>
            <a:endParaRPr lang="en-US" sz="1300" dirty="0"/>
          </a:p>
        </p:txBody>
      </p:sp>
      <p:sp>
        <p:nvSpPr>
          <p:cNvPr id="15" name="card"/>
          <p:cNvSpPr/>
          <p:nvPr/>
        </p:nvSpPr>
        <p:spPr>
          <a:xfrm>
            <a:off x="5212080" y="1417320"/>
            <a:ext cx="6446520" cy="2697480"/>
          </a:xfrm>
          <a:prstGeom prst="roundRect">
            <a:avLst>
              <a:gd name="adj" fmla="val 4068"/>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6" name="Text 11"/>
          <p:cNvSpPr txBox="1"/>
          <p:nvPr/>
        </p:nvSpPr>
        <p:spPr>
          <a:xfrm>
            <a:off x="5440680" y="1508760"/>
            <a:ext cx="5486400" cy="320040"/>
          </a:xfrm>
          <a:prstGeom prst="rect">
            <a:avLst/>
          </a:prstGeom>
          <a:noFill/>
          <a:ln/>
        </p:spPr>
        <p:txBody>
          <a:bodyPr wrap="square" lIns="0" tIns="0" rIns="0" bIns="0" rtlCol="0" anchor="t"/>
          <a:lstStyle/>
          <a:p>
            <a:pPr indent="0" marL="0">
              <a:buNone/>
            </a:pPr>
            <a:r>
              <a:t>세금업무 · 사업소분 주민세 · 법인세분 지방소득세</a:t>
            </a:r>
            <a:endParaRPr lang="en-US" sz="1400" dirty="0"/>
          </a:p>
        </p:txBody>
      </p:sp>
      <p:sp>
        <p:nvSpPr>
          <p:cNvPr id="17" name="Text 12"/>
          <p:cNvSpPr txBox="1"/>
          <p:nvPr/>
        </p:nvSpPr>
        <p:spPr>
          <a:xfrm>
            <a:off x="5440680" y="1920240"/>
            <a:ext cx="2926080" cy="1463040"/>
          </a:xfrm>
          <a:prstGeom prst="rect">
            <a:avLst/>
          </a:prstGeom>
          <a:noFill/>
          <a:ln/>
        </p:spPr>
        <p:txBody>
          <a:bodyPr wrap="square" lIns="0" tIns="0" rIns="0" bIns="0" rtlCol="0" anchor="ctr"/>
          <a:lstStyle/>
          <a:p>
            <a:pPr indent="0" marL="0">
              <a:buNone/>
            </a:pPr>
            <a:r>
              <a:rPr lang="en-US" sz="8000" b="1" dirty="0">
                <a:solidFill>
                  <a:srgbClr val="F3DCA4"/>
                </a:solidFill>
                <a:latin typeface="Malgun Gothic" pitchFamily="34" charset="0"/>
                <a:ea typeface="Malgun Gothic" pitchFamily="34" charset="-122"/>
                <a:cs typeface="Malgun Gothic" pitchFamily="34" charset="-120"/>
              </a:rPr>
              <a:t>539</a:t>
            </a:r>
            <a:endParaRPr lang="en-US" sz="8000" dirty="0"/>
          </a:p>
        </p:txBody>
      </p:sp>
      <p:sp>
        <p:nvSpPr>
          <p:cNvPr id="18" name="Text 13"/>
          <p:cNvSpPr txBox="1"/>
          <p:nvPr/>
        </p:nvSpPr>
        <p:spPr>
          <a:xfrm>
            <a:off x="8229600" y="2240280"/>
            <a:ext cx="3200400" cy="457200"/>
          </a:xfrm>
          <a:prstGeom prst="rect">
            <a:avLst/>
          </a:prstGeom>
          <a:noFill/>
          <a:ln/>
        </p:spPr>
        <p:txBody>
          <a:bodyPr wrap="square" lIns="0" tIns="0" rIns="0" bIns="0" rtlCol="0" anchor="t"/>
          <a:lstStyle/>
          <a:p>
            <a:pPr indent="0" marL="0">
              <a:buNone/>
            </a:pPr>
            <a:r>
              <a:rPr lang="en-US" sz="2400" b="1" dirty="0">
                <a:solidFill>
                  <a:srgbClr val="F5F2EA"/>
                </a:solidFill>
                <a:latin typeface="Malgun Gothic" pitchFamily="34" charset="0"/>
                <a:ea typeface="Malgun Gothic" pitchFamily="34" charset="-122"/>
                <a:cs typeface="Malgun Gothic" pitchFamily="34" charset="-120"/>
              </a:rPr>
              <a:t>개 지자체</a:t>
            </a:r>
            <a:endParaRPr lang="en-US" sz="2400" dirty="0"/>
          </a:p>
        </p:txBody>
      </p:sp>
      <p:sp>
        <p:nvSpPr>
          <p:cNvPr id="19" name="Text 14"/>
          <p:cNvSpPr txBox="1"/>
          <p:nvPr/>
        </p:nvSpPr>
        <p:spPr>
          <a:xfrm>
            <a:off x="8229600" y="2743200"/>
            <a:ext cx="3291840" cy="548640"/>
          </a:xfrm>
          <a:prstGeom prst="rect">
            <a:avLst/>
          </a:prstGeom>
          <a:noFill/>
          <a:ln/>
        </p:spPr>
        <p:txBody>
          <a:bodyPr wrap="square" lIns="0" tIns="0" rIns="0" bIns="0" rtlCol="0" anchor="t"/>
          <a:lstStyle/>
          <a:p>
            <a:pPr indent="0" marL="0">
              <a:buNone/>
            </a:pPr>
            <a:r>
              <a:t>타이어뱅크 사업소분 주민세 · 법인세분 지방소득세 직접 신고·납부 완료</a:t>
            </a:r>
            <a:endParaRPr lang="en-US" sz="1400" dirty="0"/>
          </a:p>
        </p:txBody>
      </p:sp>
      <p:sp>
        <p:nvSpPr>
          <p:cNvPr id="20" name="Shape 15"/>
          <p:cNvSpPr/>
          <p:nvPr/>
        </p:nvSpPr>
        <p:spPr>
          <a:xfrm>
            <a:off x="5440680" y="3474720"/>
            <a:ext cx="2834640" cy="411480"/>
          </a:xfrm>
          <a:prstGeom prst="roundRect">
            <a:avLst>
              <a:gd name="adj" fmla="val 48889"/>
            </a:avLst>
          </a:prstGeom>
          <a:solidFill>
            <a:srgbClr val="D9B66F">
              <a:alpha val="25000"/>
            </a:srgbClr>
          </a:solidFill>
          <a:ln w="12700">
            <a:solidFill>
              <a:srgbClr val="D9B66F"/>
            </a:solidFill>
            <a:prstDash val="solid"/>
          </a:ln>
        </p:spPr>
        <p:txBody>
          <a:bodyPr/>
          <a:p/>
        </p:txBody>
      </p:sp>
      <p:sp>
        <p:nvSpPr>
          <p:cNvPr id="21" name="Text 16"/>
          <p:cNvSpPr txBox="1"/>
          <p:nvPr/>
        </p:nvSpPr>
        <p:spPr>
          <a:xfrm>
            <a:off x="5440680" y="3474720"/>
            <a:ext cx="2834640" cy="411480"/>
          </a:xfrm>
          <a:prstGeom prst="rect">
            <a:avLst/>
          </a:prstGeom>
          <a:noFill/>
          <a:ln/>
        </p:spPr>
        <p:txBody>
          <a:bodyPr wrap="square" lIns="0" tIns="0" rIns="0" bIns="0" rtlCol="0" anchor="ctr"/>
          <a:lstStyle/>
          <a:p>
            <a:pPr algn="ctr" indent="0" marL="0">
              <a:buNone/>
            </a:pPr>
            <a:r>
              <a:rPr lang="en-US" sz="1300" b="1" dirty="0">
                <a:solidFill>
                  <a:srgbClr val="F3DCA4"/>
                </a:solidFill>
                <a:latin typeface="Malgun Gothic" pitchFamily="34" charset="0"/>
                <a:ea typeface="Malgun Gothic" pitchFamily="34" charset="-122"/>
                <a:cs typeface="Malgun Gothic" pitchFamily="34" charset="-120"/>
              </a:rPr>
              <a:t>외부 위탁 없이 자체 수행</a:t>
            </a:r>
            <a:endParaRPr lang="en-US" sz="1300" dirty="0"/>
          </a:p>
        </p:txBody>
      </p:sp>
      <p:sp>
        <p:nvSpPr>
          <p:cNvPr id="22" name="Text 17"/>
          <p:cNvSpPr txBox="1"/>
          <p:nvPr/>
        </p:nvSpPr>
        <p:spPr>
          <a:xfrm>
            <a:off x="548640" y="4297680"/>
            <a:ext cx="548640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재무회계 · 기업가치 극대화</a:t>
            </a:r>
            <a:endParaRPr lang="en-US" sz="1400" dirty="0"/>
          </a:p>
        </p:txBody>
      </p:sp>
      <p:sp>
        <p:nvSpPr>
          <p:cNvPr id="23" name="card"/>
          <p:cNvSpPr/>
          <p:nvPr/>
        </p:nvSpPr>
        <p:spPr>
          <a:xfrm>
            <a:off x="548640" y="4709160"/>
            <a:ext cx="3383280" cy="1508760"/>
          </a:xfrm>
          <a:prstGeom prst="roundRect">
            <a:avLst>
              <a:gd name="adj" fmla="val 7273"/>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4" name="Shape 19"/>
          <p:cNvSpPr/>
          <p:nvPr/>
        </p:nvSpPr>
        <p:spPr>
          <a:xfrm>
            <a:off x="777240" y="4846320"/>
            <a:ext cx="457200" cy="457200"/>
          </a:xfrm>
          <a:prstGeom prst="ellipse">
            <a:avLst/>
          </a:prstGeom>
          <a:solidFill>
            <a:srgbClr val="D9B66F"/>
          </a:solidFill>
          <a:ln w="12700">
            <a:solidFill>
              <a:srgbClr val="D9B66F"/>
            </a:solidFill>
            <a:prstDash val="solid"/>
          </a:ln>
        </p:spPr>
        <p:txBody>
          <a:bodyPr/>
          <a:p/>
        </p:txBody>
      </p:sp>
      <p:sp>
        <p:nvSpPr>
          <p:cNvPr id="25" name="Text 20"/>
          <p:cNvSpPr txBox="1"/>
          <p:nvPr/>
        </p:nvSpPr>
        <p:spPr>
          <a:xfrm>
            <a:off x="777240" y="4846320"/>
            <a:ext cx="457200" cy="45720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1</a:t>
            </a:r>
            <a:endParaRPr lang="en-US" sz="1600" dirty="0"/>
          </a:p>
        </p:txBody>
      </p:sp>
      <p:sp>
        <p:nvSpPr>
          <p:cNvPr id="26" name="Text 21"/>
          <p:cNvSpPr txBox="1"/>
          <p:nvPr/>
        </p:nvSpPr>
        <p:spPr>
          <a:xfrm>
            <a:off x="1371600" y="4846320"/>
            <a:ext cx="2468880" cy="457200"/>
          </a:xfrm>
          <a:prstGeom prst="rect">
            <a:avLst/>
          </a:prstGeom>
          <a:noFill/>
          <a:ln/>
        </p:spPr>
        <p:txBody>
          <a:bodyPr wrap="square" lIns="0" tIns="0" rIns="0" bIns="0" rtlCol="0" anchor="ctr"/>
          <a:lstStyle/>
          <a:p>
            <a:pPr indent="0" marL="0">
              <a:buNone/>
            </a:pPr>
            <a:r>
              <a:rPr lang="en-US" sz="1800" b="1" dirty="0">
                <a:solidFill>
                  <a:srgbClr val="F5F2EA"/>
                </a:solidFill>
                <a:latin typeface="Malgun Gothic" pitchFamily="34" charset="0"/>
                <a:ea typeface="Malgun Gothic" pitchFamily="34" charset="-122"/>
                <a:cs typeface="Malgun Gothic" pitchFamily="34" charset="-120"/>
              </a:rPr>
              <a:t>월간 손익계산서</a:t>
            </a:r>
            <a:endParaRPr lang="en-US" sz="1800" dirty="0"/>
          </a:p>
        </p:txBody>
      </p:sp>
      <p:sp>
        <p:nvSpPr>
          <p:cNvPr id="27" name="Text 22"/>
          <p:cNvSpPr txBox="1"/>
          <p:nvPr/>
        </p:nvSpPr>
        <p:spPr>
          <a:xfrm>
            <a:off x="777240" y="5440680"/>
            <a:ext cx="3017520" cy="731520"/>
          </a:xfrm>
          <a:prstGeom prst="rect">
            <a:avLst/>
          </a:prstGeom>
          <a:noFill/>
          <a:ln/>
        </p:spPr>
        <p:txBody>
          <a:bodyPr wrap="square" lIns="0" tIns="0" rIns="0" bIns="0" rtlCol="0" anchor="t"/>
          <a:lstStyle/>
          <a:p>
            <a:r>
              <a:t>매월 15일 보고로 합리적인 의사결정에 기여</a:t>
            </a:r>
          </a:p>
        </p:txBody>
      </p:sp>
      <p:sp>
        <p:nvSpPr>
          <p:cNvPr id="28" name="Text 23"/>
          <p:cNvSpPr txBox="1"/>
          <p:nvPr/>
        </p:nvSpPr>
        <p:spPr>
          <a:xfrm>
            <a:off x="3931920" y="5257800"/>
            <a:ext cx="457200" cy="45720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29" name="card"/>
          <p:cNvSpPr/>
          <p:nvPr/>
        </p:nvSpPr>
        <p:spPr>
          <a:xfrm>
            <a:off x="4389120" y="4709160"/>
            <a:ext cx="3383280" cy="1508760"/>
          </a:xfrm>
          <a:prstGeom prst="roundRect">
            <a:avLst>
              <a:gd name="adj" fmla="val 7273"/>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0" name="Shape 25"/>
          <p:cNvSpPr/>
          <p:nvPr/>
        </p:nvSpPr>
        <p:spPr>
          <a:xfrm>
            <a:off x="4617720" y="4846320"/>
            <a:ext cx="457200" cy="457200"/>
          </a:xfrm>
          <a:prstGeom prst="ellipse">
            <a:avLst/>
          </a:prstGeom>
          <a:solidFill>
            <a:srgbClr val="D9B66F"/>
          </a:solidFill>
          <a:ln w="12700">
            <a:solidFill>
              <a:srgbClr val="D9B66F"/>
            </a:solidFill>
            <a:prstDash val="solid"/>
          </a:ln>
        </p:spPr>
        <p:txBody>
          <a:bodyPr/>
          <a:p/>
        </p:txBody>
      </p:sp>
      <p:sp>
        <p:nvSpPr>
          <p:cNvPr id="31" name="Text 26"/>
          <p:cNvSpPr txBox="1"/>
          <p:nvPr/>
        </p:nvSpPr>
        <p:spPr>
          <a:xfrm>
            <a:off x="4617720" y="4846320"/>
            <a:ext cx="457200" cy="45720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2</a:t>
            </a:r>
            <a:endParaRPr lang="en-US" sz="1600" dirty="0"/>
          </a:p>
        </p:txBody>
      </p:sp>
      <p:sp>
        <p:nvSpPr>
          <p:cNvPr id="32" name="Text 27"/>
          <p:cNvSpPr txBox="1"/>
          <p:nvPr/>
        </p:nvSpPr>
        <p:spPr>
          <a:xfrm>
            <a:off x="5212080" y="4846320"/>
            <a:ext cx="2468880" cy="457200"/>
          </a:xfrm>
          <a:prstGeom prst="rect">
            <a:avLst/>
          </a:prstGeom>
          <a:noFill/>
          <a:ln/>
        </p:spPr>
        <p:txBody>
          <a:bodyPr wrap="square" lIns="0" tIns="0" rIns="0" bIns="0" rtlCol="0" anchor="ctr"/>
          <a:lstStyle/>
          <a:p>
            <a:pPr indent="0" marL="0">
              <a:buNone/>
            </a:pPr>
            <a:r>
              <a:rPr lang="en-US" sz="1800" b="1" dirty="0">
                <a:solidFill>
                  <a:srgbClr val="F5F2EA"/>
                </a:solidFill>
                <a:latin typeface="Malgun Gothic" pitchFamily="34" charset="0"/>
                <a:ea typeface="Malgun Gothic" pitchFamily="34" charset="-122"/>
                <a:cs typeface="Malgun Gothic" pitchFamily="34" charset="-120"/>
              </a:rPr>
              <a:t>미수채권 관리</a:t>
            </a:r>
            <a:endParaRPr lang="en-US" sz="1800" dirty="0"/>
          </a:p>
        </p:txBody>
      </p:sp>
      <p:sp>
        <p:nvSpPr>
          <p:cNvPr id="33" name="Text 28"/>
          <p:cNvSpPr txBox="1"/>
          <p:nvPr/>
        </p:nvSpPr>
        <p:spPr>
          <a:xfrm>
            <a:off x="4617720" y="5440680"/>
            <a:ext cx="3017520" cy="731520"/>
          </a:xfrm>
          <a:prstGeom prst="rect">
            <a:avLst/>
          </a:prstGeom>
          <a:noFill/>
          <a:ln/>
        </p:spPr>
        <p:txBody>
          <a:bodyPr wrap="square" lIns="0" tIns="0" rIns="0" bIns="0" rtlCol="0" anchor="t"/>
          <a:lstStyle/>
          <a:p>
            <a:r>
              <a:t>회수기일 검토로 대손채권 방지</a:t>
            </a:r>
          </a:p>
        </p:txBody>
      </p:sp>
      <p:sp>
        <p:nvSpPr>
          <p:cNvPr id="34" name="Text 29"/>
          <p:cNvSpPr txBox="1"/>
          <p:nvPr/>
        </p:nvSpPr>
        <p:spPr>
          <a:xfrm>
            <a:off x="7772400" y="5257800"/>
            <a:ext cx="457200" cy="45720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35" name="card"/>
          <p:cNvSpPr/>
          <p:nvPr/>
        </p:nvSpPr>
        <p:spPr>
          <a:xfrm>
            <a:off x="8229600" y="4709160"/>
            <a:ext cx="3383280" cy="1508760"/>
          </a:xfrm>
          <a:prstGeom prst="roundRect">
            <a:avLst>
              <a:gd name="adj" fmla="val 7273"/>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6" name="Shape 31"/>
          <p:cNvSpPr/>
          <p:nvPr/>
        </p:nvSpPr>
        <p:spPr>
          <a:xfrm>
            <a:off x="8458200" y="4846320"/>
            <a:ext cx="457200" cy="457200"/>
          </a:xfrm>
          <a:prstGeom prst="ellipse">
            <a:avLst/>
          </a:prstGeom>
          <a:solidFill>
            <a:srgbClr val="D9B66F"/>
          </a:solidFill>
          <a:ln w="12700">
            <a:solidFill>
              <a:srgbClr val="D9B66F"/>
            </a:solidFill>
            <a:prstDash val="solid"/>
          </a:ln>
        </p:spPr>
        <p:txBody>
          <a:bodyPr/>
          <a:p/>
        </p:txBody>
      </p:sp>
      <p:sp>
        <p:nvSpPr>
          <p:cNvPr id="37" name="Text 32"/>
          <p:cNvSpPr txBox="1"/>
          <p:nvPr/>
        </p:nvSpPr>
        <p:spPr>
          <a:xfrm>
            <a:off x="8458200" y="4846320"/>
            <a:ext cx="457200" cy="45720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3</a:t>
            </a:r>
            <a:endParaRPr lang="en-US" sz="1600" dirty="0"/>
          </a:p>
        </p:txBody>
      </p:sp>
      <p:sp>
        <p:nvSpPr>
          <p:cNvPr id="38" name="Text 33"/>
          <p:cNvSpPr txBox="1"/>
          <p:nvPr/>
        </p:nvSpPr>
        <p:spPr>
          <a:xfrm>
            <a:off x="9052560" y="4846320"/>
            <a:ext cx="2468880" cy="457200"/>
          </a:xfrm>
          <a:prstGeom prst="rect">
            <a:avLst/>
          </a:prstGeom>
          <a:noFill/>
          <a:ln/>
        </p:spPr>
        <p:txBody>
          <a:bodyPr wrap="square" lIns="0" tIns="0" rIns="0" bIns="0" rtlCol="0" anchor="ctr"/>
          <a:lstStyle/>
          <a:p>
            <a:pPr indent="0" marL="0">
              <a:buNone/>
            </a:pPr>
            <a:r>
              <a:rPr lang="en-US" sz="1800" b="1" dirty="0">
                <a:solidFill>
                  <a:srgbClr val="F5F2EA"/>
                </a:solidFill>
                <a:latin typeface="Malgun Gothic" pitchFamily="34" charset="0"/>
                <a:ea typeface="Malgun Gothic" pitchFamily="34" charset="-122"/>
                <a:cs typeface="Malgun Gothic" pitchFamily="34" charset="-120"/>
              </a:rPr>
              <a:t>손익분기점 분석</a:t>
            </a:r>
            <a:endParaRPr lang="en-US" sz="1800" dirty="0"/>
          </a:p>
        </p:txBody>
      </p:sp>
      <p:sp>
        <p:nvSpPr>
          <p:cNvPr id="39" name="Text 34"/>
          <p:cNvSpPr txBox="1"/>
          <p:nvPr/>
        </p:nvSpPr>
        <p:spPr>
          <a:xfrm>
            <a:off x="8458200" y="5440680"/>
            <a:ext cx="3017520" cy="731520"/>
          </a:xfrm>
          <a:prstGeom prst="rect">
            <a:avLst/>
          </a:prstGeom>
          <a:noFill/>
          <a:ln/>
        </p:spPr>
        <p:txBody>
          <a:bodyPr wrap="square" lIns="0" tIns="0" rIns="0" bIns="0" rtlCol="0" anchor="t"/>
          <a:lstStyle/>
          <a:p>
            <a:r>
              <a:t>분석을 통한 원가 통제</a:t>
            </a:r>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Ⅲ</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소득금액변동통지 승소</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2013년 귀속 · 대전지방법원 판결 타이어뱅크 승소</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Shape 4"/>
          <p:cNvSpPr/>
          <p:nvPr/>
        </p:nvSpPr>
        <p:spPr>
          <a:xfrm>
            <a:off x="1931670" y="1764792"/>
            <a:ext cx="8298180" cy="45720"/>
          </a:xfrm>
          <a:prstGeom prst="rect">
            <a:avLst/>
          </a:prstGeom>
          <a:solidFill>
            <a:srgbClr val="D9B66F"/>
          </a:solidFill>
          <a:ln w="12700">
            <a:solidFill>
              <a:srgbClr val="D9B66F"/>
            </a:solidFill>
            <a:prstDash val="solid"/>
          </a:ln>
        </p:spPr>
        <p:txBody>
          <a:bodyPr/>
          <a:p/>
        </p:txBody>
      </p:sp>
      <p:sp>
        <p:nvSpPr>
          <p:cNvPr id="9" name="Shape 5"/>
          <p:cNvSpPr/>
          <p:nvPr/>
        </p:nvSpPr>
        <p:spPr>
          <a:xfrm>
            <a:off x="1602486" y="1463040"/>
            <a:ext cx="658368" cy="658368"/>
          </a:xfrm>
          <a:prstGeom prst="ellipse">
            <a:avLst/>
          </a:prstGeom>
          <a:solidFill>
            <a:srgbClr val="D9B66F"/>
          </a:solidFill>
          <a:ln w="38100">
            <a:solidFill>
              <a:srgbClr val="0B1426"/>
            </a:solidFill>
            <a:prstDash val="solid"/>
          </a:ln>
          <a:effectLst>
            <a:outerShdw sx="100000" sy="100000" kx="0" ky="0" algn="bl" rotWithShape="0" blurRad="177800" dist="50800" dir="5400000">
              <a:srgbClr val="D9B66F">
                <a:alpha val="50000"/>
              </a:srgbClr>
            </a:outerShdw>
          </a:effectLst>
        </p:spPr>
        <p:txBody>
          <a:bodyPr/>
          <a:p/>
        </p:txBody>
      </p:sp>
      <p:sp>
        <p:nvSpPr>
          <p:cNvPr id="10" name="Text 6"/>
          <p:cNvSpPr txBox="1"/>
          <p:nvPr/>
        </p:nvSpPr>
        <p:spPr>
          <a:xfrm>
            <a:off x="1602486" y="1463040"/>
            <a:ext cx="658368" cy="658368"/>
          </a:xfrm>
          <a:prstGeom prst="rect">
            <a:avLst/>
          </a:prstGeom>
          <a:noFill/>
          <a:ln/>
        </p:spPr>
        <p:txBody>
          <a:bodyPr wrap="square" lIns="0" tIns="0" rIns="0" bIns="0" rtlCol="0" anchor="ctr"/>
          <a:lstStyle/>
          <a:p>
            <a:pPr algn="ctr" indent="0" marL="0">
              <a:buNone/>
            </a:pPr>
            <a:r>
              <a:rPr lang="en-US" sz="1800" b="1" dirty="0">
                <a:solidFill>
                  <a:srgbClr val="1A1305"/>
                </a:solidFill>
                <a:latin typeface="Malgun Gothic" pitchFamily="34" charset="0"/>
                <a:ea typeface="Malgun Gothic" pitchFamily="34" charset="-122"/>
                <a:cs typeface="Malgun Gothic" pitchFamily="34" charset="-120"/>
              </a:rPr>
              <a:t>1</a:t>
            </a:r>
            <a:endParaRPr lang="en-US" sz="1800" dirty="0"/>
          </a:p>
        </p:txBody>
      </p:sp>
      <p:sp>
        <p:nvSpPr>
          <p:cNvPr id="11" name="Text 7"/>
          <p:cNvSpPr txBox="1"/>
          <p:nvPr/>
        </p:nvSpPr>
        <p:spPr>
          <a:xfrm>
            <a:off x="640080" y="224028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2016.11.28</a:t>
            </a:r>
            <a:endParaRPr lang="en-US" sz="1700" dirty="0"/>
          </a:p>
        </p:txBody>
      </p:sp>
      <p:sp>
        <p:nvSpPr>
          <p:cNvPr id="12" name="Text 8"/>
          <p:cNvSpPr txBox="1"/>
          <p:nvPr/>
        </p:nvSpPr>
        <p:spPr>
          <a:xfrm>
            <a:off x="640080" y="265176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세무조사 결과 통지</a:t>
            </a:r>
            <a:endParaRPr lang="en-US" sz="1600" dirty="0"/>
          </a:p>
        </p:txBody>
      </p:sp>
      <p:sp>
        <p:nvSpPr>
          <p:cNvPr id="13" name="Text 9"/>
          <p:cNvSpPr txBox="1"/>
          <p:nvPr/>
        </p:nvSpPr>
        <p:spPr>
          <a:xfrm>
            <a:off x="640080" y="3291840"/>
            <a:ext cx="2583180" cy="82296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30일 과세전적부심사 가능했으나</a:t>
            </a:r>
            <a:endParaRPr lang="en-US" sz="1300" dirty="0"/>
          </a:p>
          <a:p>
            <a:pPr algn="ctr" indent="0" marL="0">
              <a:buNone/>
            </a:pPr>
            <a:r>
              <a:rPr lang="en-US" sz="1300" dirty="0">
                <a:solidFill>
                  <a:srgbClr val="A9B3C9"/>
                </a:solidFill>
                <a:latin typeface="Malgun Gothic" pitchFamily="34" charset="0"/>
                <a:ea typeface="Malgun Gothic" pitchFamily="34" charset="-122"/>
                <a:cs typeface="Malgun Gothic" pitchFamily="34" charset="-120"/>
              </a:rPr>
              <a:t>3일 만에 1차 변동통지</a:t>
            </a:r>
            <a:endParaRPr lang="en-US" sz="1300" dirty="0"/>
          </a:p>
        </p:txBody>
      </p:sp>
      <p:sp>
        <p:nvSpPr>
          <p:cNvPr id="14" name="Shape 10"/>
          <p:cNvSpPr/>
          <p:nvPr/>
        </p:nvSpPr>
        <p:spPr>
          <a:xfrm>
            <a:off x="4368546" y="1463040"/>
            <a:ext cx="658368" cy="658368"/>
          </a:xfrm>
          <a:prstGeom prst="ellipse">
            <a:avLst/>
          </a:prstGeom>
          <a:solidFill>
            <a:srgbClr val="D9B66F"/>
          </a:solidFill>
          <a:ln w="38100">
            <a:solidFill>
              <a:srgbClr val="0B1426"/>
            </a:solidFill>
            <a:prstDash val="solid"/>
          </a:ln>
          <a:effectLst>
            <a:outerShdw sx="100000" sy="100000" kx="0" ky="0" algn="bl" rotWithShape="0" blurRad="177800" dist="50800" dir="5400000">
              <a:srgbClr val="D9B66F">
                <a:alpha val="50000"/>
              </a:srgbClr>
            </a:outerShdw>
          </a:effectLst>
        </p:spPr>
        <p:txBody>
          <a:bodyPr/>
          <a:p/>
        </p:txBody>
      </p:sp>
      <p:sp>
        <p:nvSpPr>
          <p:cNvPr id="15" name="Text 11"/>
          <p:cNvSpPr txBox="1"/>
          <p:nvPr/>
        </p:nvSpPr>
        <p:spPr>
          <a:xfrm>
            <a:off x="4368546" y="1463040"/>
            <a:ext cx="658368" cy="658368"/>
          </a:xfrm>
          <a:prstGeom prst="rect">
            <a:avLst/>
          </a:prstGeom>
          <a:noFill/>
          <a:ln/>
        </p:spPr>
        <p:txBody>
          <a:bodyPr wrap="square" lIns="0" tIns="0" rIns="0" bIns="0" rtlCol="0" anchor="ctr"/>
          <a:lstStyle/>
          <a:p>
            <a:pPr algn="ctr" indent="0" marL="0">
              <a:buNone/>
            </a:pPr>
            <a:r>
              <a:rPr lang="en-US" sz="1800" b="1" dirty="0">
                <a:solidFill>
                  <a:srgbClr val="1A1305"/>
                </a:solidFill>
                <a:latin typeface="Malgun Gothic" pitchFamily="34" charset="0"/>
                <a:ea typeface="Malgun Gothic" pitchFamily="34" charset="-122"/>
                <a:cs typeface="Malgun Gothic" pitchFamily="34" charset="-120"/>
              </a:rPr>
              <a:t>2</a:t>
            </a:r>
            <a:endParaRPr lang="en-US" sz="1800" dirty="0"/>
          </a:p>
        </p:txBody>
      </p:sp>
      <p:sp>
        <p:nvSpPr>
          <p:cNvPr id="16" name="Text 12"/>
          <p:cNvSpPr txBox="1"/>
          <p:nvPr/>
        </p:nvSpPr>
        <p:spPr>
          <a:xfrm>
            <a:off x="3406140" y="224028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2024.03.26</a:t>
            </a:r>
            <a:endParaRPr lang="en-US" sz="1700" dirty="0"/>
          </a:p>
        </p:txBody>
      </p:sp>
      <p:sp>
        <p:nvSpPr>
          <p:cNvPr id="17" name="Text 13"/>
          <p:cNvSpPr txBox="1"/>
          <p:nvPr/>
        </p:nvSpPr>
        <p:spPr>
          <a:xfrm>
            <a:off x="3406140" y="265176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서대전세무서 스스로 취소</a:t>
            </a:r>
            <a:endParaRPr lang="en-US" sz="1600" dirty="0"/>
          </a:p>
        </p:txBody>
      </p:sp>
      <p:sp>
        <p:nvSpPr>
          <p:cNvPr id="18" name="Text 14"/>
          <p:cNvSpPr txBox="1"/>
          <p:nvPr/>
        </p:nvSpPr>
        <p:spPr>
          <a:xfrm>
            <a:off x="3406140" y="3291840"/>
            <a:ext cx="2583180" cy="82296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약 72억 → 69억원으로</a:t>
            </a:r>
            <a:endParaRPr lang="en-US" sz="1300" dirty="0"/>
          </a:p>
          <a:p>
            <a:pPr algn="ctr" indent="0" marL="0">
              <a:buNone/>
            </a:pPr>
            <a:r>
              <a:rPr lang="en-US" sz="1300" dirty="0">
                <a:solidFill>
                  <a:srgbClr val="A9B3C9"/>
                </a:solidFill>
                <a:latin typeface="Malgun Gothic" pitchFamily="34" charset="0"/>
                <a:ea typeface="Malgun Gothic" pitchFamily="34" charset="-122"/>
                <a:cs typeface="Malgun Gothic" pitchFamily="34" charset="-120"/>
              </a:rPr>
              <a:t>줄여 예고</a:t>
            </a:r>
            <a:endParaRPr lang="en-US" sz="1300" dirty="0"/>
          </a:p>
        </p:txBody>
      </p:sp>
      <p:sp>
        <p:nvSpPr>
          <p:cNvPr id="19" name="Shape 15"/>
          <p:cNvSpPr/>
          <p:nvPr/>
        </p:nvSpPr>
        <p:spPr>
          <a:xfrm>
            <a:off x="7134606" y="1463040"/>
            <a:ext cx="658368" cy="658368"/>
          </a:xfrm>
          <a:prstGeom prst="ellipse">
            <a:avLst/>
          </a:prstGeom>
          <a:solidFill>
            <a:srgbClr val="D9B66F"/>
          </a:solidFill>
          <a:ln w="38100">
            <a:solidFill>
              <a:srgbClr val="0B1426"/>
            </a:solidFill>
            <a:prstDash val="solid"/>
          </a:ln>
          <a:effectLst>
            <a:outerShdw sx="100000" sy="100000" kx="0" ky="0" algn="bl" rotWithShape="0" blurRad="177800" dist="50800" dir="5400000">
              <a:srgbClr val="D9B66F">
                <a:alpha val="50000"/>
              </a:srgbClr>
            </a:outerShdw>
          </a:effectLst>
        </p:spPr>
        <p:txBody>
          <a:bodyPr/>
          <a:p/>
        </p:txBody>
      </p:sp>
      <p:sp>
        <p:nvSpPr>
          <p:cNvPr id="20" name="Text 16"/>
          <p:cNvSpPr txBox="1"/>
          <p:nvPr/>
        </p:nvSpPr>
        <p:spPr>
          <a:xfrm>
            <a:off x="7134606" y="1463040"/>
            <a:ext cx="658368" cy="658368"/>
          </a:xfrm>
          <a:prstGeom prst="rect">
            <a:avLst/>
          </a:prstGeom>
          <a:noFill/>
          <a:ln/>
        </p:spPr>
        <p:txBody>
          <a:bodyPr wrap="square" lIns="0" tIns="0" rIns="0" bIns="0" rtlCol="0" anchor="ctr"/>
          <a:lstStyle/>
          <a:p>
            <a:pPr algn="ctr" indent="0" marL="0">
              <a:buNone/>
            </a:pPr>
            <a:r>
              <a:rPr lang="en-US" sz="1800" b="1" dirty="0">
                <a:solidFill>
                  <a:srgbClr val="1A1305"/>
                </a:solidFill>
                <a:latin typeface="Malgun Gothic" pitchFamily="34" charset="0"/>
                <a:ea typeface="Malgun Gothic" pitchFamily="34" charset="-122"/>
                <a:cs typeface="Malgun Gothic" pitchFamily="34" charset="-120"/>
              </a:rPr>
              <a:t>3</a:t>
            </a:r>
            <a:endParaRPr lang="en-US" sz="1800" dirty="0"/>
          </a:p>
        </p:txBody>
      </p:sp>
      <p:sp>
        <p:nvSpPr>
          <p:cNvPr id="21" name="Text 17"/>
          <p:cNvSpPr txBox="1"/>
          <p:nvPr/>
        </p:nvSpPr>
        <p:spPr>
          <a:xfrm>
            <a:off x="6172200" y="224028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2024.03.27</a:t>
            </a:r>
            <a:endParaRPr lang="en-US" sz="1700" dirty="0"/>
          </a:p>
        </p:txBody>
      </p:sp>
      <p:sp>
        <p:nvSpPr>
          <p:cNvPr id="22" name="Text 18"/>
          <p:cNvSpPr txBox="1"/>
          <p:nvPr/>
        </p:nvSpPr>
        <p:spPr>
          <a:xfrm>
            <a:off x="6172200" y="265176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소득금액 변경통지</a:t>
            </a:r>
            <a:endParaRPr lang="en-US" sz="1600" dirty="0"/>
          </a:p>
        </p:txBody>
      </p:sp>
      <p:sp>
        <p:nvSpPr>
          <p:cNvPr id="23" name="Text 19"/>
          <p:cNvSpPr txBox="1"/>
          <p:nvPr/>
        </p:nvSpPr>
        <p:spPr>
          <a:xfrm>
            <a:off x="6172200" y="3291840"/>
            <a:ext cx="2583180" cy="82296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30일 반론 기회 미부여</a:t>
            </a:r>
            <a:endParaRPr lang="en-US" sz="1300" dirty="0"/>
          </a:p>
          <a:p>
            <a:pPr algn="ctr" indent="0" marL="0">
              <a:buNone/>
            </a:pPr>
            <a:r>
              <a:rPr lang="en-US" sz="1300" dirty="0">
                <a:solidFill>
                  <a:srgbClr val="A9B3C9"/>
                </a:solidFill>
                <a:latin typeface="Malgun Gothic" pitchFamily="34" charset="0"/>
                <a:ea typeface="Malgun Gothic" pitchFamily="34" charset="-122"/>
                <a:cs typeface="Malgun Gothic" pitchFamily="34" charset="-120"/>
              </a:rPr>
              <a:t>→ 위법 (소송 대상)</a:t>
            </a:r>
            <a:endParaRPr lang="en-US" sz="1300" dirty="0"/>
          </a:p>
        </p:txBody>
      </p:sp>
      <p:sp>
        <p:nvSpPr>
          <p:cNvPr id="24" name="Shape 20"/>
          <p:cNvSpPr/>
          <p:nvPr/>
        </p:nvSpPr>
        <p:spPr>
          <a:xfrm>
            <a:off x="9900666" y="1463040"/>
            <a:ext cx="658368" cy="658368"/>
          </a:xfrm>
          <a:prstGeom prst="ellipse">
            <a:avLst/>
          </a:prstGeom>
          <a:solidFill>
            <a:srgbClr val="F0B93A"/>
          </a:solidFill>
          <a:ln w="38100">
            <a:solidFill>
              <a:srgbClr val="0B1426"/>
            </a:solidFill>
            <a:prstDash val="solid"/>
          </a:ln>
          <a:effectLst>
            <a:outerShdw sx="100000" sy="100000" kx="0" ky="0" algn="bl" rotWithShape="0" blurRad="177800" dist="50800" dir="5400000">
              <a:srgbClr val="F0B93A">
                <a:alpha val="50000"/>
              </a:srgbClr>
            </a:outerShdw>
          </a:effectLst>
        </p:spPr>
        <p:txBody>
          <a:bodyPr/>
          <a:p/>
        </p:txBody>
      </p:sp>
      <p:sp>
        <p:nvSpPr>
          <p:cNvPr id="25" name="Text 21"/>
          <p:cNvSpPr txBox="1"/>
          <p:nvPr/>
        </p:nvSpPr>
        <p:spPr>
          <a:xfrm>
            <a:off x="9900666" y="1463040"/>
            <a:ext cx="658368" cy="658368"/>
          </a:xfrm>
          <a:prstGeom prst="rect">
            <a:avLst/>
          </a:prstGeom>
          <a:noFill/>
          <a:ln/>
        </p:spPr>
        <p:txBody>
          <a:bodyPr wrap="square" lIns="0" tIns="0" rIns="0" bIns="0" rtlCol="0" anchor="ctr"/>
          <a:lstStyle/>
          <a:p>
            <a:pPr algn="ctr" indent="0" marL="0">
              <a:buNone/>
            </a:pPr>
            <a:r>
              <a:rPr lang="en-US" sz="1800" b="1" dirty="0">
                <a:solidFill>
                  <a:srgbClr val="1A1305"/>
                </a:solidFill>
                <a:latin typeface="Malgun Gothic" pitchFamily="34" charset="0"/>
                <a:ea typeface="Malgun Gothic" pitchFamily="34" charset="-122"/>
                <a:cs typeface="Malgun Gothic" pitchFamily="34" charset="-120"/>
              </a:rPr>
              <a:t>4</a:t>
            </a:r>
            <a:endParaRPr lang="en-US" sz="1800" dirty="0"/>
          </a:p>
        </p:txBody>
      </p:sp>
      <p:sp>
        <p:nvSpPr>
          <p:cNvPr id="26" name="Text 22"/>
          <p:cNvSpPr txBox="1"/>
          <p:nvPr/>
        </p:nvSpPr>
        <p:spPr>
          <a:xfrm>
            <a:off x="8938260" y="224028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2026.08.27</a:t>
            </a:r>
            <a:endParaRPr lang="en-US" sz="1700" dirty="0"/>
          </a:p>
        </p:txBody>
      </p:sp>
      <p:sp>
        <p:nvSpPr>
          <p:cNvPr id="27" name="Text 23"/>
          <p:cNvSpPr txBox="1"/>
          <p:nvPr/>
        </p:nvSpPr>
        <p:spPr>
          <a:xfrm>
            <a:off x="8938260" y="265176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대전지법 판결 승소</a:t>
            </a:r>
            <a:endParaRPr lang="en-US" sz="1600" dirty="0"/>
          </a:p>
        </p:txBody>
      </p:sp>
      <p:sp>
        <p:nvSpPr>
          <p:cNvPr id="28" name="Text 24"/>
          <p:cNvSpPr txBox="1"/>
          <p:nvPr/>
        </p:nvSpPr>
        <p:spPr>
          <a:xfrm>
            <a:off x="8938260" y="3291840"/>
            <a:ext cx="2583180" cy="82296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2024.03.27 통지 무효</a:t>
            </a:r>
            <a:endParaRPr lang="en-US" sz="1300" dirty="0"/>
          </a:p>
        </p:txBody>
      </p:sp>
      <p:sp>
        <p:nvSpPr>
          <p:cNvPr id="29" name="card"/>
          <p:cNvSpPr/>
          <p:nvPr/>
        </p:nvSpPr>
        <p:spPr>
          <a:xfrm>
            <a:off x="548640" y="4572000"/>
            <a:ext cx="6949440" cy="1645920"/>
          </a:xfrm>
          <a:prstGeom prst="roundRect">
            <a:avLst>
              <a:gd name="adj" fmla="val 666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0" name="Shape 26"/>
          <p:cNvSpPr/>
          <p:nvPr/>
        </p:nvSpPr>
        <p:spPr>
          <a:xfrm>
            <a:off x="868680" y="4937760"/>
            <a:ext cx="1737360" cy="914400"/>
          </a:xfrm>
          <a:prstGeom prst="roundRect">
            <a:avLst>
              <a:gd name="adj" fmla="val 14000"/>
            </a:avLst>
          </a:prstGeom>
          <a:solidFill>
            <a:srgbClr val="0B1426">
              <a:alpha val="0"/>
            </a:srgbClr>
          </a:solidFill>
          <a:ln w="44450">
            <a:solidFill>
              <a:srgbClr val="FF6B73"/>
            </a:solidFill>
            <a:prstDash val="solid"/>
          </a:ln>
        </p:spPr>
        <p:txBody>
          <a:bodyPr/>
          <a:p/>
        </p:txBody>
      </p:sp>
      <p:sp>
        <p:nvSpPr>
          <p:cNvPr id="31" name="Text 27"/>
          <p:cNvSpPr txBox="1"/>
          <p:nvPr/>
        </p:nvSpPr>
        <p:spPr>
          <a:xfrm>
            <a:off x="868680" y="4937760"/>
            <a:ext cx="1737360" cy="914400"/>
          </a:xfrm>
          <a:prstGeom prst="rect">
            <a:avLst/>
          </a:prstGeom>
          <a:noFill/>
          <a:ln/>
        </p:spPr>
        <p:txBody>
          <a:bodyPr wrap="square" lIns="0" tIns="0" rIns="0" bIns="0" rtlCol="0" anchor="ctr"/>
          <a:lstStyle/>
          <a:p>
            <a:pPr algn="ctr" indent="0" marL="0">
              <a:buNone/>
            </a:pPr>
            <a:r>
              <a:rPr lang="en-US" sz="3200" b="1" spc="400" kern="0" dirty="0">
                <a:solidFill>
                  <a:srgbClr val="FF6B73"/>
                </a:solidFill>
                <a:latin typeface="Malgun Gothic" pitchFamily="34" charset="0"/>
                <a:ea typeface="Malgun Gothic" pitchFamily="34" charset="-122"/>
                <a:cs typeface="Malgun Gothic" pitchFamily="34" charset="-120"/>
              </a:rPr>
              <a:t>승 소</a:t>
            </a:r>
            <a:endParaRPr lang="en-US" sz="3200" dirty="0"/>
          </a:p>
        </p:txBody>
      </p:sp>
      <p:sp>
        <p:nvSpPr>
          <p:cNvPr id="32" name="Text 28"/>
          <p:cNvSpPr txBox="1"/>
          <p:nvPr/>
        </p:nvSpPr>
        <p:spPr>
          <a:xfrm>
            <a:off x="2926080" y="4754880"/>
            <a:ext cx="4389120" cy="36576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원천징수 예상세액 환급</a:t>
            </a:r>
            <a:endParaRPr lang="en-US" sz="1400" dirty="0"/>
          </a:p>
        </p:txBody>
      </p:sp>
      <p:sp>
        <p:nvSpPr>
          <p:cNvPr id="33" name="Text 29"/>
          <p:cNvSpPr txBox="1"/>
          <p:nvPr/>
        </p:nvSpPr>
        <p:spPr>
          <a:xfrm>
            <a:off x="2926080" y="5074920"/>
            <a:ext cx="4389120" cy="1097280"/>
          </a:xfrm>
          <a:prstGeom prst="rect">
            <a:avLst/>
          </a:prstGeom>
          <a:noFill/>
          <a:ln/>
        </p:spPr>
        <p:txBody>
          <a:bodyPr wrap="square" lIns="0" tIns="0" rIns="0" bIns="0" rtlCol="0" anchor="ctr"/>
          <a:lstStyle/>
          <a:p>
            <a:pPr indent="0" marL="0">
              <a:buNone/>
            </a:pPr>
            <a:r>
              <a:rPr lang="en-US" sz="2800" b="1" dirty="0">
                <a:solidFill>
                  <a:srgbClr val="F3DCA4"/>
                </a:solidFill>
                <a:latin typeface="Malgun Gothic" pitchFamily="34" charset="0"/>
                <a:ea typeface="Malgun Gothic" pitchFamily="34" charset="-122"/>
                <a:cs typeface="Malgun Gothic" pitchFamily="34" charset="-120"/>
              </a:rPr>
              <a:t>약 </a:t>
            </a:r>
            <a:pPr indent="0" marL="0">
              <a:buNone/>
            </a:pPr>
            <a:r>
              <a:rPr lang="en-US" sz="6600" b="1" dirty="0">
                <a:solidFill>
                  <a:srgbClr val="F3DCA4"/>
                </a:solidFill>
                <a:latin typeface="Malgun Gothic" pitchFamily="34" charset="0"/>
                <a:ea typeface="Malgun Gothic" pitchFamily="34" charset="-122"/>
                <a:cs typeface="Malgun Gothic" pitchFamily="34" charset="-120"/>
              </a:rPr>
              <a:t>25</a:t>
            </a:r>
            <a:pPr indent="0" marL="0">
              <a:buNone/>
            </a:pPr>
            <a:r>
              <a:rPr lang="en-US" sz="2800" b="1" dirty="0">
                <a:solidFill>
                  <a:srgbClr val="F3DCA4"/>
                </a:solidFill>
                <a:latin typeface="Malgun Gothic" pitchFamily="34" charset="0"/>
                <a:ea typeface="Malgun Gothic" pitchFamily="34" charset="-122"/>
                <a:cs typeface="Malgun Gothic" pitchFamily="34" charset="-120"/>
              </a:rPr>
              <a:t>억</a:t>
            </a:r>
            <a:endParaRPr lang="en-US" sz="1600" dirty="0"/>
          </a:p>
        </p:txBody>
      </p:sp>
      <p:sp>
        <p:nvSpPr>
          <p:cNvPr id="34" name="card"/>
          <p:cNvSpPr/>
          <p:nvPr/>
        </p:nvSpPr>
        <p:spPr>
          <a:xfrm>
            <a:off x="7680960" y="4572000"/>
            <a:ext cx="3977640" cy="1645920"/>
          </a:xfrm>
          <a:prstGeom prst="roundRect">
            <a:avLst>
              <a:gd name="adj" fmla="val 666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5" name="Text 31"/>
          <p:cNvSpPr txBox="1"/>
          <p:nvPr/>
        </p:nvSpPr>
        <p:spPr>
          <a:xfrm>
            <a:off x="7909560" y="4663440"/>
            <a:ext cx="347472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핵심 쟁점</a:t>
            </a:r>
            <a:endParaRPr lang="en-US" sz="1400" dirty="0"/>
          </a:p>
        </p:txBody>
      </p:sp>
      <p:sp>
        <p:nvSpPr>
          <p:cNvPr id="36" name="Text 32"/>
          <p:cNvSpPr txBox="1"/>
          <p:nvPr/>
        </p:nvSpPr>
        <p:spPr>
          <a:xfrm>
            <a:off x="7909560" y="5074920"/>
            <a:ext cx="3566160" cy="1005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5F2EA"/>
                </a:solidFill>
                <a:latin typeface="Malgun Gothic" pitchFamily="34" charset="0"/>
                <a:ea typeface="Malgun Gothic" pitchFamily="34" charset="-122"/>
                <a:cs typeface="Malgun Gothic" pitchFamily="34" charset="-120"/>
              </a:rPr>
              <a:t>반론 기회(30일) 미부여</a:t>
            </a:r>
            <a:endParaRPr lang="en-US" sz="1600" dirty="0"/>
          </a:p>
          <a:p>
            <a:pPr marL="342900" indent="-342900">
              <a:spcAft>
                <a:spcPts val="800"/>
              </a:spcAft>
              <a:buSzPct val="100000"/>
              <a:buChar char="•"/>
            </a:pPr>
            <a:r>
              <a:rPr lang="en-US" sz="1600" dirty="0">
                <a:solidFill>
                  <a:srgbClr val="F5F2EA"/>
                </a:solidFill>
                <a:latin typeface="Malgun Gothic" pitchFamily="34" charset="0"/>
                <a:ea typeface="Malgun Gothic" pitchFamily="34" charset="-122"/>
                <a:cs typeface="Malgun Gothic" pitchFamily="34" charset="-120"/>
              </a:rPr>
              <a:t>절차 위반으로 통지 무효 확정</a:t>
            </a:r>
            <a:endParaRPr lang="en-US" sz="16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Ⅳ</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원풍약품상사 재고 실사 결과</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전산 재고와 실재고 일치 확인</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417320"/>
            <a:ext cx="6309360" cy="2331720"/>
          </a:xfrm>
          <a:prstGeom prst="roundRect">
            <a:avLst>
              <a:gd name="adj" fmla="val 4706"/>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Text 5"/>
          <p:cNvSpPr txBox="1"/>
          <p:nvPr/>
        </p:nvSpPr>
        <p:spPr>
          <a:xfrm>
            <a:off x="777240" y="1508760"/>
            <a:ext cx="457200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재고 실사 개요</a:t>
            </a:r>
            <a:endParaRPr lang="en-US" sz="1400" dirty="0"/>
          </a:p>
        </p:txBody>
      </p:sp>
      <p:sp>
        <p:nvSpPr>
          <p:cNvPr id="10" name="Text 6"/>
          <p:cNvSpPr txBox="1"/>
          <p:nvPr/>
        </p:nvSpPr>
        <p:spPr>
          <a:xfrm>
            <a:off x="777240" y="1874520"/>
            <a:ext cx="5943600" cy="1828800"/>
          </a:xfrm>
          <a:prstGeom prst="rect">
            <a:avLst/>
          </a:prstGeom>
          <a:noFill/>
          <a:ln/>
        </p:spPr>
        <p:txBody>
          <a:bodyPr wrap="square" lIns="0" tIns="0" rIns="0" bIns="0" rtlCol="0" anchor="t"/>
          <a:lstStyle/>
          <a:p>
            <a:pPr indent="0" marL="0">
              <a:buNone/>
            </a:pPr>
            <a:r>
              <a:rPr lang="en-US" sz="1500" b="1" dirty="0">
                <a:solidFill>
                  <a:srgbClr val="F3DCA4"/>
                </a:solidFill>
                <a:latin typeface="Malgun Gothic" pitchFamily="34" charset="0"/>
                <a:ea typeface="Malgun Gothic" pitchFamily="34" charset="-122"/>
                <a:cs typeface="Malgun Gothic" pitchFamily="34" charset="-120"/>
              </a:rPr>
              <a:t>일자  </a:t>
            </a:r>
            <a:pPr indent="0" marL="0">
              <a:spcAft>
                <a:spcPts val="800"/>
              </a:spcAft>
              <a:buNone/>
            </a:pPr>
            <a:r>
              <a:rPr lang="en-US" sz="1500" dirty="0">
                <a:solidFill>
                  <a:srgbClr val="F5F2EA"/>
                </a:solidFill>
                <a:latin typeface="Malgun Gothic" pitchFamily="34" charset="0"/>
                <a:ea typeface="Malgun Gothic" pitchFamily="34" charset="-122"/>
                <a:cs typeface="Malgun Gothic" pitchFamily="34" charset="-120"/>
              </a:rPr>
              <a:t>2026년 9월 28일</a:t>
            </a:r>
            <a:endParaRPr lang="en-US" sz="1500" dirty="0"/>
          </a:p>
          <a:p>
            <a:pPr indent="0" marL="0">
              <a:buNone/>
            </a:pPr>
            <a:r>
              <a:rPr lang="en-US" sz="1500" b="1" dirty="0">
                <a:solidFill>
                  <a:srgbClr val="F3DCA4"/>
                </a:solidFill>
                <a:latin typeface="Malgun Gothic" pitchFamily="34" charset="0"/>
                <a:ea typeface="Malgun Gothic" pitchFamily="34" charset="-122"/>
                <a:cs typeface="Malgun Gothic" pitchFamily="34" charset="-120"/>
              </a:rPr>
              <a:t>실사자  </a:t>
            </a:r>
            <a:pPr indent="0" marL="0">
              <a:buNone/>
            </a:pPr>
            <a:r>
              <a:rPr lang="en-US" sz="1500" dirty="0">
                <a:solidFill>
                  <a:srgbClr val="F5F2EA"/>
                </a:solidFill>
                <a:latin typeface="Malgun Gothic" pitchFamily="34" charset="0"/>
                <a:ea typeface="Malgun Gothic" pitchFamily="34" charset="-122"/>
                <a:cs typeface="Malgun Gothic" pitchFamily="34" charset="-120"/>
              </a:rPr>
              <a:t>경영전략본부 박성준·최기윤·정현우</a:t>
            </a:r>
            <a:endParaRPr lang="en-US" sz="1500" dirty="0"/>
          </a:p>
          <a:p>
            <a:pPr indent="0" marL="0">
              <a:spcAft>
                <a:spcPts val="800"/>
              </a:spcAft>
              <a:buNone/>
            </a:pPr>
            <a:r>
              <a:rPr lang="en-US" sz="1300" dirty="0">
                <a:solidFill>
                  <a:srgbClr val="A9B3C9"/>
                </a:solidFill>
                <a:latin typeface="Malgun Gothic" pitchFamily="34" charset="0"/>
                <a:ea typeface="Malgun Gothic" pitchFamily="34" charset="-122"/>
                <a:cs typeface="Malgun Gothic" pitchFamily="34" charset="-120"/>
              </a:rPr>
              <a:t>+ 원풍약품상사 손광식·유경천·진성오</a:t>
            </a:r>
            <a:endParaRPr lang="en-US" sz="1500" dirty="0"/>
          </a:p>
          <a:p>
            <a:pPr indent="0" marL="0">
              <a:buNone/>
            </a:pPr>
            <a:r>
              <a:rPr lang="en-US" sz="1500" b="1" dirty="0">
                <a:solidFill>
                  <a:srgbClr val="F3DCA4"/>
                </a:solidFill>
                <a:latin typeface="Malgun Gothic" pitchFamily="34" charset="0"/>
                <a:ea typeface="Malgun Gothic" pitchFamily="34" charset="-122"/>
                <a:cs typeface="Malgun Gothic" pitchFamily="34" charset="-120"/>
              </a:rPr>
              <a:t>중점  </a:t>
            </a:r>
            <a:pPr indent="0" marL="0">
              <a:buNone/>
            </a:pPr>
            <a:r>
              <a:rPr lang="en-US" sz="1500" dirty="0">
                <a:solidFill>
                  <a:srgbClr val="F5F2EA"/>
                </a:solidFill>
                <a:latin typeface="Malgun Gothic" pitchFamily="34" charset="0"/>
                <a:ea typeface="Malgun Gothic" pitchFamily="34" charset="-122"/>
                <a:cs typeface="Malgun Gothic" pitchFamily="34" charset="-120"/>
              </a:rPr>
              <a:t>전산 재고와 실사 재고 일치 확인</a:t>
            </a:r>
            <a:endParaRPr lang="en-US" sz="1500" dirty="0"/>
          </a:p>
        </p:txBody>
      </p:sp>
      <p:sp>
        <p:nvSpPr>
          <p:cNvPr id="11" name="card"/>
          <p:cNvSpPr/>
          <p:nvPr/>
        </p:nvSpPr>
        <p:spPr>
          <a:xfrm>
            <a:off x="7040880" y="1417320"/>
            <a:ext cx="2286000" cy="2331720"/>
          </a:xfrm>
          <a:prstGeom prst="roundRect">
            <a:avLst>
              <a:gd name="adj" fmla="val 48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2" name="Text 8"/>
          <p:cNvSpPr txBox="1"/>
          <p:nvPr/>
        </p:nvSpPr>
        <p:spPr>
          <a:xfrm>
            <a:off x="7269480" y="1554480"/>
            <a:ext cx="1828800" cy="320040"/>
          </a:xfrm>
          <a:prstGeom prst="rect">
            <a:avLst/>
          </a:prstGeom>
          <a:noFill/>
          <a:ln/>
        </p:spPr>
        <p:txBody>
          <a:bodyPr wrap="square" lIns="0" tIns="0" rIns="0" bIns="0" rtlCol="0" anchor="t"/>
          <a:lstStyle/>
          <a:p>
            <a:pPr indent="0" marL="0">
              <a:buNone/>
            </a:pPr>
            <a:r>
              <a:rPr lang="en-US" sz="1300" dirty="0">
                <a:solidFill>
                  <a:srgbClr val="A9B3C9"/>
                </a:solidFill>
                <a:latin typeface="Malgun Gothic" pitchFamily="34" charset="0"/>
                <a:ea typeface="Malgun Gothic" pitchFamily="34" charset="-122"/>
                <a:cs typeface="Malgun Gothic" pitchFamily="34" charset="-120"/>
              </a:rPr>
              <a:t>폐기 재고 예상</a:t>
            </a:r>
            <a:endParaRPr lang="en-US" sz="1300" dirty="0"/>
          </a:p>
        </p:txBody>
      </p:sp>
      <p:sp>
        <p:nvSpPr>
          <p:cNvPr id="13" name="Text 9"/>
          <p:cNvSpPr txBox="1"/>
          <p:nvPr/>
        </p:nvSpPr>
        <p:spPr>
          <a:xfrm>
            <a:off x="7269480" y="1874520"/>
            <a:ext cx="1828800" cy="1417320"/>
          </a:xfrm>
          <a:prstGeom prst="rect">
            <a:avLst/>
          </a:prstGeom>
          <a:noFill/>
          <a:ln/>
        </p:spPr>
        <p:txBody>
          <a:bodyPr wrap="square" lIns="0" tIns="0" rIns="0" bIns="0" rtlCol="0" anchor="ctr"/>
          <a:lstStyle/>
          <a:p>
            <a:pPr indent="0" marL="0">
              <a:buNone/>
            </a:pPr>
            <a:r>
              <a:rPr lang="en-US" sz="3800" b="1" dirty="0">
                <a:solidFill>
                  <a:srgbClr val="FF6B73"/>
                </a:solidFill>
                <a:latin typeface="Malgun Gothic" pitchFamily="34" charset="0"/>
                <a:ea typeface="Malgun Gothic" pitchFamily="34" charset="-122"/>
                <a:cs typeface="Malgun Gothic" pitchFamily="34" charset="-120"/>
              </a:rPr>
              <a:t>7.5억</a:t>
            </a:r>
            <a:endParaRPr lang="en-US" sz="3800" dirty="0"/>
          </a:p>
        </p:txBody>
      </p:sp>
      <p:sp>
        <p:nvSpPr>
          <p:cNvPr id="14" name="Text 10"/>
          <p:cNvSpPr txBox="1"/>
          <p:nvPr/>
        </p:nvSpPr>
        <p:spPr>
          <a:xfrm>
            <a:off x="7269480" y="3291840"/>
            <a:ext cx="1828800" cy="320040"/>
          </a:xfrm>
          <a:prstGeom prst="rect">
            <a:avLst/>
          </a:prstGeom>
          <a:noFill/>
          <a:ln/>
        </p:spPr>
        <p:txBody>
          <a:bodyPr wrap="square" lIns="0" tIns="0" rIns="0" bIns="0" rtlCol="0" anchor="t"/>
          <a:lstStyle/>
          <a:p>
            <a:pPr indent="0" marL="0">
              <a:buNone/>
            </a:pPr>
            <a:r>
              <a:rPr lang="en-US" sz="1300" dirty="0">
                <a:solidFill>
                  <a:srgbClr val="A9B3C9"/>
                </a:solidFill>
                <a:latin typeface="Malgun Gothic" pitchFamily="34" charset="0"/>
                <a:ea typeface="Malgun Gothic" pitchFamily="34" charset="-122"/>
                <a:cs typeface="Malgun Gothic" pitchFamily="34" charset="-120"/>
              </a:rPr>
              <a:t>유통기한 경과분</a:t>
            </a:r>
            <a:endParaRPr lang="en-US" sz="1300" dirty="0"/>
          </a:p>
        </p:txBody>
      </p:sp>
      <p:sp>
        <p:nvSpPr>
          <p:cNvPr id="15" name="Text 11"/>
          <p:cNvSpPr txBox="1"/>
          <p:nvPr/>
        </p:nvSpPr>
        <p:spPr>
          <a:xfrm>
            <a:off x="9281160" y="2286000"/>
            <a:ext cx="457200" cy="54864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16" name="card"/>
          <p:cNvSpPr/>
          <p:nvPr/>
        </p:nvSpPr>
        <p:spPr>
          <a:xfrm>
            <a:off x="9692640" y="1417320"/>
            <a:ext cx="1965960" cy="2331720"/>
          </a:xfrm>
          <a:prstGeom prst="roundRect">
            <a:avLst>
              <a:gd name="adj" fmla="val 5581"/>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7" name="Text 13"/>
          <p:cNvSpPr txBox="1"/>
          <p:nvPr/>
        </p:nvSpPr>
        <p:spPr>
          <a:xfrm>
            <a:off x="9921240" y="1554480"/>
            <a:ext cx="1508760" cy="320040"/>
          </a:xfrm>
          <a:prstGeom prst="rect">
            <a:avLst/>
          </a:prstGeom>
          <a:noFill/>
          <a:ln/>
        </p:spPr>
        <p:txBody>
          <a:bodyPr wrap="square" lIns="0" tIns="0" rIns="0" bIns="0" rtlCol="0" anchor="t"/>
          <a:lstStyle/>
          <a:p>
            <a:pPr indent="0" marL="0">
              <a:buNone/>
            </a:pPr>
            <a:r>
              <a:rPr lang="en-US" sz="1300" dirty="0">
                <a:solidFill>
                  <a:srgbClr val="A9B3C9"/>
                </a:solidFill>
                <a:latin typeface="Malgun Gothic" pitchFamily="34" charset="0"/>
                <a:ea typeface="Malgun Gothic" pitchFamily="34" charset="-122"/>
                <a:cs typeface="Malgun Gothic" pitchFamily="34" charset="-120"/>
              </a:rPr>
              <a:t>법인세 절감 (24.2%)</a:t>
            </a:r>
            <a:endParaRPr lang="en-US" sz="1300" dirty="0"/>
          </a:p>
        </p:txBody>
      </p:sp>
      <p:sp>
        <p:nvSpPr>
          <p:cNvPr id="18" name="Text 14"/>
          <p:cNvSpPr txBox="1"/>
          <p:nvPr/>
        </p:nvSpPr>
        <p:spPr>
          <a:xfrm>
            <a:off x="9921240" y="1874520"/>
            <a:ext cx="1508760" cy="1417320"/>
          </a:xfrm>
          <a:prstGeom prst="rect">
            <a:avLst/>
          </a:prstGeom>
          <a:noFill/>
          <a:ln/>
        </p:spPr>
        <p:txBody>
          <a:bodyPr wrap="square" lIns="0" tIns="0" rIns="0" bIns="0" rtlCol="0" anchor="ctr"/>
          <a:lstStyle/>
          <a:p>
            <a:pPr indent="0" marL="0">
              <a:buNone/>
            </a:pPr>
            <a:r>
              <a:rPr lang="en-US" sz="3800" b="1" dirty="0">
                <a:solidFill>
                  <a:srgbClr val="F3DCA4"/>
                </a:solidFill>
                <a:latin typeface="Malgun Gothic" pitchFamily="34" charset="0"/>
                <a:ea typeface="Malgun Gothic" pitchFamily="34" charset="-122"/>
                <a:cs typeface="Malgun Gothic" pitchFamily="34" charset="-120"/>
              </a:rPr>
              <a:t>1.8억</a:t>
            </a:r>
            <a:endParaRPr lang="en-US" sz="3800" dirty="0"/>
          </a:p>
        </p:txBody>
      </p:sp>
      <p:sp>
        <p:nvSpPr>
          <p:cNvPr id="19" name="Text 15"/>
          <p:cNvSpPr txBox="1"/>
          <p:nvPr/>
        </p:nvSpPr>
        <p:spPr>
          <a:xfrm>
            <a:off x="9921240" y="3291840"/>
            <a:ext cx="1508760" cy="320040"/>
          </a:xfrm>
          <a:prstGeom prst="rect">
            <a:avLst/>
          </a:prstGeom>
          <a:noFill/>
          <a:ln/>
        </p:spPr>
        <p:txBody>
          <a:bodyPr wrap="square" lIns="0" tIns="0" rIns="0" bIns="0" rtlCol="0" anchor="t"/>
          <a:lstStyle/>
          <a:p>
            <a:pPr indent="0" marL="0">
              <a:buNone/>
            </a:pPr>
            <a:r>
              <a:rPr lang="en-US" sz="1300" dirty="0">
                <a:solidFill>
                  <a:srgbClr val="A9B3C9"/>
                </a:solidFill>
                <a:latin typeface="Malgun Gothic" pitchFamily="34" charset="0"/>
                <a:ea typeface="Malgun Gothic" pitchFamily="34" charset="-122"/>
                <a:cs typeface="Malgun Gothic" pitchFamily="34" charset="-120"/>
              </a:rPr>
              <a:t>법인세+지방소득세</a:t>
            </a:r>
            <a:endParaRPr lang="en-US" sz="1300" dirty="0"/>
          </a:p>
        </p:txBody>
      </p:sp>
      <p:sp>
        <p:nvSpPr>
          <p:cNvPr id="20" name="card"/>
          <p:cNvSpPr/>
          <p:nvPr/>
        </p:nvSpPr>
        <p:spPr>
          <a:xfrm>
            <a:off x="548640" y="3931920"/>
            <a:ext cx="11109960" cy="2331720"/>
          </a:xfrm>
          <a:prstGeom prst="roundRect">
            <a:avLst>
              <a:gd name="adj" fmla="val 4706"/>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1" name="Text 17"/>
          <p:cNvSpPr txBox="1"/>
          <p:nvPr/>
        </p:nvSpPr>
        <p:spPr>
          <a:xfrm>
            <a:off x="777240" y="4005072"/>
            <a:ext cx="3657600" cy="274320"/>
          </a:xfrm>
          <a:prstGeom prst="rect">
            <a:avLst/>
          </a:prstGeom>
          <a:noFill/>
          <a:ln/>
        </p:spPr>
        <p:txBody>
          <a:bodyPr wrap="square" lIns="0" tIns="0" rIns="0" bIns="0" rtlCol="0" anchor="t"/>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재고 실사 결과표</a:t>
            </a:r>
            <a:endParaRPr lang="en-US" sz="1300" dirty="0"/>
          </a:p>
        </p:txBody>
      </p:sp>
      <p:sp>
        <p:nvSpPr>
          <p:cNvPr id="22" name="Shape 18"/>
          <p:cNvSpPr/>
          <p:nvPr/>
        </p:nvSpPr>
        <p:spPr>
          <a:xfrm>
            <a:off x="1965960" y="4297680"/>
            <a:ext cx="8275320" cy="1828800"/>
          </a:xfrm>
          <a:prstGeom prst="rect">
            <a:avLst/>
          </a:prstGeom>
          <a:solidFill>
            <a:srgbClr val="FFFFFF"/>
          </a:solidFill>
          <a:ln w="12700">
            <a:solidFill>
              <a:srgbClr val="FFFFFF"/>
            </a:solidFill>
            <a:prstDash val="solid"/>
          </a:ln>
          <a:effectLst>
            <a:outerShdw sx="100000" sy="100000" kx="0" ky="0" algn="bl" rotWithShape="0" blurRad="177800" dist="76200" dir="5400000">
              <a:srgbClr val="000000">
                <a:alpha val="50000"/>
              </a:srgbClr>
            </a:outerShdw>
          </a:effectLst>
        </p:spPr>
        <p:txBody>
          <a:bodyPr/>
          <a:p/>
        </p:txBody>
      </p:sp>
      <p:pic>
        <p:nvPicPr>
          <p:cNvPr id="23" name="Image 1" descr="D:\Desktop\타뱅발표\assets\inventory.jpg">    </p:cNvPr>
          <p:cNvPicPr>
            <a:picLocks noChangeAspect="1"/>
          </p:cNvPicPr>
          <p:nvPr/>
        </p:nvPicPr>
        <p:blipFill>
          <a:blip r:embed="rId2"/>
          <a:srcRect l="0" r="0" t="0" b="0"/>
          <a:stretch/>
        </p:blipFill>
        <p:spPr>
          <a:xfrm>
            <a:off x="2011680" y="4315968"/>
            <a:ext cx="8183880" cy="1792224"/>
          </a:xfrm>
          <a:prstGeom prst="rect">
            <a:avLst/>
          </a:prstGeom>
        </p:spPr>
      </p:pic>
      <p:sp>
        <p:nvSpPr>
          <p:cNvPr id="24" name="Text 19"/>
          <p:cNvSpPr txBox="1"/>
          <p:nvPr/>
        </p:nvSpPr>
        <p:spPr>
          <a:xfrm>
            <a:off x="6858000" y="4005072"/>
            <a:ext cx="4572000" cy="274320"/>
          </a:xfrm>
          <a:prstGeom prst="rect">
            <a:avLst/>
          </a:prstGeom>
          <a:noFill/>
          <a:ln/>
        </p:spPr>
        <p:txBody>
          <a:bodyPr wrap="square" lIns="0" tIns="0" rIns="0" bIns="0" rtlCol="0" anchor="t"/>
          <a:lstStyle/>
          <a:p>
            <a:pPr algn="r" indent="0" marL="0">
              <a:buNone/>
            </a:pPr>
            <a:r>
              <a:rPr lang="en-US" sz="1200" dirty="0">
                <a:solidFill>
                  <a:srgbClr val="A9B3C9"/>
                </a:solidFill>
                <a:latin typeface="Malgun Gothic" pitchFamily="34" charset="0"/>
                <a:ea typeface="Malgun Gothic" pitchFamily="34" charset="-122"/>
                <a:cs typeface="Malgun Gothic" pitchFamily="34" charset="-120"/>
              </a:rPr>
              <a:t>※ 2026년도 ERP 개발 완료 후 도입</a:t>
            </a:r>
            <a:endParaRPr lang="en-US" sz="12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Ⅴ</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관계사 에어프레미아㈜ 파견 근무</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수입심사(RA)파트 결원으로 인한 행정업무 지원</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417320"/>
            <a:ext cx="11109960" cy="1691640"/>
          </a:xfrm>
          <a:prstGeom prst="roundRect">
            <a:avLst>
              <a:gd name="adj" fmla="val 6486"/>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Text 5"/>
          <p:cNvSpPr txBox="1"/>
          <p:nvPr/>
        </p:nvSpPr>
        <p:spPr>
          <a:xfrm>
            <a:off x="868680" y="1554480"/>
            <a:ext cx="1371600" cy="274320"/>
          </a:xfrm>
          <a:prstGeom prst="rect">
            <a:avLst/>
          </a:prstGeom>
          <a:noFill/>
          <a:ln/>
        </p:spPr>
        <p:txBody>
          <a:bodyPr wrap="square" lIns="0" tIns="0" rIns="0" bIns="0" rtlCol="0" anchor="t"/>
          <a:lstStyle/>
          <a:p>
            <a:pPr indent="0" marL="0">
              <a:buNone/>
            </a:pPr>
            <a:r>
              <a:rPr lang="en-US" sz="1300" dirty="0">
                <a:solidFill>
                  <a:srgbClr val="A9B3C9"/>
                </a:solidFill>
                <a:latin typeface="Malgun Gothic" pitchFamily="34" charset="0"/>
                <a:ea typeface="Malgun Gothic" pitchFamily="34" charset="-122"/>
                <a:cs typeface="Malgun Gothic" pitchFamily="34" charset="-120"/>
              </a:rPr>
              <a:t>파견자</a:t>
            </a:r>
            <a:endParaRPr lang="en-US" sz="1300" dirty="0"/>
          </a:p>
        </p:txBody>
      </p:sp>
      <p:sp>
        <p:nvSpPr>
          <p:cNvPr id="10" name="Text 6"/>
          <p:cNvSpPr txBox="1"/>
          <p:nvPr/>
        </p:nvSpPr>
        <p:spPr>
          <a:xfrm>
            <a:off x="868680" y="1874520"/>
            <a:ext cx="1645920" cy="7315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박성준</a:t>
            </a:r>
            <a:endParaRPr lang="en-US" sz="3000" dirty="0"/>
          </a:p>
        </p:txBody>
      </p:sp>
      <p:sp>
        <p:nvSpPr>
          <p:cNvPr id="11" name="Text 7"/>
          <p:cNvSpPr txBox="1"/>
          <p:nvPr/>
        </p:nvSpPr>
        <p:spPr>
          <a:xfrm>
            <a:off x="2834640" y="1600200"/>
            <a:ext cx="2743200" cy="411480"/>
          </a:xfrm>
          <a:prstGeom prst="rect">
            <a:avLst/>
          </a:prstGeom>
          <a:noFill/>
          <a:ln/>
        </p:spPr>
        <p:txBody>
          <a:bodyPr wrap="square" lIns="0" tIns="0" rIns="0" bIns="0" rtlCol="0" anchor="t"/>
          <a:lstStyle/>
          <a:p>
            <a:pPr indent="0" marL="0">
              <a:buNone/>
            </a:pPr>
            <a:r>
              <a:rPr lang="en-US" sz="2000" b="1" dirty="0">
                <a:solidFill>
                  <a:srgbClr val="F3DCA4"/>
                </a:solidFill>
                <a:latin typeface="Malgun Gothic" pitchFamily="34" charset="0"/>
                <a:ea typeface="Malgun Gothic" pitchFamily="34" charset="-122"/>
                <a:cs typeface="Malgun Gothic" pitchFamily="34" charset="-120"/>
              </a:rPr>
              <a:t>2026. 05. 18</a:t>
            </a:r>
            <a:endParaRPr lang="en-US" sz="2000" dirty="0"/>
          </a:p>
        </p:txBody>
      </p:sp>
      <p:sp>
        <p:nvSpPr>
          <p:cNvPr id="12" name="Text 8"/>
          <p:cNvSpPr txBox="1"/>
          <p:nvPr/>
        </p:nvSpPr>
        <p:spPr>
          <a:xfrm>
            <a:off x="8778240" y="1600200"/>
            <a:ext cx="2651760" cy="411480"/>
          </a:xfrm>
          <a:prstGeom prst="rect">
            <a:avLst/>
          </a:prstGeom>
          <a:noFill/>
          <a:ln/>
        </p:spPr>
        <p:txBody>
          <a:bodyPr wrap="square" lIns="0" tIns="0" rIns="0" bIns="0" rtlCol="0" anchor="t"/>
          <a:lstStyle/>
          <a:p>
            <a:pPr algn="r" indent="0" marL="0">
              <a:buNone/>
            </a:pPr>
            <a:r>
              <a:rPr lang="en-US" sz="2000" b="1" dirty="0">
                <a:solidFill>
                  <a:srgbClr val="F3DCA4"/>
                </a:solidFill>
                <a:latin typeface="Malgun Gothic" pitchFamily="34" charset="0"/>
                <a:ea typeface="Malgun Gothic" pitchFamily="34" charset="-122"/>
                <a:cs typeface="Malgun Gothic" pitchFamily="34" charset="-120"/>
              </a:rPr>
              <a:t>2026. 07. 16</a:t>
            </a:r>
            <a:endParaRPr lang="en-US" sz="2000" dirty="0"/>
          </a:p>
        </p:txBody>
      </p:sp>
      <p:sp>
        <p:nvSpPr>
          <p:cNvPr id="13" name="Shape 9"/>
          <p:cNvSpPr/>
          <p:nvPr/>
        </p:nvSpPr>
        <p:spPr>
          <a:xfrm>
            <a:off x="2834640" y="2148840"/>
            <a:ext cx="8595360" cy="201168"/>
          </a:xfrm>
          <a:prstGeom prst="roundRect">
            <a:avLst>
              <a:gd name="adj" fmla="val 50000"/>
            </a:avLst>
          </a:prstGeom>
          <a:solidFill>
            <a:srgbClr val="D9B66F"/>
          </a:solidFill>
          <a:ln w="12700">
            <a:solidFill>
              <a:srgbClr val="D9B66F"/>
            </a:solidFill>
            <a:prstDash val="solid"/>
          </a:ln>
          <a:effectLst>
            <a:outerShdw sx="100000" sy="100000" kx="0" ky="0" algn="bl" rotWithShape="0" blurRad="177800" dist="50800" dir="5400000">
              <a:srgbClr val="D9B66F">
                <a:alpha val="50000"/>
              </a:srgbClr>
            </a:outerShdw>
          </a:effectLst>
        </p:spPr>
        <p:txBody>
          <a:bodyPr/>
          <a:p/>
        </p:txBody>
      </p:sp>
      <p:sp>
        <p:nvSpPr>
          <p:cNvPr id="14" name="Text 10"/>
          <p:cNvSpPr txBox="1"/>
          <p:nvPr/>
        </p:nvSpPr>
        <p:spPr>
          <a:xfrm>
            <a:off x="2834640" y="2468880"/>
            <a:ext cx="8595360" cy="36576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약 2개월 · RA 행정업무 지원</a:t>
            </a:r>
            <a:endParaRPr lang="en-US" sz="1400" dirty="0"/>
          </a:p>
        </p:txBody>
      </p:sp>
      <p:sp>
        <p:nvSpPr>
          <p:cNvPr id="15" name="Text 11"/>
          <p:cNvSpPr txBox="1"/>
          <p:nvPr/>
        </p:nvSpPr>
        <p:spPr>
          <a:xfrm>
            <a:off x="548640" y="3337560"/>
            <a:ext cx="457200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수행 업무 결과</a:t>
            </a:r>
            <a:endParaRPr lang="en-US" sz="1400" dirty="0"/>
          </a:p>
        </p:txBody>
      </p:sp>
      <p:sp>
        <p:nvSpPr>
          <p:cNvPr id="16" name="card"/>
          <p:cNvSpPr/>
          <p:nvPr/>
        </p:nvSpPr>
        <p:spPr>
          <a:xfrm>
            <a:off x="548640" y="3749040"/>
            <a:ext cx="251460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7" name="Shape 13"/>
          <p:cNvSpPr/>
          <p:nvPr/>
        </p:nvSpPr>
        <p:spPr>
          <a:xfrm>
            <a:off x="777240" y="3931920"/>
            <a:ext cx="457200" cy="457200"/>
          </a:xfrm>
          <a:prstGeom prst="ellipse">
            <a:avLst/>
          </a:prstGeom>
          <a:solidFill>
            <a:srgbClr val="D9B66F"/>
          </a:solidFill>
          <a:ln w="12700">
            <a:solidFill>
              <a:srgbClr val="D9B66F"/>
            </a:solidFill>
            <a:prstDash val="solid"/>
          </a:ln>
        </p:spPr>
        <p:txBody>
          <a:bodyPr/>
          <a:p/>
        </p:txBody>
      </p:sp>
      <p:sp>
        <p:nvSpPr>
          <p:cNvPr id="18" name="Text 14"/>
          <p:cNvSpPr txBox="1"/>
          <p:nvPr/>
        </p:nvSpPr>
        <p:spPr>
          <a:xfrm>
            <a:off x="777240" y="3931920"/>
            <a:ext cx="457200" cy="45720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1</a:t>
            </a:r>
            <a:endParaRPr lang="en-US" sz="1600" dirty="0"/>
          </a:p>
        </p:txBody>
      </p:sp>
      <p:sp>
        <p:nvSpPr>
          <p:cNvPr id="19" name="Text 15"/>
          <p:cNvSpPr txBox="1"/>
          <p:nvPr/>
        </p:nvSpPr>
        <p:spPr>
          <a:xfrm>
            <a:off x="777240" y="4526280"/>
            <a:ext cx="2148840" cy="731520"/>
          </a:xfrm>
          <a:prstGeom prst="rect">
            <a:avLst/>
          </a:prstGeom>
          <a:noFill/>
          <a:ln/>
        </p:spPr>
        <p:txBody>
          <a:bodyPr wrap="square" lIns="0" tIns="0" rIns="0" bIns="0" rtlCol="0" anchor="t"/>
          <a:lstStyle/>
          <a:p>
            <a:pPr indent="0" marL="0">
              <a:buNone/>
            </a:pPr>
            <a:r>
              <a:rPr lang="en-US" sz="1600" b="1" dirty="0">
                <a:solidFill>
                  <a:srgbClr val="F5F2EA"/>
                </a:solidFill>
                <a:latin typeface="Malgun Gothic" pitchFamily="34" charset="0"/>
                <a:ea typeface="Malgun Gothic" pitchFamily="34" charset="-122"/>
                <a:cs typeface="Malgun Gothic" pitchFamily="34" charset="-120"/>
              </a:rPr>
              <a:t>수입심사 업무 Process 숙지</a:t>
            </a:r>
            <a:endParaRPr lang="en-US" sz="1600" dirty="0"/>
          </a:p>
        </p:txBody>
      </p:sp>
      <p:sp>
        <p:nvSpPr>
          <p:cNvPr id="20" name="Text 16"/>
          <p:cNvSpPr txBox="1"/>
          <p:nvPr/>
        </p:nvSpPr>
        <p:spPr>
          <a:xfrm>
            <a:off x="3035808" y="4297680"/>
            <a:ext cx="365760" cy="45720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21" name="card"/>
          <p:cNvSpPr/>
          <p:nvPr/>
        </p:nvSpPr>
        <p:spPr>
          <a:xfrm>
            <a:off x="3383280" y="3749040"/>
            <a:ext cx="251460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2" name="Shape 18"/>
          <p:cNvSpPr/>
          <p:nvPr/>
        </p:nvSpPr>
        <p:spPr>
          <a:xfrm>
            <a:off x="3611880" y="3931920"/>
            <a:ext cx="457200" cy="457200"/>
          </a:xfrm>
          <a:prstGeom prst="ellipse">
            <a:avLst/>
          </a:prstGeom>
          <a:solidFill>
            <a:srgbClr val="D9B66F"/>
          </a:solidFill>
          <a:ln w="12700">
            <a:solidFill>
              <a:srgbClr val="D9B66F"/>
            </a:solidFill>
            <a:prstDash val="solid"/>
          </a:ln>
        </p:spPr>
        <p:txBody>
          <a:bodyPr/>
          <a:p/>
        </p:txBody>
      </p:sp>
      <p:sp>
        <p:nvSpPr>
          <p:cNvPr id="23" name="Text 19"/>
          <p:cNvSpPr txBox="1"/>
          <p:nvPr/>
        </p:nvSpPr>
        <p:spPr>
          <a:xfrm>
            <a:off x="3611880" y="3931920"/>
            <a:ext cx="457200" cy="45720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2</a:t>
            </a:r>
            <a:endParaRPr lang="en-US" sz="1600" dirty="0"/>
          </a:p>
        </p:txBody>
      </p:sp>
      <p:sp>
        <p:nvSpPr>
          <p:cNvPr id="24" name="Text 20"/>
          <p:cNvSpPr txBox="1"/>
          <p:nvPr/>
        </p:nvSpPr>
        <p:spPr>
          <a:xfrm>
            <a:off x="3611880" y="4526280"/>
            <a:ext cx="2148840" cy="731520"/>
          </a:xfrm>
          <a:prstGeom prst="rect">
            <a:avLst/>
          </a:prstGeom>
          <a:noFill/>
          <a:ln/>
        </p:spPr>
        <p:txBody>
          <a:bodyPr wrap="square" lIns="0" tIns="0" rIns="0" bIns="0" rtlCol="0" anchor="t"/>
          <a:lstStyle/>
          <a:p>
            <a:pPr indent="0" marL="0">
              <a:buNone/>
            </a:pPr>
            <a:r>
              <a:rPr lang="en-US" sz="1600" b="1" dirty="0">
                <a:solidFill>
                  <a:srgbClr val="F5F2EA"/>
                </a:solidFill>
                <a:latin typeface="Malgun Gothic" pitchFamily="34" charset="0"/>
                <a:ea typeface="Malgun Gothic" pitchFamily="34" charset="-122"/>
                <a:cs typeface="Malgun Gothic" pitchFamily="34" charset="-120"/>
              </a:rPr>
              <a:t>거래처 정산 이상 사례 확인</a:t>
            </a:r>
            <a:endParaRPr lang="en-US" sz="1600" dirty="0"/>
          </a:p>
        </p:txBody>
      </p:sp>
      <p:sp>
        <p:nvSpPr>
          <p:cNvPr id="25" name="Text 21"/>
          <p:cNvSpPr txBox="1"/>
          <p:nvPr/>
        </p:nvSpPr>
        <p:spPr>
          <a:xfrm>
            <a:off x="5870448" y="4297680"/>
            <a:ext cx="365760" cy="45720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26" name="card"/>
          <p:cNvSpPr/>
          <p:nvPr/>
        </p:nvSpPr>
        <p:spPr>
          <a:xfrm>
            <a:off x="6217920" y="3749040"/>
            <a:ext cx="251460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7" name="Shape 23"/>
          <p:cNvSpPr/>
          <p:nvPr/>
        </p:nvSpPr>
        <p:spPr>
          <a:xfrm>
            <a:off x="6446520" y="3931920"/>
            <a:ext cx="457200" cy="457200"/>
          </a:xfrm>
          <a:prstGeom prst="ellipse">
            <a:avLst/>
          </a:prstGeom>
          <a:solidFill>
            <a:srgbClr val="D9B66F"/>
          </a:solidFill>
          <a:ln w="12700">
            <a:solidFill>
              <a:srgbClr val="D9B66F"/>
            </a:solidFill>
            <a:prstDash val="solid"/>
          </a:ln>
        </p:spPr>
        <p:txBody>
          <a:bodyPr/>
          <a:p/>
        </p:txBody>
      </p:sp>
      <p:sp>
        <p:nvSpPr>
          <p:cNvPr id="28" name="Text 24"/>
          <p:cNvSpPr txBox="1"/>
          <p:nvPr/>
        </p:nvSpPr>
        <p:spPr>
          <a:xfrm>
            <a:off x="6446520" y="3931920"/>
            <a:ext cx="457200" cy="45720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3</a:t>
            </a:r>
            <a:endParaRPr lang="en-US" sz="1600" dirty="0"/>
          </a:p>
        </p:txBody>
      </p:sp>
      <p:sp>
        <p:nvSpPr>
          <p:cNvPr id="29" name="Text 25"/>
          <p:cNvSpPr txBox="1"/>
          <p:nvPr/>
        </p:nvSpPr>
        <p:spPr>
          <a:xfrm>
            <a:off x="6446520" y="4526280"/>
            <a:ext cx="2148840" cy="731520"/>
          </a:xfrm>
          <a:prstGeom prst="rect">
            <a:avLst/>
          </a:prstGeom>
          <a:noFill/>
          <a:ln/>
        </p:spPr>
        <p:txBody>
          <a:bodyPr wrap="square" lIns="0" tIns="0" rIns="0" bIns="0" rtlCol="0" anchor="t"/>
          <a:lstStyle/>
          <a:p>
            <a:pPr indent="0" marL="0">
              <a:buNone/>
            </a:pPr>
            <a:r>
              <a:rPr lang="en-US" sz="1600" b="1" dirty="0">
                <a:solidFill>
                  <a:srgbClr val="F5F2EA"/>
                </a:solidFill>
                <a:latin typeface="Malgun Gothic" pitchFamily="34" charset="0"/>
                <a:ea typeface="Malgun Gothic" pitchFamily="34" charset="-122"/>
                <a:cs typeface="Malgun Gothic" pitchFamily="34" charset="-120"/>
              </a:rPr>
              <a:t>프로모션 오남용 확인</a:t>
            </a:r>
            <a:endParaRPr lang="en-US" sz="1600" dirty="0"/>
          </a:p>
        </p:txBody>
      </p:sp>
      <p:sp>
        <p:nvSpPr>
          <p:cNvPr id="30" name="Text 26"/>
          <p:cNvSpPr txBox="1"/>
          <p:nvPr/>
        </p:nvSpPr>
        <p:spPr>
          <a:xfrm>
            <a:off x="8705088" y="4297680"/>
            <a:ext cx="365760" cy="45720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31" name="card"/>
          <p:cNvSpPr/>
          <p:nvPr/>
        </p:nvSpPr>
        <p:spPr>
          <a:xfrm>
            <a:off x="9052560" y="3749040"/>
            <a:ext cx="2514600" cy="1554480"/>
          </a:xfrm>
          <a:prstGeom prst="roundRect">
            <a:avLst>
              <a:gd name="adj" fmla="val 705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2" name="Shape 28"/>
          <p:cNvSpPr/>
          <p:nvPr/>
        </p:nvSpPr>
        <p:spPr>
          <a:xfrm>
            <a:off x="9281160" y="3931920"/>
            <a:ext cx="457200" cy="457200"/>
          </a:xfrm>
          <a:prstGeom prst="ellipse">
            <a:avLst/>
          </a:prstGeom>
          <a:solidFill>
            <a:srgbClr val="D9B66F"/>
          </a:solidFill>
          <a:ln w="12700">
            <a:solidFill>
              <a:srgbClr val="D9B66F"/>
            </a:solidFill>
            <a:prstDash val="solid"/>
          </a:ln>
        </p:spPr>
        <p:txBody>
          <a:bodyPr/>
          <a:p/>
        </p:txBody>
      </p:sp>
      <p:sp>
        <p:nvSpPr>
          <p:cNvPr id="33" name="Text 29"/>
          <p:cNvSpPr txBox="1"/>
          <p:nvPr/>
        </p:nvSpPr>
        <p:spPr>
          <a:xfrm>
            <a:off x="9281160" y="3931920"/>
            <a:ext cx="457200" cy="457200"/>
          </a:xfrm>
          <a:prstGeom prst="rect">
            <a:avLst/>
          </a:prstGeom>
          <a:noFill/>
          <a:ln/>
        </p:spPr>
        <p:txBody>
          <a:bodyPr wrap="square" lIns="0" tIns="0" rIns="0" bIns="0" rtlCol="0" anchor="ctr"/>
          <a:lstStyle/>
          <a:p>
            <a:pPr algn="ctr" indent="0" marL="0">
              <a:buNone/>
            </a:pPr>
            <a:r>
              <a:rPr lang="en-US" sz="1600" b="1" dirty="0">
                <a:solidFill>
                  <a:srgbClr val="1A1305"/>
                </a:solidFill>
                <a:latin typeface="Malgun Gothic" pitchFamily="34" charset="0"/>
                <a:ea typeface="Malgun Gothic" pitchFamily="34" charset="-122"/>
                <a:cs typeface="Malgun Gothic" pitchFamily="34" charset="-120"/>
              </a:rPr>
              <a:t>4</a:t>
            </a:r>
            <a:endParaRPr lang="en-US" sz="1600" dirty="0"/>
          </a:p>
        </p:txBody>
      </p:sp>
      <p:sp>
        <p:nvSpPr>
          <p:cNvPr id="34" name="Text 30"/>
          <p:cNvSpPr txBox="1"/>
          <p:nvPr/>
        </p:nvSpPr>
        <p:spPr>
          <a:xfrm>
            <a:off x="9281160" y="4526280"/>
            <a:ext cx="2148840" cy="731520"/>
          </a:xfrm>
          <a:prstGeom prst="rect">
            <a:avLst/>
          </a:prstGeom>
          <a:noFill/>
          <a:ln/>
        </p:spPr>
        <p:txBody>
          <a:bodyPr wrap="square" lIns="0" tIns="0" rIns="0" bIns="0" rtlCol="0" anchor="t"/>
          <a:lstStyle/>
          <a:p>
            <a:pPr indent="0" marL="0">
              <a:buNone/>
            </a:pPr>
            <a:r>
              <a:rPr lang="en-US" sz="1600" b="1" dirty="0">
                <a:solidFill>
                  <a:srgbClr val="F5F2EA"/>
                </a:solidFill>
                <a:latin typeface="Malgun Gothic" pitchFamily="34" charset="0"/>
                <a:ea typeface="Malgun Gothic" pitchFamily="34" charset="-122"/>
                <a:cs typeface="Malgun Gothic" pitchFamily="34" charset="-120"/>
              </a:rPr>
              <a:t>NF 티켓 운영 검토</a:t>
            </a:r>
            <a:endParaRPr lang="en-US" sz="1600" dirty="0"/>
          </a:p>
        </p:txBody>
      </p:sp>
      <p:sp>
        <p:nvSpPr>
          <p:cNvPr id="35" name="card"/>
          <p:cNvSpPr/>
          <p:nvPr/>
        </p:nvSpPr>
        <p:spPr>
          <a:xfrm>
            <a:off x="548640" y="5532120"/>
            <a:ext cx="11109960" cy="685800"/>
          </a:xfrm>
          <a:prstGeom prst="roundRect">
            <a:avLst>
              <a:gd name="adj" fmla="val 160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6" name="Shape 32"/>
          <p:cNvSpPr/>
          <p:nvPr/>
        </p:nvSpPr>
        <p:spPr>
          <a:xfrm>
            <a:off x="777240" y="5669280"/>
            <a:ext cx="822960" cy="411480"/>
          </a:xfrm>
          <a:prstGeom prst="roundRect">
            <a:avLst>
              <a:gd name="adj" fmla="val 48889"/>
            </a:avLst>
          </a:prstGeom>
          <a:solidFill>
            <a:srgbClr val="D9B66F">
              <a:alpha val="25000"/>
            </a:srgbClr>
          </a:solidFill>
          <a:ln w="12700">
            <a:solidFill>
              <a:srgbClr val="D9B66F"/>
            </a:solidFill>
            <a:prstDash val="solid"/>
          </a:ln>
        </p:spPr>
        <p:txBody>
          <a:bodyPr/>
          <a:p/>
        </p:txBody>
      </p:sp>
      <p:sp>
        <p:nvSpPr>
          <p:cNvPr id="37" name="Text 33"/>
          <p:cNvSpPr txBox="1"/>
          <p:nvPr/>
        </p:nvSpPr>
        <p:spPr>
          <a:xfrm>
            <a:off x="777240" y="5669280"/>
            <a:ext cx="822960" cy="411480"/>
          </a:xfrm>
          <a:prstGeom prst="rect">
            <a:avLst/>
          </a:prstGeom>
          <a:noFill/>
          <a:ln/>
        </p:spPr>
        <p:txBody>
          <a:bodyPr wrap="square" lIns="0" tIns="0" rIns="0" bIns="0" rtlCol="0" anchor="ctr"/>
          <a:lstStyle/>
          <a:p>
            <a:pPr algn="ctr" indent="0" marL="0">
              <a:buNone/>
            </a:pPr>
            <a:r>
              <a:rPr lang="en-US" sz="1300" b="1" dirty="0">
                <a:solidFill>
                  <a:srgbClr val="F3DCA4"/>
                </a:solidFill>
                <a:latin typeface="Malgun Gothic" pitchFamily="34" charset="0"/>
                <a:ea typeface="Malgun Gothic" pitchFamily="34" charset="-122"/>
                <a:cs typeface="Malgun Gothic" pitchFamily="34" charset="-120"/>
              </a:rPr>
              <a:t>결과</a:t>
            </a:r>
            <a:endParaRPr lang="en-US" sz="1300" dirty="0"/>
          </a:p>
        </p:txBody>
      </p:sp>
      <p:sp>
        <p:nvSpPr>
          <p:cNvPr id="38" name="Text 34"/>
          <p:cNvSpPr txBox="1"/>
          <p:nvPr/>
        </p:nvSpPr>
        <p:spPr>
          <a:xfrm>
            <a:off x="1828800" y="5532120"/>
            <a:ext cx="9144000" cy="685800"/>
          </a:xfrm>
          <a:prstGeom prst="rect">
            <a:avLst/>
          </a:prstGeom>
          <a:noFill/>
          <a:ln/>
        </p:spPr>
        <p:txBody>
          <a:bodyPr wrap="square" lIns="0" tIns="0" rIns="0" bIns="0" rtlCol="0" anchor="ctr"/>
          <a:lstStyle/>
          <a:p>
            <a:pPr indent="0" marL="0">
              <a:buNone/>
            </a:pPr>
            <a:r>
              <a:rPr lang="en-US" sz="1800" dirty="0">
                <a:solidFill>
                  <a:srgbClr val="F5F2EA"/>
                </a:solidFill>
                <a:latin typeface="Malgun Gothic" pitchFamily="34" charset="0"/>
                <a:ea typeface="Malgun Gothic" pitchFamily="34" charset="-122"/>
                <a:cs typeface="Malgun Gothic" pitchFamily="34" charset="-120"/>
              </a:rPr>
              <a:t>RA파트 운영 현황 파악 → </a:t>
            </a:r>
            <a:pPr indent="0" marL="0">
              <a:buNone/>
            </a:pPr>
            <a:r>
              <a:rPr lang="en-US" sz="1800" b="1" dirty="0">
                <a:solidFill>
                  <a:srgbClr val="F3DCA4"/>
                </a:solidFill>
                <a:latin typeface="Malgun Gothic" pitchFamily="34" charset="0"/>
                <a:ea typeface="Malgun Gothic" pitchFamily="34" charset="-122"/>
                <a:cs typeface="Malgun Gothic" pitchFamily="34" charset="-120"/>
              </a:rPr>
              <a:t>개선 방안 도출</a:t>
            </a:r>
            <a:endParaRPr lang="en-US" sz="18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Ⅵ</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좋은타이어 회계프로그램 변경 및 자동전표 연동</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수기 엑셀 관리에서 ERP 기반 관리로</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417320"/>
            <a:ext cx="4937760" cy="2743200"/>
          </a:xfrm>
          <a:prstGeom prst="roundRect">
            <a:avLst>
              <a:gd name="adj" fmla="val 40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Text 5"/>
          <p:cNvSpPr txBox="1"/>
          <p:nvPr/>
        </p:nvSpPr>
        <p:spPr>
          <a:xfrm>
            <a:off x="777240" y="1508760"/>
            <a:ext cx="3657600" cy="274320"/>
          </a:xfrm>
          <a:prstGeom prst="rect">
            <a:avLst/>
          </a:prstGeom>
          <a:noFill/>
          <a:ln/>
        </p:spPr>
        <p:txBody>
          <a:bodyPr wrap="square" lIns="0" tIns="0" rIns="0" bIns="0" rtlCol="0" anchor="t"/>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AS-IS · 현재</a:t>
            </a:r>
            <a:endParaRPr lang="en-US" sz="1300" dirty="0"/>
          </a:p>
        </p:txBody>
      </p:sp>
      <p:sp>
        <p:nvSpPr>
          <p:cNvPr id="10" name="Text 6"/>
          <p:cNvSpPr txBox="1"/>
          <p:nvPr/>
        </p:nvSpPr>
        <p:spPr>
          <a:xfrm>
            <a:off x="777240" y="1828800"/>
            <a:ext cx="4572000" cy="411480"/>
          </a:xfrm>
          <a:prstGeom prst="rect">
            <a:avLst/>
          </a:prstGeom>
          <a:noFill/>
          <a:ln/>
        </p:spPr>
        <p:txBody>
          <a:bodyPr wrap="square" lIns="0" tIns="0" rIns="0" bIns="0" rtlCol="0" anchor="t"/>
          <a:lstStyle/>
          <a:p>
            <a:pPr indent="0" marL="0">
              <a:buNone/>
            </a:pPr>
            <a:r>
              <a:rPr lang="en-US" sz="2000" b="1" dirty="0">
                <a:solidFill>
                  <a:srgbClr val="F5F2EA"/>
                </a:solidFill>
                <a:latin typeface="Malgun Gothic" pitchFamily="34" charset="0"/>
                <a:ea typeface="Malgun Gothic" pitchFamily="34" charset="-122"/>
                <a:cs typeface="Malgun Gothic" pitchFamily="34" charset="-120"/>
              </a:rPr>
              <a:t>9개 매장 수기 엑셀 작업</a:t>
            </a:r>
            <a:endParaRPr lang="en-US" sz="2000" dirty="0"/>
          </a:p>
        </p:txBody>
      </p:sp>
      <p:sp>
        <p:nvSpPr>
          <p:cNvPr id="11" name="Shape 7"/>
          <p:cNvSpPr/>
          <p:nvPr/>
        </p:nvSpPr>
        <p:spPr>
          <a:xfrm>
            <a:off x="777240" y="2423160"/>
            <a:ext cx="1371600" cy="365760"/>
          </a:xfrm>
          <a:prstGeom prst="roundRect">
            <a:avLst>
              <a:gd name="adj" fmla="val 50000"/>
            </a:avLst>
          </a:prstGeom>
          <a:solidFill>
            <a:srgbClr val="2C3E63"/>
          </a:solidFill>
          <a:ln w="12700">
            <a:solidFill>
              <a:srgbClr val="2C3E63"/>
            </a:solidFill>
            <a:prstDash val="solid"/>
          </a:ln>
        </p:spPr>
        <p:txBody>
          <a:bodyPr/>
          <a:p/>
        </p:txBody>
      </p:sp>
      <p:sp>
        <p:nvSpPr>
          <p:cNvPr id="12" name="Text 8"/>
          <p:cNvSpPr txBox="1"/>
          <p:nvPr/>
        </p:nvSpPr>
        <p:spPr>
          <a:xfrm>
            <a:off x="777240" y="2423160"/>
            <a:ext cx="1371600" cy="365760"/>
          </a:xfrm>
          <a:prstGeom prst="rect">
            <a:avLst/>
          </a:prstGeom>
          <a:noFill/>
          <a:ln/>
        </p:spPr>
        <p:txBody>
          <a:bodyPr wrap="square" lIns="0" tIns="0" rIns="0" bIns="0" rtlCol="0" anchor="ctr"/>
          <a:lstStyle/>
          <a:p>
            <a:pPr algn="ctr" indent="0" marL="0">
              <a:buNone/>
            </a:pPr>
            <a:r>
              <a:rPr lang="en-US" sz="1300" dirty="0">
                <a:solidFill>
                  <a:srgbClr val="F5F2EA"/>
                </a:solidFill>
                <a:latin typeface="Malgun Gothic" pitchFamily="34" charset="0"/>
                <a:ea typeface="Malgun Gothic" pitchFamily="34" charset="-122"/>
                <a:cs typeface="Malgun Gothic" pitchFamily="34" charset="-120"/>
              </a:rPr>
              <a:t>이천점</a:t>
            </a:r>
            <a:endParaRPr lang="en-US" sz="1300" dirty="0"/>
          </a:p>
        </p:txBody>
      </p:sp>
      <p:sp>
        <p:nvSpPr>
          <p:cNvPr id="13" name="Shape 9"/>
          <p:cNvSpPr/>
          <p:nvPr/>
        </p:nvSpPr>
        <p:spPr>
          <a:xfrm>
            <a:off x="2286000" y="2423160"/>
            <a:ext cx="1371600" cy="365760"/>
          </a:xfrm>
          <a:prstGeom prst="roundRect">
            <a:avLst>
              <a:gd name="adj" fmla="val 50000"/>
            </a:avLst>
          </a:prstGeom>
          <a:solidFill>
            <a:srgbClr val="2C3E63"/>
          </a:solidFill>
          <a:ln w="12700">
            <a:solidFill>
              <a:srgbClr val="2C3E63"/>
            </a:solidFill>
            <a:prstDash val="solid"/>
          </a:ln>
        </p:spPr>
        <p:txBody>
          <a:bodyPr/>
          <a:p/>
        </p:txBody>
      </p:sp>
      <p:sp>
        <p:nvSpPr>
          <p:cNvPr id="14" name="Text 10"/>
          <p:cNvSpPr txBox="1"/>
          <p:nvPr/>
        </p:nvSpPr>
        <p:spPr>
          <a:xfrm>
            <a:off x="2286000" y="2423160"/>
            <a:ext cx="1371600" cy="365760"/>
          </a:xfrm>
          <a:prstGeom prst="rect">
            <a:avLst/>
          </a:prstGeom>
          <a:noFill/>
          <a:ln/>
        </p:spPr>
        <p:txBody>
          <a:bodyPr wrap="square" lIns="0" tIns="0" rIns="0" bIns="0" rtlCol="0" anchor="ctr"/>
          <a:lstStyle/>
          <a:p>
            <a:pPr algn="ctr" indent="0" marL="0">
              <a:buNone/>
            </a:pPr>
            <a:r>
              <a:rPr lang="en-US" sz="1300" dirty="0">
                <a:solidFill>
                  <a:srgbClr val="F5F2EA"/>
                </a:solidFill>
                <a:latin typeface="Malgun Gothic" pitchFamily="34" charset="0"/>
                <a:ea typeface="Malgun Gothic" pitchFamily="34" charset="-122"/>
                <a:cs typeface="Malgun Gothic" pitchFamily="34" charset="-120"/>
              </a:rPr>
              <a:t>공촌점</a:t>
            </a:r>
            <a:endParaRPr lang="en-US" sz="1300" dirty="0"/>
          </a:p>
        </p:txBody>
      </p:sp>
      <p:sp>
        <p:nvSpPr>
          <p:cNvPr id="15" name="Shape 11"/>
          <p:cNvSpPr/>
          <p:nvPr/>
        </p:nvSpPr>
        <p:spPr>
          <a:xfrm>
            <a:off x="3794760" y="2423160"/>
            <a:ext cx="1371600" cy="365760"/>
          </a:xfrm>
          <a:prstGeom prst="roundRect">
            <a:avLst>
              <a:gd name="adj" fmla="val 50000"/>
            </a:avLst>
          </a:prstGeom>
          <a:solidFill>
            <a:srgbClr val="2C3E63"/>
          </a:solidFill>
          <a:ln w="12700">
            <a:solidFill>
              <a:srgbClr val="2C3E63"/>
            </a:solidFill>
            <a:prstDash val="solid"/>
          </a:ln>
        </p:spPr>
        <p:txBody>
          <a:bodyPr/>
          <a:p/>
        </p:txBody>
      </p:sp>
      <p:sp>
        <p:nvSpPr>
          <p:cNvPr id="16" name="Text 12"/>
          <p:cNvSpPr txBox="1"/>
          <p:nvPr/>
        </p:nvSpPr>
        <p:spPr>
          <a:xfrm>
            <a:off x="3794760" y="2423160"/>
            <a:ext cx="1371600" cy="365760"/>
          </a:xfrm>
          <a:prstGeom prst="rect">
            <a:avLst/>
          </a:prstGeom>
          <a:noFill/>
          <a:ln/>
        </p:spPr>
        <p:txBody>
          <a:bodyPr wrap="square" lIns="0" tIns="0" rIns="0" bIns="0" rtlCol="0" anchor="ctr"/>
          <a:lstStyle/>
          <a:p>
            <a:pPr algn="ctr" indent="0" marL="0">
              <a:buNone/>
            </a:pPr>
            <a:r>
              <a:rPr lang="en-US" sz="1300" dirty="0">
                <a:solidFill>
                  <a:srgbClr val="F5F2EA"/>
                </a:solidFill>
                <a:latin typeface="Malgun Gothic" pitchFamily="34" charset="0"/>
                <a:ea typeface="Malgun Gothic" pitchFamily="34" charset="-122"/>
                <a:cs typeface="Malgun Gothic" pitchFamily="34" charset="-120"/>
              </a:rPr>
              <a:t>유성점</a:t>
            </a:r>
            <a:endParaRPr lang="en-US" sz="1300" dirty="0"/>
          </a:p>
        </p:txBody>
      </p:sp>
      <p:sp>
        <p:nvSpPr>
          <p:cNvPr id="17" name="Shape 13"/>
          <p:cNvSpPr/>
          <p:nvPr/>
        </p:nvSpPr>
        <p:spPr>
          <a:xfrm>
            <a:off x="777240" y="2880360"/>
            <a:ext cx="1371600" cy="365760"/>
          </a:xfrm>
          <a:prstGeom prst="roundRect">
            <a:avLst>
              <a:gd name="adj" fmla="val 50000"/>
            </a:avLst>
          </a:prstGeom>
          <a:solidFill>
            <a:srgbClr val="2C3E63"/>
          </a:solidFill>
          <a:ln w="12700">
            <a:solidFill>
              <a:srgbClr val="2C3E63"/>
            </a:solidFill>
            <a:prstDash val="solid"/>
          </a:ln>
        </p:spPr>
        <p:txBody>
          <a:bodyPr/>
          <a:p/>
        </p:txBody>
      </p:sp>
      <p:sp>
        <p:nvSpPr>
          <p:cNvPr id="18" name="Text 14"/>
          <p:cNvSpPr txBox="1"/>
          <p:nvPr/>
        </p:nvSpPr>
        <p:spPr>
          <a:xfrm>
            <a:off x="777240" y="2880360"/>
            <a:ext cx="1371600" cy="365760"/>
          </a:xfrm>
          <a:prstGeom prst="rect">
            <a:avLst/>
          </a:prstGeom>
          <a:noFill/>
          <a:ln/>
        </p:spPr>
        <p:txBody>
          <a:bodyPr wrap="square" lIns="0" tIns="0" rIns="0" bIns="0" rtlCol="0" anchor="ctr"/>
          <a:lstStyle/>
          <a:p>
            <a:pPr algn="ctr" indent="0" marL="0">
              <a:buNone/>
            </a:pPr>
            <a:r>
              <a:rPr lang="en-US" sz="1300" dirty="0">
                <a:solidFill>
                  <a:srgbClr val="F5F2EA"/>
                </a:solidFill>
                <a:latin typeface="Malgun Gothic" pitchFamily="34" charset="0"/>
                <a:ea typeface="Malgun Gothic" pitchFamily="34" charset="-122"/>
                <a:cs typeface="Malgun Gothic" pitchFamily="34" charset="-120"/>
              </a:rPr>
              <a:t>안동점</a:t>
            </a:r>
            <a:endParaRPr lang="en-US" sz="1300" dirty="0"/>
          </a:p>
        </p:txBody>
      </p:sp>
      <p:sp>
        <p:nvSpPr>
          <p:cNvPr id="19" name="Shape 15"/>
          <p:cNvSpPr/>
          <p:nvPr/>
        </p:nvSpPr>
        <p:spPr>
          <a:xfrm>
            <a:off x="2286000" y="2880360"/>
            <a:ext cx="1371600" cy="365760"/>
          </a:xfrm>
          <a:prstGeom prst="roundRect">
            <a:avLst>
              <a:gd name="adj" fmla="val 50000"/>
            </a:avLst>
          </a:prstGeom>
          <a:solidFill>
            <a:srgbClr val="2C3E63"/>
          </a:solidFill>
          <a:ln w="12700">
            <a:solidFill>
              <a:srgbClr val="2C3E63"/>
            </a:solidFill>
            <a:prstDash val="solid"/>
          </a:ln>
        </p:spPr>
        <p:txBody>
          <a:bodyPr/>
          <a:p/>
        </p:txBody>
      </p:sp>
      <p:sp>
        <p:nvSpPr>
          <p:cNvPr id="20" name="Text 16"/>
          <p:cNvSpPr txBox="1"/>
          <p:nvPr/>
        </p:nvSpPr>
        <p:spPr>
          <a:xfrm>
            <a:off x="2286000" y="2880360"/>
            <a:ext cx="1371600" cy="365760"/>
          </a:xfrm>
          <a:prstGeom prst="rect">
            <a:avLst/>
          </a:prstGeom>
          <a:noFill/>
          <a:ln/>
        </p:spPr>
        <p:txBody>
          <a:bodyPr wrap="square" lIns="0" tIns="0" rIns="0" bIns="0" rtlCol="0" anchor="ctr"/>
          <a:lstStyle/>
          <a:p>
            <a:pPr algn="ctr" indent="0" marL="0">
              <a:buNone/>
            </a:pPr>
            <a:r>
              <a:rPr lang="en-US" sz="1300" dirty="0">
                <a:solidFill>
                  <a:srgbClr val="F5F2EA"/>
                </a:solidFill>
                <a:latin typeface="Malgun Gothic" pitchFamily="34" charset="0"/>
                <a:ea typeface="Malgun Gothic" pitchFamily="34" charset="-122"/>
                <a:cs typeface="Malgun Gothic" pitchFamily="34" charset="-120"/>
              </a:rPr>
              <a:t>동아산점</a:t>
            </a:r>
            <a:endParaRPr lang="en-US" sz="1300" dirty="0"/>
          </a:p>
        </p:txBody>
      </p:sp>
      <p:sp>
        <p:nvSpPr>
          <p:cNvPr id="21" name="Shape 17"/>
          <p:cNvSpPr/>
          <p:nvPr/>
        </p:nvSpPr>
        <p:spPr>
          <a:xfrm>
            <a:off x="3794760" y="2880360"/>
            <a:ext cx="1371600" cy="365760"/>
          </a:xfrm>
          <a:prstGeom prst="roundRect">
            <a:avLst>
              <a:gd name="adj" fmla="val 50000"/>
            </a:avLst>
          </a:prstGeom>
          <a:solidFill>
            <a:srgbClr val="2C3E63"/>
          </a:solidFill>
          <a:ln w="12700">
            <a:solidFill>
              <a:srgbClr val="2C3E63"/>
            </a:solidFill>
            <a:prstDash val="solid"/>
          </a:ln>
        </p:spPr>
        <p:txBody>
          <a:bodyPr/>
          <a:p/>
        </p:txBody>
      </p:sp>
      <p:sp>
        <p:nvSpPr>
          <p:cNvPr id="22" name="Text 18"/>
          <p:cNvSpPr txBox="1"/>
          <p:nvPr/>
        </p:nvSpPr>
        <p:spPr>
          <a:xfrm>
            <a:off x="3794760" y="2880360"/>
            <a:ext cx="1371600" cy="365760"/>
          </a:xfrm>
          <a:prstGeom prst="rect">
            <a:avLst/>
          </a:prstGeom>
          <a:noFill/>
          <a:ln/>
        </p:spPr>
        <p:txBody>
          <a:bodyPr wrap="square" lIns="0" tIns="0" rIns="0" bIns="0" rtlCol="0" anchor="ctr"/>
          <a:lstStyle/>
          <a:p>
            <a:pPr algn="ctr" indent="0" marL="0">
              <a:buNone/>
            </a:pPr>
            <a:r>
              <a:rPr lang="en-US" sz="1300" dirty="0">
                <a:solidFill>
                  <a:srgbClr val="F5F2EA"/>
                </a:solidFill>
                <a:latin typeface="Malgun Gothic" pitchFamily="34" charset="0"/>
                <a:ea typeface="Malgun Gothic" pitchFamily="34" charset="-122"/>
                <a:cs typeface="Malgun Gothic" pitchFamily="34" charset="-120"/>
              </a:rPr>
              <a:t>녹산점</a:t>
            </a:r>
            <a:endParaRPr lang="en-US" sz="1300" dirty="0"/>
          </a:p>
        </p:txBody>
      </p:sp>
      <p:sp>
        <p:nvSpPr>
          <p:cNvPr id="23" name="Shape 19"/>
          <p:cNvSpPr/>
          <p:nvPr/>
        </p:nvSpPr>
        <p:spPr>
          <a:xfrm>
            <a:off x="777240" y="3337560"/>
            <a:ext cx="1371600" cy="365760"/>
          </a:xfrm>
          <a:prstGeom prst="roundRect">
            <a:avLst>
              <a:gd name="adj" fmla="val 50000"/>
            </a:avLst>
          </a:prstGeom>
          <a:solidFill>
            <a:srgbClr val="2C3E63"/>
          </a:solidFill>
          <a:ln w="12700">
            <a:solidFill>
              <a:srgbClr val="2C3E63"/>
            </a:solidFill>
            <a:prstDash val="solid"/>
          </a:ln>
        </p:spPr>
        <p:txBody>
          <a:bodyPr/>
          <a:p/>
        </p:txBody>
      </p:sp>
      <p:sp>
        <p:nvSpPr>
          <p:cNvPr id="24" name="Text 20"/>
          <p:cNvSpPr txBox="1"/>
          <p:nvPr/>
        </p:nvSpPr>
        <p:spPr>
          <a:xfrm>
            <a:off x="777240" y="3337560"/>
            <a:ext cx="1371600" cy="365760"/>
          </a:xfrm>
          <a:prstGeom prst="rect">
            <a:avLst/>
          </a:prstGeom>
          <a:noFill/>
          <a:ln/>
        </p:spPr>
        <p:txBody>
          <a:bodyPr wrap="square" lIns="0" tIns="0" rIns="0" bIns="0" rtlCol="0" anchor="ctr"/>
          <a:lstStyle/>
          <a:p>
            <a:pPr algn="ctr" indent="0" marL="0">
              <a:buNone/>
            </a:pPr>
            <a:r>
              <a:rPr lang="en-US" sz="1300" dirty="0">
                <a:solidFill>
                  <a:srgbClr val="F5F2EA"/>
                </a:solidFill>
                <a:latin typeface="Malgun Gothic" pitchFamily="34" charset="0"/>
                <a:ea typeface="Malgun Gothic" pitchFamily="34" charset="-122"/>
                <a:cs typeface="Malgun Gothic" pitchFamily="34" charset="-120"/>
              </a:rPr>
              <a:t>양곡점</a:t>
            </a:r>
            <a:endParaRPr lang="en-US" sz="1300" dirty="0"/>
          </a:p>
        </p:txBody>
      </p:sp>
      <p:sp>
        <p:nvSpPr>
          <p:cNvPr id="25" name="Shape 21"/>
          <p:cNvSpPr/>
          <p:nvPr/>
        </p:nvSpPr>
        <p:spPr>
          <a:xfrm>
            <a:off x="2286000" y="3337560"/>
            <a:ext cx="1371600" cy="365760"/>
          </a:xfrm>
          <a:prstGeom prst="roundRect">
            <a:avLst>
              <a:gd name="adj" fmla="val 50000"/>
            </a:avLst>
          </a:prstGeom>
          <a:solidFill>
            <a:srgbClr val="2C3E63"/>
          </a:solidFill>
          <a:ln w="12700">
            <a:solidFill>
              <a:srgbClr val="2C3E63"/>
            </a:solidFill>
            <a:prstDash val="solid"/>
          </a:ln>
        </p:spPr>
        <p:txBody>
          <a:bodyPr/>
          <a:p/>
        </p:txBody>
      </p:sp>
      <p:sp>
        <p:nvSpPr>
          <p:cNvPr id="26" name="Text 22"/>
          <p:cNvSpPr txBox="1"/>
          <p:nvPr/>
        </p:nvSpPr>
        <p:spPr>
          <a:xfrm>
            <a:off x="2286000" y="3337560"/>
            <a:ext cx="1371600" cy="365760"/>
          </a:xfrm>
          <a:prstGeom prst="rect">
            <a:avLst/>
          </a:prstGeom>
          <a:noFill/>
          <a:ln/>
        </p:spPr>
        <p:txBody>
          <a:bodyPr wrap="square" lIns="0" tIns="0" rIns="0" bIns="0" rtlCol="0" anchor="ctr"/>
          <a:lstStyle/>
          <a:p>
            <a:pPr algn="ctr" indent="0" marL="0">
              <a:buNone/>
            </a:pPr>
            <a:r>
              <a:rPr lang="en-US" sz="1300" dirty="0">
                <a:solidFill>
                  <a:srgbClr val="F5F2EA"/>
                </a:solidFill>
                <a:latin typeface="Malgun Gothic" pitchFamily="34" charset="0"/>
                <a:ea typeface="Malgun Gothic" pitchFamily="34" charset="-122"/>
                <a:cs typeface="Malgun Gothic" pitchFamily="34" charset="-120"/>
              </a:rPr>
              <a:t>기흥점</a:t>
            </a:r>
            <a:endParaRPr lang="en-US" sz="1300" dirty="0"/>
          </a:p>
        </p:txBody>
      </p:sp>
      <p:sp>
        <p:nvSpPr>
          <p:cNvPr id="27" name="Shape 23"/>
          <p:cNvSpPr/>
          <p:nvPr/>
        </p:nvSpPr>
        <p:spPr>
          <a:xfrm>
            <a:off x="3794760" y="3337560"/>
            <a:ext cx="1371600" cy="365760"/>
          </a:xfrm>
          <a:prstGeom prst="roundRect">
            <a:avLst>
              <a:gd name="adj" fmla="val 50000"/>
            </a:avLst>
          </a:prstGeom>
          <a:solidFill>
            <a:srgbClr val="2C3E63"/>
          </a:solidFill>
          <a:ln w="12700">
            <a:solidFill>
              <a:srgbClr val="2C3E63"/>
            </a:solidFill>
            <a:prstDash val="solid"/>
          </a:ln>
        </p:spPr>
        <p:txBody>
          <a:bodyPr/>
          <a:p/>
        </p:txBody>
      </p:sp>
      <p:sp>
        <p:nvSpPr>
          <p:cNvPr id="28" name="Text 24"/>
          <p:cNvSpPr txBox="1"/>
          <p:nvPr/>
        </p:nvSpPr>
        <p:spPr>
          <a:xfrm>
            <a:off x="3794760" y="3337560"/>
            <a:ext cx="1371600" cy="365760"/>
          </a:xfrm>
          <a:prstGeom prst="rect">
            <a:avLst/>
          </a:prstGeom>
          <a:noFill/>
          <a:ln/>
        </p:spPr>
        <p:txBody>
          <a:bodyPr wrap="square" lIns="0" tIns="0" rIns="0" bIns="0" rtlCol="0" anchor="ctr"/>
          <a:lstStyle/>
          <a:p>
            <a:pPr algn="ctr" indent="0" marL="0">
              <a:buNone/>
            </a:pPr>
            <a:r>
              <a:rPr lang="en-US" sz="1300" dirty="0">
                <a:solidFill>
                  <a:srgbClr val="F5F2EA"/>
                </a:solidFill>
                <a:latin typeface="Malgun Gothic" pitchFamily="34" charset="0"/>
                <a:ea typeface="Malgun Gothic" pitchFamily="34" charset="-122"/>
                <a:cs typeface="Malgun Gothic" pitchFamily="34" charset="-120"/>
              </a:rPr>
              <a:t>서산점</a:t>
            </a:r>
            <a:endParaRPr lang="en-US" sz="1300" dirty="0"/>
          </a:p>
        </p:txBody>
      </p:sp>
      <p:sp>
        <p:nvSpPr>
          <p:cNvPr id="29" name="Text 25"/>
          <p:cNvSpPr txBox="1"/>
          <p:nvPr/>
        </p:nvSpPr>
        <p:spPr>
          <a:xfrm>
            <a:off x="777240" y="3794760"/>
            <a:ext cx="4572000" cy="274320"/>
          </a:xfrm>
          <a:prstGeom prst="rect">
            <a:avLst/>
          </a:prstGeom>
          <a:noFill/>
          <a:ln/>
        </p:spPr>
        <p:txBody>
          <a:bodyPr wrap="square" lIns="0" tIns="0" rIns="0" bIns="0" rtlCol="0" anchor="t"/>
          <a:lstStyle/>
          <a:p>
            <a:pPr indent="0" marL="0">
              <a:buNone/>
            </a:pPr>
            <a:r>
              <a:rPr lang="en-US" sz="1300" dirty="0">
                <a:solidFill>
                  <a:srgbClr val="A9B3C9"/>
                </a:solidFill>
                <a:latin typeface="Malgun Gothic" pitchFamily="34" charset="0"/>
                <a:ea typeface="Malgun Gothic" pitchFamily="34" charset="-122"/>
                <a:cs typeface="Malgun Gothic" pitchFamily="34" charset="-120"/>
              </a:rPr>
              <a:t>매출·재고 관리 전부 수기</a:t>
            </a:r>
            <a:endParaRPr lang="en-US" sz="1300" dirty="0"/>
          </a:p>
        </p:txBody>
      </p:sp>
      <p:sp>
        <p:nvSpPr>
          <p:cNvPr id="30" name="Text 26"/>
          <p:cNvSpPr txBox="1"/>
          <p:nvPr/>
        </p:nvSpPr>
        <p:spPr>
          <a:xfrm>
            <a:off x="5532120" y="2468880"/>
            <a:ext cx="457200" cy="54864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31" name="card"/>
          <p:cNvSpPr/>
          <p:nvPr/>
        </p:nvSpPr>
        <p:spPr>
          <a:xfrm>
            <a:off x="6035040" y="1417320"/>
            <a:ext cx="2743200" cy="2743200"/>
          </a:xfrm>
          <a:prstGeom prst="roundRect">
            <a:avLst>
              <a:gd name="adj" fmla="val 40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2" name="Text 28"/>
          <p:cNvSpPr txBox="1"/>
          <p:nvPr/>
        </p:nvSpPr>
        <p:spPr>
          <a:xfrm>
            <a:off x="6263640" y="1508760"/>
            <a:ext cx="2286000" cy="274320"/>
          </a:xfrm>
          <a:prstGeom prst="rect">
            <a:avLst/>
          </a:prstGeom>
          <a:noFill/>
          <a:ln/>
        </p:spPr>
        <p:txBody>
          <a:bodyPr wrap="square" lIns="0" tIns="0" rIns="0" bIns="0" rtlCol="0" anchor="t"/>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STEP 1</a:t>
            </a:r>
            <a:endParaRPr lang="en-US" sz="1300" dirty="0"/>
          </a:p>
        </p:txBody>
      </p:sp>
      <p:sp>
        <p:nvSpPr>
          <p:cNvPr id="33" name="Text 29"/>
          <p:cNvSpPr txBox="1"/>
          <p:nvPr/>
        </p:nvSpPr>
        <p:spPr>
          <a:xfrm>
            <a:off x="6263640" y="1828800"/>
            <a:ext cx="2377440" cy="640080"/>
          </a:xfrm>
          <a:prstGeom prst="rect">
            <a:avLst/>
          </a:prstGeom>
          <a:noFill/>
          <a:ln/>
        </p:spPr>
        <p:txBody>
          <a:bodyPr wrap="square" lIns="0" tIns="0" rIns="0" bIns="0" rtlCol="0" anchor="t"/>
          <a:lstStyle/>
          <a:p>
            <a:pPr indent="0" marL="0">
              <a:buNone/>
            </a:pPr>
            <a:r>
              <a:rPr lang="en-US" sz="1900" b="1" dirty="0">
                <a:solidFill>
                  <a:srgbClr val="F5F2EA"/>
                </a:solidFill>
                <a:latin typeface="Malgun Gothic" pitchFamily="34" charset="0"/>
                <a:ea typeface="Malgun Gothic" pitchFamily="34" charset="-122"/>
                <a:cs typeface="Malgun Gothic" pitchFamily="34" charset="-120"/>
              </a:rPr>
              <a:t>회계프로그램 변경</a:t>
            </a:r>
            <a:endParaRPr lang="en-US" sz="1900" dirty="0"/>
          </a:p>
        </p:txBody>
      </p:sp>
      <p:sp>
        <p:nvSpPr>
          <p:cNvPr id="34" name="Text 30"/>
          <p:cNvSpPr txBox="1"/>
          <p:nvPr/>
        </p:nvSpPr>
        <p:spPr>
          <a:xfrm>
            <a:off x="6263640" y="2560320"/>
            <a:ext cx="2377440" cy="1463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인사·회계 프로그램 도입 완료</a:t>
            </a:r>
            <a:endParaRPr lang="en-US" sz="1400" dirty="0"/>
          </a:p>
          <a:p>
            <a:pPr indent="0" marL="0">
              <a:buNone/>
            </a:pPr>
            <a:r>
              <a:rPr lang="en-US" sz="1400" b="1" dirty="0">
                <a:solidFill>
                  <a:srgbClr val="F3DCA4"/>
                </a:solidFill>
                <a:latin typeface="Malgun Gothic" pitchFamily="34" charset="0"/>
                <a:ea typeface="Malgun Gothic" pitchFamily="34" charset="-122"/>
                <a:cs typeface="Malgun Gothic" pitchFamily="34" charset="-120"/>
              </a:rPr>
              <a:t>제닉스X</a:t>
            </a:r>
            <a:endParaRPr lang="en-US" sz="1400" dirty="0"/>
          </a:p>
          <a:p>
            <a:pPr indent="0" marL="0">
              <a:buNone/>
            </a:pPr>
            <a:r>
              <a:rPr lang="en-US" sz="1400" dirty="0">
                <a:solidFill>
                  <a:srgbClr val="A9B3C9"/>
                </a:solidFill>
                <a:latin typeface="Malgun Gothic" pitchFamily="34" charset="0"/>
                <a:ea typeface="Malgun Gothic" pitchFamily="34" charset="-122"/>
                <a:cs typeface="Malgun Gothic" pitchFamily="34" charset="-120"/>
              </a:rPr>
              <a:t>자동전표 연동 완료</a:t>
            </a:r>
            <a:endParaRPr lang="en-US" sz="1400" dirty="0"/>
          </a:p>
        </p:txBody>
      </p:sp>
      <p:sp>
        <p:nvSpPr>
          <p:cNvPr id="35" name="Text 31"/>
          <p:cNvSpPr txBox="1"/>
          <p:nvPr/>
        </p:nvSpPr>
        <p:spPr>
          <a:xfrm>
            <a:off x="8796528" y="2468880"/>
            <a:ext cx="457200" cy="54864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36" name="card"/>
          <p:cNvSpPr/>
          <p:nvPr/>
        </p:nvSpPr>
        <p:spPr>
          <a:xfrm>
            <a:off x="9281160" y="1417320"/>
            <a:ext cx="2377440" cy="2743200"/>
          </a:xfrm>
          <a:prstGeom prst="roundRect">
            <a:avLst>
              <a:gd name="adj" fmla="val 4615"/>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7" name="Text 33"/>
          <p:cNvSpPr txBox="1"/>
          <p:nvPr/>
        </p:nvSpPr>
        <p:spPr>
          <a:xfrm>
            <a:off x="9509760" y="1508760"/>
            <a:ext cx="2011680" cy="274320"/>
          </a:xfrm>
          <a:prstGeom prst="rect">
            <a:avLst/>
          </a:prstGeom>
          <a:noFill/>
          <a:ln/>
        </p:spPr>
        <p:txBody>
          <a:bodyPr wrap="square" lIns="0" tIns="0" rIns="0" bIns="0" rtlCol="0" anchor="t"/>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STEP 2</a:t>
            </a:r>
            <a:endParaRPr lang="en-US" sz="1300" dirty="0"/>
          </a:p>
        </p:txBody>
      </p:sp>
      <p:sp>
        <p:nvSpPr>
          <p:cNvPr id="38" name="Text 34"/>
          <p:cNvSpPr txBox="1"/>
          <p:nvPr/>
        </p:nvSpPr>
        <p:spPr>
          <a:xfrm>
            <a:off x="9509760" y="1828800"/>
            <a:ext cx="2011680" cy="822960"/>
          </a:xfrm>
          <a:prstGeom prst="rect">
            <a:avLst/>
          </a:prstGeom>
          <a:noFill/>
          <a:ln/>
        </p:spPr>
        <p:txBody>
          <a:bodyPr wrap="square" lIns="0" tIns="0" rIns="0" bIns="0" rtlCol="0" anchor="t"/>
          <a:lstStyle/>
          <a:p>
            <a:pPr indent="0" marL="0">
              <a:buNone/>
            </a:pPr>
            <a:r>
              <a:rPr lang="en-US" sz="1900" b="1" dirty="0">
                <a:solidFill>
                  <a:srgbClr val="F5F2EA"/>
                </a:solidFill>
                <a:latin typeface="Malgun Gothic" pitchFamily="34" charset="0"/>
                <a:ea typeface="Malgun Gothic" pitchFamily="34" charset="-122"/>
                <a:cs typeface="Malgun Gothic" pitchFamily="34" charset="-120"/>
              </a:rPr>
              <a:t>판매 ERP</a:t>
            </a:r>
            <a:endParaRPr lang="en-US" sz="1900" dirty="0"/>
          </a:p>
          <a:p>
            <a:pPr indent="0" marL="0">
              <a:buNone/>
            </a:pPr>
            <a:r>
              <a:rPr lang="en-US" sz="1900" b="1" dirty="0">
                <a:solidFill>
                  <a:srgbClr val="F5F2EA"/>
                </a:solidFill>
                <a:latin typeface="Malgun Gothic" pitchFamily="34" charset="0"/>
                <a:ea typeface="Malgun Gothic" pitchFamily="34" charset="-122"/>
                <a:cs typeface="Malgun Gothic" pitchFamily="34" charset="-120"/>
              </a:rPr>
              <a:t>설계 완료</a:t>
            </a:r>
            <a:endParaRPr lang="en-US" sz="1900" dirty="0"/>
          </a:p>
        </p:txBody>
      </p:sp>
      <p:sp>
        <p:nvSpPr>
          <p:cNvPr id="39" name="Text 35"/>
          <p:cNvSpPr txBox="1"/>
          <p:nvPr/>
        </p:nvSpPr>
        <p:spPr>
          <a:xfrm>
            <a:off x="9509760" y="2743200"/>
            <a:ext cx="2011680" cy="128016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회계프로그램에 맞춰 판매 프로그램 ERP 설계</a:t>
            </a:r>
            <a:endParaRPr lang="en-US" sz="1400" dirty="0"/>
          </a:p>
        </p:txBody>
      </p:sp>
      <p:sp>
        <p:nvSpPr>
          <p:cNvPr id="40" name="card"/>
          <p:cNvSpPr/>
          <p:nvPr/>
        </p:nvSpPr>
        <p:spPr>
          <a:xfrm>
            <a:off x="548640" y="4434840"/>
            <a:ext cx="6766560" cy="1783080"/>
          </a:xfrm>
          <a:prstGeom prst="roundRect">
            <a:avLst>
              <a:gd name="adj" fmla="val 6154"/>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41" name="Text 37"/>
          <p:cNvSpPr txBox="1"/>
          <p:nvPr/>
        </p:nvSpPr>
        <p:spPr>
          <a:xfrm>
            <a:off x="777240" y="4526280"/>
            <a:ext cx="548640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도입 시 기대 효과</a:t>
            </a:r>
            <a:endParaRPr lang="en-US" sz="1400" dirty="0"/>
          </a:p>
        </p:txBody>
      </p:sp>
      <p:sp>
        <p:nvSpPr>
          <p:cNvPr id="42" name="Text 38"/>
          <p:cNvSpPr txBox="1"/>
          <p:nvPr/>
        </p:nvSpPr>
        <p:spPr>
          <a:xfrm>
            <a:off x="777240" y="4937760"/>
            <a:ext cx="640080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5F2EA"/>
                </a:solidFill>
                <a:latin typeface="Malgun Gothic" pitchFamily="34" charset="0"/>
                <a:ea typeface="Malgun Gothic" pitchFamily="34" charset="-122"/>
                <a:cs typeface="Malgun Gothic" pitchFamily="34" charset="-120"/>
              </a:rPr>
              <a:t>수기 관리 항목 전산화</a:t>
            </a:r>
            <a:endParaRPr lang="en-US" sz="1600" dirty="0"/>
          </a:p>
          <a:p>
            <a:pPr marL="342900" indent="-342900">
              <a:spcAft>
                <a:spcPts val="800"/>
              </a:spcAft>
              <a:buSzPct val="100000"/>
              <a:buChar char="•"/>
            </a:pPr>
            <a:r>
              <a:rPr lang="en-US" sz="1600" dirty="0">
                <a:solidFill>
                  <a:srgbClr val="F5F2EA"/>
                </a:solidFill>
                <a:latin typeface="Malgun Gothic" pitchFamily="34" charset="0"/>
                <a:ea typeface="Malgun Gothic" pitchFamily="34" charset="-122"/>
                <a:cs typeface="Malgun Gothic" pitchFamily="34" charset="-120"/>
              </a:rPr>
              <a:t>업무 시간 단축</a:t>
            </a:r>
            <a:endParaRPr lang="en-US" sz="1600" dirty="0"/>
          </a:p>
          <a:p>
            <a:pPr marL="342900" indent="-342900">
              <a:spcAft>
                <a:spcPts val="800"/>
              </a:spcAft>
              <a:buSzPct val="100000"/>
              <a:buChar char="•"/>
            </a:pPr>
            <a:r>
              <a:rPr lang="en-US" sz="1600" dirty="0">
                <a:solidFill>
                  <a:srgbClr val="F5F2EA"/>
                </a:solidFill>
                <a:latin typeface="Malgun Gothic" pitchFamily="34" charset="0"/>
                <a:ea typeface="Malgun Gothic" pitchFamily="34" charset="-122"/>
                <a:cs typeface="Malgun Gothic" pitchFamily="34" charset="-120"/>
              </a:rPr>
              <a:t>판매관리 · 매장별 재고 정확성 검증</a:t>
            </a:r>
            <a:endParaRPr lang="en-US" sz="1600" dirty="0"/>
          </a:p>
        </p:txBody>
      </p:sp>
      <p:sp>
        <p:nvSpPr>
          <p:cNvPr id="43" name="card"/>
          <p:cNvSpPr/>
          <p:nvPr/>
        </p:nvSpPr>
        <p:spPr>
          <a:xfrm>
            <a:off x="7498080" y="4434840"/>
            <a:ext cx="4160520" cy="1783080"/>
          </a:xfrm>
          <a:prstGeom prst="roundRect">
            <a:avLst>
              <a:gd name="adj" fmla="val 6154"/>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44" name="Text 40"/>
          <p:cNvSpPr txBox="1"/>
          <p:nvPr/>
        </p:nvSpPr>
        <p:spPr>
          <a:xfrm>
            <a:off x="7726680" y="4526280"/>
            <a:ext cx="3703320" cy="27432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매장 증가 대비</a:t>
            </a:r>
            <a:endParaRPr lang="en-US" sz="1300" dirty="0"/>
          </a:p>
        </p:txBody>
      </p:sp>
      <p:sp>
        <p:nvSpPr>
          <p:cNvPr id="45" name="Text 41"/>
          <p:cNvSpPr txBox="1"/>
          <p:nvPr/>
        </p:nvSpPr>
        <p:spPr>
          <a:xfrm>
            <a:off x="7726680" y="4800600"/>
            <a:ext cx="3703320" cy="914400"/>
          </a:xfrm>
          <a:prstGeom prst="rect">
            <a:avLst/>
          </a:prstGeom>
          <a:noFill/>
          <a:ln/>
        </p:spPr>
        <p:txBody>
          <a:bodyPr wrap="square" lIns="0" tIns="0" rIns="0" bIns="0" rtlCol="0" anchor="ctr"/>
          <a:lstStyle/>
          <a:p>
            <a:pPr algn="ctr" indent="0" marL="0">
              <a:buNone/>
            </a:pPr>
            <a:r>
              <a:rPr lang="en-US" sz="5000" b="1" dirty="0">
                <a:solidFill>
                  <a:srgbClr val="F3DCA4"/>
                </a:solidFill>
                <a:latin typeface="Malgun Gothic" pitchFamily="34" charset="0"/>
                <a:ea typeface="Malgun Gothic" pitchFamily="34" charset="-122"/>
                <a:cs typeface="Malgun Gothic" pitchFamily="34" charset="-120"/>
              </a:rPr>
              <a:t>9</a:t>
            </a:r>
            <a:pPr algn="ctr" indent="0" marL="0">
              <a:buNone/>
            </a:pPr>
            <a:r>
              <a:rPr lang="en-US" sz="2000" b="1" dirty="0">
                <a:solidFill>
                  <a:srgbClr val="F3DCA4"/>
                </a:solidFill>
                <a:latin typeface="Malgun Gothic" pitchFamily="34" charset="0"/>
                <a:ea typeface="Malgun Gothic" pitchFamily="34" charset="-122"/>
                <a:cs typeface="Malgun Gothic" pitchFamily="34" charset="-120"/>
              </a:rPr>
              <a:t>개 매장</a:t>
            </a:r>
            <a:endParaRPr lang="en-US" sz="1600" dirty="0"/>
          </a:p>
        </p:txBody>
      </p:sp>
      <p:sp>
        <p:nvSpPr>
          <p:cNvPr id="46" name="Text 42"/>
          <p:cNvSpPr txBox="1"/>
          <p:nvPr/>
        </p:nvSpPr>
        <p:spPr>
          <a:xfrm>
            <a:off x="7726680" y="5760720"/>
            <a:ext cx="3703320" cy="32004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추후 확장 가능한 시스템</a:t>
            </a:r>
            <a:endParaRPr lang="en-US" sz="13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Ⅶ</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농업법인 농지 자경</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정부 최초 ‘전국 농지 전수조사’ 대응</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Shape 4"/>
          <p:cNvSpPr/>
          <p:nvPr/>
        </p:nvSpPr>
        <p:spPr>
          <a:xfrm>
            <a:off x="1931670" y="1764792"/>
            <a:ext cx="8298180" cy="45720"/>
          </a:xfrm>
          <a:prstGeom prst="rect">
            <a:avLst/>
          </a:prstGeom>
          <a:solidFill>
            <a:srgbClr val="D9B66F"/>
          </a:solidFill>
          <a:ln w="12700">
            <a:solidFill>
              <a:srgbClr val="D9B66F"/>
            </a:solidFill>
            <a:prstDash val="solid"/>
          </a:ln>
        </p:spPr>
        <p:txBody>
          <a:bodyPr/>
          <a:p/>
        </p:txBody>
      </p:sp>
      <p:sp>
        <p:nvSpPr>
          <p:cNvPr id="9" name="Shape 5"/>
          <p:cNvSpPr/>
          <p:nvPr/>
        </p:nvSpPr>
        <p:spPr>
          <a:xfrm>
            <a:off x="1602486" y="1463040"/>
            <a:ext cx="658368" cy="658368"/>
          </a:xfrm>
          <a:prstGeom prst="ellipse">
            <a:avLst/>
          </a:prstGeom>
          <a:solidFill>
            <a:srgbClr val="D9B66F"/>
          </a:solidFill>
          <a:ln w="38100">
            <a:solidFill>
              <a:srgbClr val="0B1426"/>
            </a:solidFill>
            <a:prstDash val="solid"/>
          </a:ln>
          <a:effectLst>
            <a:outerShdw sx="100000" sy="100000" kx="0" ky="0" algn="bl" rotWithShape="0" blurRad="177800" dist="50800" dir="5400000">
              <a:srgbClr val="D9B66F">
                <a:alpha val="50000"/>
              </a:srgbClr>
            </a:outerShdw>
          </a:effectLst>
        </p:spPr>
        <p:txBody>
          <a:bodyPr/>
          <a:p/>
        </p:txBody>
      </p:sp>
      <p:sp>
        <p:nvSpPr>
          <p:cNvPr id="10" name="Text 6"/>
          <p:cNvSpPr txBox="1"/>
          <p:nvPr/>
        </p:nvSpPr>
        <p:spPr>
          <a:xfrm>
            <a:off x="1602486" y="1463040"/>
            <a:ext cx="658368" cy="658368"/>
          </a:xfrm>
          <a:prstGeom prst="rect">
            <a:avLst/>
          </a:prstGeom>
          <a:noFill/>
          <a:ln/>
        </p:spPr>
        <p:txBody>
          <a:bodyPr wrap="square" lIns="0" tIns="0" rIns="0" bIns="0" rtlCol="0" anchor="ctr"/>
          <a:lstStyle/>
          <a:p>
            <a:pPr algn="ctr" indent="0" marL="0">
              <a:buNone/>
            </a:pPr>
            <a:r>
              <a:rPr lang="en-US" sz="1800" b="1" dirty="0">
                <a:solidFill>
                  <a:srgbClr val="1A1305"/>
                </a:solidFill>
                <a:latin typeface="Malgun Gothic" pitchFamily="34" charset="0"/>
                <a:ea typeface="Malgun Gothic" pitchFamily="34" charset="-122"/>
                <a:cs typeface="Malgun Gothic" pitchFamily="34" charset="-120"/>
              </a:rPr>
              <a:t>1</a:t>
            </a:r>
            <a:endParaRPr lang="en-US" sz="1800" dirty="0"/>
          </a:p>
        </p:txBody>
      </p:sp>
      <p:sp>
        <p:nvSpPr>
          <p:cNvPr id="11" name="Text 7"/>
          <p:cNvSpPr txBox="1"/>
          <p:nvPr/>
        </p:nvSpPr>
        <p:spPr>
          <a:xfrm>
            <a:off x="640080" y="224028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2026. 2. 24</a:t>
            </a:r>
            <a:endParaRPr lang="en-US" sz="1700" dirty="0"/>
          </a:p>
        </p:txBody>
      </p:sp>
      <p:sp>
        <p:nvSpPr>
          <p:cNvPr id="12" name="Text 8"/>
          <p:cNvSpPr txBox="1"/>
          <p:nvPr/>
        </p:nvSpPr>
        <p:spPr>
          <a:xfrm>
            <a:off x="640080" y="265176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전국 농지 전수조사 착수</a:t>
            </a:r>
            <a:endParaRPr lang="en-US" sz="1600" dirty="0"/>
          </a:p>
        </p:txBody>
      </p:sp>
      <p:sp>
        <p:nvSpPr>
          <p:cNvPr id="13" name="Text 9"/>
          <p:cNvSpPr txBox="1"/>
          <p:nvPr/>
        </p:nvSpPr>
        <p:spPr>
          <a:xfrm>
            <a:off x="640080" y="3291840"/>
            <a:ext cx="2583180" cy="82296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대통령 국무회의 지시</a:t>
            </a:r>
            <a:endParaRPr lang="en-US" sz="1300" dirty="0"/>
          </a:p>
          <a:p>
            <a:pPr algn="ctr" indent="0" marL="0">
              <a:buNone/>
            </a:pPr>
            <a:r>
              <a:rPr lang="en-US" sz="1300" dirty="0">
                <a:solidFill>
                  <a:srgbClr val="A9B3C9"/>
                </a:solidFill>
                <a:latin typeface="Malgun Gothic" pitchFamily="34" charset="0"/>
                <a:ea typeface="Malgun Gothic" pitchFamily="34" charset="-122"/>
                <a:cs typeface="Malgun Gothic" pitchFamily="34" charset="-120"/>
              </a:rPr>
              <a:t>투기 농지 매각명령 집행 검토</a:t>
            </a:r>
            <a:endParaRPr lang="en-US" sz="1300" dirty="0"/>
          </a:p>
        </p:txBody>
      </p:sp>
      <p:sp>
        <p:nvSpPr>
          <p:cNvPr id="14" name="Shape 10"/>
          <p:cNvSpPr/>
          <p:nvPr/>
        </p:nvSpPr>
        <p:spPr>
          <a:xfrm>
            <a:off x="4368546" y="1463040"/>
            <a:ext cx="658368" cy="658368"/>
          </a:xfrm>
          <a:prstGeom prst="ellipse">
            <a:avLst/>
          </a:prstGeom>
          <a:solidFill>
            <a:srgbClr val="D9B66F"/>
          </a:solidFill>
          <a:ln w="38100">
            <a:solidFill>
              <a:srgbClr val="0B1426"/>
            </a:solidFill>
            <a:prstDash val="solid"/>
          </a:ln>
          <a:effectLst>
            <a:outerShdw sx="100000" sy="100000" kx="0" ky="0" algn="bl" rotWithShape="0" blurRad="177800" dist="50800" dir="5400000">
              <a:srgbClr val="D9B66F">
                <a:alpha val="50000"/>
              </a:srgbClr>
            </a:outerShdw>
          </a:effectLst>
        </p:spPr>
        <p:txBody>
          <a:bodyPr/>
          <a:p/>
        </p:txBody>
      </p:sp>
      <p:sp>
        <p:nvSpPr>
          <p:cNvPr id="15" name="Text 11"/>
          <p:cNvSpPr txBox="1"/>
          <p:nvPr/>
        </p:nvSpPr>
        <p:spPr>
          <a:xfrm>
            <a:off x="4368546" y="1463040"/>
            <a:ext cx="658368" cy="658368"/>
          </a:xfrm>
          <a:prstGeom prst="rect">
            <a:avLst/>
          </a:prstGeom>
          <a:noFill/>
          <a:ln/>
        </p:spPr>
        <p:txBody>
          <a:bodyPr wrap="square" lIns="0" tIns="0" rIns="0" bIns="0" rtlCol="0" anchor="ctr"/>
          <a:lstStyle/>
          <a:p>
            <a:pPr algn="ctr" indent="0" marL="0">
              <a:buNone/>
            </a:pPr>
            <a:r>
              <a:rPr lang="en-US" sz="1800" b="1" dirty="0">
                <a:solidFill>
                  <a:srgbClr val="1A1305"/>
                </a:solidFill>
                <a:latin typeface="Malgun Gothic" pitchFamily="34" charset="0"/>
                <a:ea typeface="Malgun Gothic" pitchFamily="34" charset="-122"/>
                <a:cs typeface="Malgun Gothic" pitchFamily="34" charset="-120"/>
              </a:rPr>
              <a:t>2</a:t>
            </a:r>
            <a:endParaRPr lang="en-US" sz="1800" dirty="0"/>
          </a:p>
        </p:txBody>
      </p:sp>
      <p:sp>
        <p:nvSpPr>
          <p:cNvPr id="16" name="Text 12"/>
          <p:cNvSpPr txBox="1"/>
          <p:nvPr/>
        </p:nvSpPr>
        <p:spPr>
          <a:xfrm>
            <a:off x="3406140" y="224028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2026. 5. 7</a:t>
            </a:r>
            <a:endParaRPr lang="en-US" sz="1700" dirty="0"/>
          </a:p>
        </p:txBody>
      </p:sp>
      <p:sp>
        <p:nvSpPr>
          <p:cNvPr id="17" name="Text 13"/>
          <p:cNvSpPr txBox="1"/>
          <p:nvPr/>
        </p:nvSpPr>
        <p:spPr>
          <a:xfrm>
            <a:off x="3406140" y="265176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농지법 개정안 국회 통과</a:t>
            </a:r>
            <a:endParaRPr lang="en-US" sz="1600" dirty="0"/>
          </a:p>
        </p:txBody>
      </p:sp>
      <p:sp>
        <p:nvSpPr>
          <p:cNvPr id="18" name="Text 14"/>
          <p:cNvSpPr txBox="1"/>
          <p:nvPr/>
        </p:nvSpPr>
        <p:spPr>
          <a:xfrm>
            <a:off x="3406140" y="3291840"/>
            <a:ext cx="2583180" cy="82296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전수조사 실효성·</a:t>
            </a:r>
            <a:endParaRPr lang="en-US" sz="1300" dirty="0"/>
          </a:p>
          <a:p>
            <a:pPr algn="ctr" indent="0" marL="0">
              <a:buNone/>
            </a:pPr>
            <a:r>
              <a:rPr lang="en-US" sz="1300" dirty="0">
                <a:solidFill>
                  <a:srgbClr val="A9B3C9"/>
                </a:solidFill>
                <a:latin typeface="Malgun Gothic" pitchFamily="34" charset="0"/>
                <a:ea typeface="Malgun Gothic" pitchFamily="34" charset="-122"/>
                <a:cs typeface="Malgun Gothic" pitchFamily="34" charset="-120"/>
              </a:rPr>
              <a:t>처분명령 강화</a:t>
            </a:r>
            <a:endParaRPr lang="en-US" sz="1300" dirty="0"/>
          </a:p>
        </p:txBody>
      </p:sp>
      <p:sp>
        <p:nvSpPr>
          <p:cNvPr id="19" name="Shape 15"/>
          <p:cNvSpPr/>
          <p:nvPr/>
        </p:nvSpPr>
        <p:spPr>
          <a:xfrm>
            <a:off x="7134606" y="1463040"/>
            <a:ext cx="658368" cy="658368"/>
          </a:xfrm>
          <a:prstGeom prst="ellipse">
            <a:avLst/>
          </a:prstGeom>
          <a:solidFill>
            <a:srgbClr val="D9B66F"/>
          </a:solidFill>
          <a:ln w="38100">
            <a:solidFill>
              <a:srgbClr val="0B1426"/>
            </a:solidFill>
            <a:prstDash val="solid"/>
          </a:ln>
          <a:effectLst>
            <a:outerShdw sx="100000" sy="100000" kx="0" ky="0" algn="bl" rotWithShape="0" blurRad="177800" dist="50800" dir="5400000">
              <a:srgbClr val="D9B66F">
                <a:alpha val="50000"/>
              </a:srgbClr>
            </a:outerShdw>
          </a:effectLst>
        </p:spPr>
        <p:txBody>
          <a:bodyPr/>
          <a:p/>
        </p:txBody>
      </p:sp>
      <p:sp>
        <p:nvSpPr>
          <p:cNvPr id="20" name="Text 16"/>
          <p:cNvSpPr txBox="1"/>
          <p:nvPr/>
        </p:nvSpPr>
        <p:spPr>
          <a:xfrm>
            <a:off x="7134606" y="1463040"/>
            <a:ext cx="658368" cy="658368"/>
          </a:xfrm>
          <a:prstGeom prst="rect">
            <a:avLst/>
          </a:prstGeom>
          <a:noFill/>
          <a:ln/>
        </p:spPr>
        <p:txBody>
          <a:bodyPr wrap="square" lIns="0" tIns="0" rIns="0" bIns="0" rtlCol="0" anchor="ctr"/>
          <a:lstStyle/>
          <a:p>
            <a:pPr algn="ctr" indent="0" marL="0">
              <a:buNone/>
            </a:pPr>
            <a:r>
              <a:rPr lang="en-US" sz="1800" b="1" dirty="0">
                <a:solidFill>
                  <a:srgbClr val="1A1305"/>
                </a:solidFill>
                <a:latin typeface="Malgun Gothic" pitchFamily="34" charset="0"/>
                <a:ea typeface="Malgun Gothic" pitchFamily="34" charset="-122"/>
                <a:cs typeface="Malgun Gothic" pitchFamily="34" charset="-120"/>
              </a:rPr>
              <a:t>3</a:t>
            </a:r>
            <a:endParaRPr lang="en-US" sz="1800" dirty="0"/>
          </a:p>
        </p:txBody>
      </p:sp>
      <p:sp>
        <p:nvSpPr>
          <p:cNvPr id="21" name="Text 17"/>
          <p:cNvSpPr txBox="1"/>
          <p:nvPr/>
        </p:nvSpPr>
        <p:spPr>
          <a:xfrm>
            <a:off x="6172200" y="224028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2026. 5 ~ 2027</a:t>
            </a:r>
            <a:endParaRPr lang="en-US" sz="1700" dirty="0"/>
          </a:p>
        </p:txBody>
      </p:sp>
      <p:sp>
        <p:nvSpPr>
          <p:cNvPr id="22" name="Text 18"/>
          <p:cNvSpPr txBox="1"/>
          <p:nvPr/>
        </p:nvSpPr>
        <p:spPr>
          <a:xfrm>
            <a:off x="6172200" y="265176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2단계 전수조사 진행</a:t>
            </a:r>
            <a:endParaRPr lang="en-US" sz="1600" dirty="0"/>
          </a:p>
        </p:txBody>
      </p:sp>
      <p:sp>
        <p:nvSpPr>
          <p:cNvPr id="23" name="Text 19"/>
          <p:cNvSpPr txBox="1"/>
          <p:nvPr/>
        </p:nvSpPr>
        <p:spPr>
          <a:xfrm>
            <a:off x="6172200" y="3291840"/>
            <a:ext cx="2583180" cy="82296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’26년: 1996년 이후 취득 농지</a:t>
            </a:r>
            <a:endParaRPr lang="en-US" sz="1300" dirty="0"/>
          </a:p>
          <a:p>
            <a:pPr algn="ctr" indent="0" marL="0">
              <a:buNone/>
            </a:pPr>
            <a:r>
              <a:rPr lang="en-US" sz="1300" dirty="0">
                <a:solidFill>
                  <a:srgbClr val="A9B3C9"/>
                </a:solidFill>
                <a:latin typeface="Malgun Gothic" pitchFamily="34" charset="0"/>
                <a:ea typeface="Malgun Gothic" pitchFamily="34" charset="-122"/>
                <a:cs typeface="Malgun Gothic" pitchFamily="34" charset="-120"/>
              </a:rPr>
              <a:t>’27년: 그 이전 취득 농지</a:t>
            </a:r>
            <a:endParaRPr lang="en-US" sz="1300" dirty="0"/>
          </a:p>
        </p:txBody>
      </p:sp>
      <p:sp>
        <p:nvSpPr>
          <p:cNvPr id="24" name="Shape 20"/>
          <p:cNvSpPr/>
          <p:nvPr/>
        </p:nvSpPr>
        <p:spPr>
          <a:xfrm>
            <a:off x="9900666" y="1463040"/>
            <a:ext cx="658368" cy="658368"/>
          </a:xfrm>
          <a:prstGeom prst="ellipse">
            <a:avLst/>
          </a:prstGeom>
          <a:solidFill>
            <a:srgbClr val="F0B93A"/>
          </a:solidFill>
          <a:ln w="38100">
            <a:solidFill>
              <a:srgbClr val="0B1426"/>
            </a:solidFill>
            <a:prstDash val="solid"/>
          </a:ln>
          <a:effectLst>
            <a:outerShdw sx="100000" sy="100000" kx="0" ky="0" algn="bl" rotWithShape="0" blurRad="177800" dist="50800" dir="5400000">
              <a:srgbClr val="F0B93A">
                <a:alpha val="50000"/>
              </a:srgbClr>
            </a:outerShdw>
          </a:effectLst>
        </p:spPr>
        <p:txBody>
          <a:bodyPr/>
          <a:p/>
        </p:txBody>
      </p:sp>
      <p:sp>
        <p:nvSpPr>
          <p:cNvPr id="25" name="Text 21"/>
          <p:cNvSpPr txBox="1"/>
          <p:nvPr/>
        </p:nvSpPr>
        <p:spPr>
          <a:xfrm>
            <a:off x="9900666" y="1463040"/>
            <a:ext cx="658368" cy="658368"/>
          </a:xfrm>
          <a:prstGeom prst="rect">
            <a:avLst/>
          </a:prstGeom>
          <a:noFill/>
          <a:ln/>
        </p:spPr>
        <p:txBody>
          <a:bodyPr wrap="square" lIns="0" tIns="0" rIns="0" bIns="0" rtlCol="0" anchor="ctr"/>
          <a:lstStyle/>
          <a:p>
            <a:pPr algn="ctr" indent="0" marL="0">
              <a:buNone/>
            </a:pPr>
            <a:r>
              <a:rPr lang="en-US" sz="1800" b="1" dirty="0">
                <a:solidFill>
                  <a:srgbClr val="1A1305"/>
                </a:solidFill>
                <a:latin typeface="Malgun Gothic" pitchFamily="34" charset="0"/>
                <a:ea typeface="Malgun Gothic" pitchFamily="34" charset="-122"/>
                <a:cs typeface="Malgun Gothic" pitchFamily="34" charset="-120"/>
              </a:rPr>
              <a:t>✔</a:t>
            </a:r>
            <a:endParaRPr lang="en-US" sz="1800" dirty="0"/>
          </a:p>
        </p:txBody>
      </p:sp>
      <p:sp>
        <p:nvSpPr>
          <p:cNvPr id="26" name="Text 22"/>
          <p:cNvSpPr txBox="1"/>
          <p:nvPr/>
        </p:nvSpPr>
        <p:spPr>
          <a:xfrm>
            <a:off x="8938260" y="224028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당사 대응</a:t>
            </a:r>
            <a:endParaRPr lang="en-US" sz="1700" dirty="0"/>
          </a:p>
        </p:txBody>
      </p:sp>
      <p:sp>
        <p:nvSpPr>
          <p:cNvPr id="27" name="Text 23"/>
          <p:cNvSpPr txBox="1"/>
          <p:nvPr/>
        </p:nvSpPr>
        <p:spPr>
          <a:xfrm>
            <a:off x="8938260" y="265176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12개 지역 자경 완료</a:t>
            </a:r>
            <a:endParaRPr lang="en-US" sz="1600" dirty="0"/>
          </a:p>
        </p:txBody>
      </p:sp>
      <p:sp>
        <p:nvSpPr>
          <p:cNvPr id="28" name="Text 24"/>
          <p:cNvSpPr txBox="1"/>
          <p:nvPr/>
        </p:nvSpPr>
        <p:spPr>
          <a:xfrm>
            <a:off x="8938260" y="3291840"/>
            <a:ext cx="2583180" cy="82296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농작물 매출 발생</a:t>
            </a:r>
            <a:endParaRPr lang="en-US" sz="1300" dirty="0"/>
          </a:p>
        </p:txBody>
      </p:sp>
      <p:sp>
        <p:nvSpPr>
          <p:cNvPr id="29" name="card"/>
          <p:cNvSpPr/>
          <p:nvPr/>
        </p:nvSpPr>
        <p:spPr>
          <a:xfrm>
            <a:off x="548640" y="4572000"/>
            <a:ext cx="11109960" cy="1645920"/>
          </a:xfrm>
          <a:prstGeom prst="roundRect">
            <a:avLst>
              <a:gd name="adj" fmla="val 6667"/>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0" name="Text 26"/>
          <p:cNvSpPr txBox="1"/>
          <p:nvPr/>
        </p:nvSpPr>
        <p:spPr>
          <a:xfrm>
            <a:off x="914400" y="4663440"/>
            <a:ext cx="3200400" cy="27432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자경 지역</a:t>
            </a:r>
            <a:endParaRPr lang="en-US" sz="1300" dirty="0"/>
          </a:p>
        </p:txBody>
      </p:sp>
      <p:sp>
        <p:nvSpPr>
          <p:cNvPr id="31" name="Text 27"/>
          <p:cNvSpPr txBox="1"/>
          <p:nvPr/>
        </p:nvSpPr>
        <p:spPr>
          <a:xfrm>
            <a:off x="914400" y="4937760"/>
            <a:ext cx="3200400" cy="1097280"/>
          </a:xfrm>
          <a:prstGeom prst="rect">
            <a:avLst/>
          </a:prstGeom>
          <a:noFill/>
          <a:ln/>
        </p:spPr>
        <p:txBody>
          <a:bodyPr wrap="square" lIns="0" tIns="0" rIns="0" bIns="0" rtlCol="0" anchor="ctr"/>
          <a:lstStyle/>
          <a:p>
            <a:pPr algn="ctr" indent="0" marL="0">
              <a:buNone/>
            </a:pPr>
            <a:r>
              <a:rPr lang="en-US" sz="5600" b="1" dirty="0">
                <a:solidFill>
                  <a:srgbClr val="F3DCA4"/>
                </a:solidFill>
                <a:latin typeface="Malgun Gothic" pitchFamily="34" charset="0"/>
                <a:ea typeface="Malgun Gothic" pitchFamily="34" charset="-122"/>
                <a:cs typeface="Malgun Gothic" pitchFamily="34" charset="-120"/>
              </a:rPr>
              <a:t>12</a:t>
            </a:r>
            <a:pPr algn="ctr" indent="0" marL="0">
              <a:buNone/>
            </a:pPr>
            <a:r>
              <a:rPr lang="en-US" sz="2200" b="1" dirty="0">
                <a:solidFill>
                  <a:srgbClr val="F3DCA4"/>
                </a:solidFill>
                <a:latin typeface="Malgun Gothic" pitchFamily="34" charset="0"/>
                <a:ea typeface="Malgun Gothic" pitchFamily="34" charset="-122"/>
                <a:cs typeface="Malgun Gothic" pitchFamily="34" charset="-120"/>
              </a:rPr>
              <a:t>곳</a:t>
            </a:r>
            <a:endParaRPr lang="en-US" sz="1600" dirty="0"/>
          </a:p>
        </p:txBody>
      </p:sp>
      <p:sp>
        <p:nvSpPr>
          <p:cNvPr id="32" name="Text 28"/>
          <p:cNvSpPr txBox="1"/>
          <p:nvPr/>
        </p:nvSpPr>
        <p:spPr>
          <a:xfrm>
            <a:off x="4480560" y="4937760"/>
            <a:ext cx="914400" cy="1097280"/>
          </a:xfrm>
          <a:prstGeom prst="rect">
            <a:avLst/>
          </a:prstGeom>
          <a:noFill/>
          <a:ln/>
        </p:spPr>
        <p:txBody>
          <a:bodyPr wrap="square" lIns="0" tIns="0" rIns="0" bIns="0" rtlCol="0" anchor="ctr"/>
          <a:lstStyle/>
          <a:p>
            <a:pPr algn="ctr" indent="0" marL="0">
              <a:buNone/>
            </a:pPr>
            <a:r>
              <a:rPr lang="en-US" sz="4000" dirty="0">
                <a:solidFill>
                  <a:srgbClr val="D9B66F"/>
                </a:solidFill>
                <a:latin typeface="Malgun Gothic" pitchFamily="34" charset="0"/>
                <a:ea typeface="Malgun Gothic" pitchFamily="34" charset="-122"/>
                <a:cs typeface="Malgun Gothic" pitchFamily="34" charset="-120"/>
              </a:rPr>
              <a:t>+</a:t>
            </a:r>
            <a:endParaRPr lang="en-US" sz="4000" dirty="0"/>
          </a:p>
        </p:txBody>
      </p:sp>
      <p:sp>
        <p:nvSpPr>
          <p:cNvPr id="33" name="Text 29"/>
          <p:cNvSpPr txBox="1"/>
          <p:nvPr/>
        </p:nvSpPr>
        <p:spPr>
          <a:xfrm>
            <a:off x="5760720" y="4663440"/>
            <a:ext cx="5486400" cy="27432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총 자경면적</a:t>
            </a:r>
            <a:endParaRPr lang="en-US" sz="1300" dirty="0"/>
          </a:p>
        </p:txBody>
      </p:sp>
      <p:sp>
        <p:nvSpPr>
          <p:cNvPr id="34" name="Text 30"/>
          <p:cNvSpPr txBox="1"/>
          <p:nvPr/>
        </p:nvSpPr>
        <p:spPr>
          <a:xfrm>
            <a:off x="5760720" y="4937760"/>
            <a:ext cx="5486400" cy="1097280"/>
          </a:xfrm>
          <a:prstGeom prst="rect">
            <a:avLst/>
          </a:prstGeom>
          <a:noFill/>
          <a:ln/>
        </p:spPr>
        <p:txBody>
          <a:bodyPr wrap="square" lIns="0" tIns="0" rIns="0" bIns="0" rtlCol="0" anchor="ctr"/>
          <a:lstStyle/>
          <a:p>
            <a:pPr algn="ctr" indent="0" marL="0">
              <a:buNone/>
            </a:pPr>
            <a:r>
              <a:rPr lang="en-US" sz="5600" b="1" dirty="0">
                <a:solidFill>
                  <a:srgbClr val="F3DCA4"/>
                </a:solidFill>
                <a:latin typeface="Malgun Gothic" pitchFamily="34" charset="0"/>
                <a:ea typeface="Malgun Gothic" pitchFamily="34" charset="-122"/>
                <a:cs typeface="Malgun Gothic" pitchFamily="34" charset="-120"/>
              </a:rPr>
              <a:t>54,164</a:t>
            </a:r>
            <a:pPr algn="ctr" indent="0" marL="0">
              <a:buNone/>
            </a:pPr>
            <a:r>
              <a:rPr lang="en-US" sz="2200" b="1" dirty="0">
                <a:solidFill>
                  <a:srgbClr val="F3DCA4"/>
                </a:solidFill>
                <a:latin typeface="Malgun Gothic" pitchFamily="34" charset="0"/>
                <a:ea typeface="Malgun Gothic" pitchFamily="34" charset="-122"/>
                <a:cs typeface="Malgun Gothic" pitchFamily="34" charset="-120"/>
              </a:rPr>
              <a:t>평</a:t>
            </a:r>
            <a:pPr algn="ctr" indent="0" marL="0">
              <a:buNone/>
            </a:pPr>
            <a:r>
              <a:rPr lang="en-US" sz="1400" b="1" dirty="0">
                <a:solidFill>
                  <a:srgbClr val="A9B3C9"/>
                </a:solidFill>
                <a:latin typeface="Malgun Gothic" pitchFamily="34" charset="0"/>
                <a:ea typeface="Malgun Gothic" pitchFamily="34" charset="-122"/>
                <a:cs typeface="Malgun Gothic" pitchFamily="34" charset="-120"/>
              </a:rPr>
              <a:t>   (179,079㎡)</a:t>
            </a:r>
            <a:endParaRPr lang="en-US" sz="16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Ⅶ</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농지 12개 지역 자경 완료</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지역별 자경 면적 (단위: 평)</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371600"/>
            <a:ext cx="7680960" cy="4892040"/>
          </a:xfrm>
          <a:prstGeom prst="roundRect">
            <a:avLst>
              <a:gd name="adj" fmla="val 2243"/>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graphicFrame>
        <p:nvGraphicFramePr>
          <p:cNvPr id="9" name="Chart 0" descr=""/>
          <p:cNvGraphicFramePr/>
          <p:nvPr/>
        </p:nvGraphicFramePr>
        <p:xfrm>
          <a:off x="640080" y="1417320"/>
          <a:ext cx="7498080" cy="4800600"/>
        </p:xfrm>
        <a:graphic xmlns:a="http://schemas.openxmlformats.org/drawingml/2006/main">
          <a:graphicData uri="http://schemas.openxmlformats.org/drawingml/2006/chart">
            <c:chart xmlns:c="http://schemas.openxmlformats.org/drawingml/2006/chart" r:id="rId2"/>
          </a:graphicData>
        </a:graphic>
      </p:graphicFrame>
      <p:sp>
        <p:nvSpPr>
          <p:cNvPr id="10" name="card"/>
          <p:cNvSpPr/>
          <p:nvPr/>
        </p:nvSpPr>
        <p:spPr>
          <a:xfrm>
            <a:off x="8458200" y="1371600"/>
            <a:ext cx="3200400" cy="4892040"/>
          </a:xfrm>
          <a:prstGeom prst="roundRect">
            <a:avLst>
              <a:gd name="adj" fmla="val 342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1" name="Text 6"/>
          <p:cNvSpPr txBox="1"/>
          <p:nvPr/>
        </p:nvSpPr>
        <p:spPr>
          <a:xfrm>
            <a:off x="8686800" y="2103120"/>
            <a:ext cx="2743200" cy="365760"/>
          </a:xfrm>
          <a:prstGeom prst="rect">
            <a:avLst/>
          </a:prstGeom>
          <a:noFill/>
          <a:ln/>
        </p:spPr>
        <p:txBody>
          <a:bodyPr wrap="square" lIns="0" tIns="0" rIns="0" bIns="0" rtlCol="0" anchor="t"/>
          <a:lstStyle/>
          <a:p>
            <a:pPr algn="ctr" indent="0" marL="0">
              <a:buNone/>
            </a:pPr>
            <a:r>
              <a:rPr lang="en-US" sz="1500" dirty="0">
                <a:solidFill>
                  <a:srgbClr val="A9B3C9"/>
                </a:solidFill>
                <a:latin typeface="Malgun Gothic" pitchFamily="34" charset="0"/>
                <a:ea typeface="Malgun Gothic" pitchFamily="34" charset="-122"/>
                <a:cs typeface="Malgun Gothic" pitchFamily="34" charset="-120"/>
              </a:rPr>
              <a:t>총 자경면적</a:t>
            </a:r>
            <a:endParaRPr lang="en-US" sz="1500" dirty="0"/>
          </a:p>
        </p:txBody>
      </p:sp>
      <p:sp>
        <p:nvSpPr>
          <p:cNvPr id="12" name="Text 7"/>
          <p:cNvSpPr txBox="1"/>
          <p:nvPr/>
        </p:nvSpPr>
        <p:spPr>
          <a:xfrm>
            <a:off x="8686800" y="2560320"/>
            <a:ext cx="2743200" cy="1097280"/>
          </a:xfrm>
          <a:prstGeom prst="rect">
            <a:avLst/>
          </a:prstGeom>
          <a:noFill/>
          <a:ln/>
        </p:spPr>
        <p:txBody>
          <a:bodyPr wrap="square" lIns="0" tIns="0" rIns="0" bIns="0" rtlCol="0" anchor="ctr"/>
          <a:lstStyle/>
          <a:p>
            <a:pPr algn="ctr" indent="0" marL="0">
              <a:buNone/>
            </a:pPr>
            <a:r>
              <a:rPr lang="en-US" sz="4800" b="1" dirty="0">
                <a:solidFill>
                  <a:srgbClr val="F3DCA4"/>
                </a:solidFill>
                <a:latin typeface="Malgun Gothic" pitchFamily="34" charset="0"/>
                <a:ea typeface="Malgun Gothic" pitchFamily="34" charset="-122"/>
                <a:cs typeface="Malgun Gothic" pitchFamily="34" charset="-120"/>
              </a:rPr>
              <a:t>54,164</a:t>
            </a:r>
            <a:endParaRPr lang="en-US" sz="4800" dirty="0"/>
          </a:p>
        </p:txBody>
      </p:sp>
      <p:sp>
        <p:nvSpPr>
          <p:cNvPr id="13" name="Text 8"/>
          <p:cNvSpPr txBox="1"/>
          <p:nvPr/>
        </p:nvSpPr>
        <p:spPr>
          <a:xfrm>
            <a:off x="8686800" y="3657600"/>
            <a:ext cx="2743200" cy="457200"/>
          </a:xfrm>
          <a:prstGeom prst="rect">
            <a:avLst/>
          </a:prstGeom>
          <a:noFill/>
          <a:ln/>
        </p:spPr>
        <p:txBody>
          <a:bodyPr wrap="square" lIns="0" tIns="0" rIns="0" bIns="0" rtlCol="0" anchor="t"/>
          <a:lstStyle/>
          <a:p>
            <a:pPr algn="ctr" indent="0" marL="0">
              <a:buNone/>
            </a:pPr>
            <a:r>
              <a:rPr lang="en-US" sz="2200" b="1" dirty="0">
                <a:solidFill>
                  <a:srgbClr val="F3DCA4"/>
                </a:solidFill>
                <a:latin typeface="Malgun Gothic" pitchFamily="34" charset="0"/>
                <a:ea typeface="Malgun Gothic" pitchFamily="34" charset="-122"/>
                <a:cs typeface="Malgun Gothic" pitchFamily="34" charset="-120"/>
              </a:rPr>
              <a:t>평</a:t>
            </a:r>
            <a:endParaRPr lang="en-US" sz="2200" dirty="0"/>
          </a:p>
        </p:txBody>
      </p:sp>
      <p:sp>
        <p:nvSpPr>
          <p:cNvPr id="14" name="Text 9"/>
          <p:cNvSpPr txBox="1"/>
          <p:nvPr/>
        </p:nvSpPr>
        <p:spPr>
          <a:xfrm>
            <a:off x="8686800" y="4160520"/>
            <a:ext cx="2743200" cy="36576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179,079㎡</a:t>
            </a:r>
            <a:endParaRPr lang="en-US" sz="1400" dirty="0"/>
          </a:p>
        </p:txBody>
      </p:sp>
      <p:sp>
        <p:nvSpPr>
          <p:cNvPr id="15" name="Shape 10"/>
          <p:cNvSpPr/>
          <p:nvPr/>
        </p:nvSpPr>
        <p:spPr>
          <a:xfrm>
            <a:off x="8915400" y="4846320"/>
            <a:ext cx="2286000" cy="457200"/>
          </a:xfrm>
          <a:prstGeom prst="roundRect">
            <a:avLst>
              <a:gd name="adj" fmla="val 50000"/>
            </a:avLst>
          </a:prstGeom>
          <a:solidFill>
            <a:srgbClr val="D9B66F">
              <a:alpha val="25000"/>
            </a:srgbClr>
          </a:solidFill>
          <a:ln w="12700">
            <a:solidFill>
              <a:srgbClr val="D9B66F"/>
            </a:solidFill>
            <a:prstDash val="solid"/>
          </a:ln>
        </p:spPr>
        <p:txBody>
          <a:bodyPr/>
          <a:p/>
        </p:txBody>
      </p:sp>
      <p:sp>
        <p:nvSpPr>
          <p:cNvPr id="16" name="Text 11"/>
          <p:cNvSpPr txBox="1"/>
          <p:nvPr/>
        </p:nvSpPr>
        <p:spPr>
          <a:xfrm>
            <a:off x="8915400" y="4846320"/>
            <a:ext cx="2286000" cy="457200"/>
          </a:xfrm>
          <a:prstGeom prst="rect">
            <a:avLst/>
          </a:prstGeom>
          <a:noFill/>
          <a:ln/>
        </p:spPr>
        <p:txBody>
          <a:bodyPr wrap="square" lIns="0" tIns="0" rIns="0" bIns="0" rtlCol="0" anchor="ctr"/>
          <a:lstStyle/>
          <a:p>
            <a:pPr algn="ctr" indent="0" marL="0">
              <a:buNone/>
            </a:pPr>
            <a:r>
              <a:rPr lang="en-US" sz="1400" b="1" dirty="0">
                <a:solidFill>
                  <a:srgbClr val="F3DCA4"/>
                </a:solidFill>
                <a:latin typeface="Malgun Gothic" pitchFamily="34" charset="0"/>
                <a:ea typeface="Malgun Gothic" pitchFamily="34" charset="-122"/>
                <a:cs typeface="Malgun Gothic" pitchFamily="34" charset="-120"/>
              </a:rPr>
              <a:t>농작물 매출 발생</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Ⅶ</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농지 자경 전 · 후 사진 — 세종특별시</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같은 장소, 달라진 모습</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Shape 4"/>
          <p:cNvSpPr/>
          <p:nvPr/>
        </p:nvSpPr>
        <p:spPr>
          <a:xfrm>
            <a:off x="777240" y="1783080"/>
            <a:ext cx="4846320" cy="3931920"/>
          </a:xfrm>
          <a:prstGeom prst="roundRect">
            <a:avLst>
              <a:gd name="adj" fmla="val 2326"/>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9" name="Image 1" descr="D:\Desktop\타뱅발표\assets\sejong_before.jpg">    </p:cNvPr>
          <p:cNvPicPr>
            <a:picLocks noChangeAspect="1"/>
          </p:cNvPicPr>
          <p:nvPr/>
        </p:nvPicPr>
        <p:blipFill>
          <a:blip r:embed="rId2"/>
          <a:srcRect l="0" r="0" t="0" b="0"/>
          <a:stretch/>
        </p:blipFill>
        <p:spPr>
          <a:xfrm>
            <a:off x="822960" y="1828800"/>
            <a:ext cx="4754880" cy="3840480"/>
          </a:xfrm>
          <a:prstGeom prst="rect">
            <a:avLst/>
          </a:prstGeom>
        </p:spPr>
      </p:pic>
      <p:sp>
        <p:nvSpPr>
          <p:cNvPr id="10" name="Shape 5"/>
          <p:cNvSpPr/>
          <p:nvPr/>
        </p:nvSpPr>
        <p:spPr>
          <a:xfrm>
            <a:off x="960120" y="1965960"/>
            <a:ext cx="1188720" cy="411480"/>
          </a:xfrm>
          <a:prstGeom prst="roundRect">
            <a:avLst>
              <a:gd name="adj" fmla="val 48889"/>
            </a:avLst>
          </a:prstGeom>
          <a:solidFill>
            <a:srgbClr val="4B5563"/>
          </a:solidFill>
          <a:ln w="12700">
            <a:solidFill>
              <a:srgbClr val="FFFFFF"/>
            </a:solidFill>
            <a:prstDash val="solid"/>
          </a:ln>
        </p:spPr>
        <p:txBody>
          <a:bodyPr/>
          <a:p/>
        </p:txBody>
      </p:sp>
      <p:sp>
        <p:nvSpPr>
          <p:cNvPr id="11" name="Text 6"/>
          <p:cNvSpPr txBox="1"/>
          <p:nvPr/>
        </p:nvSpPr>
        <p:spPr>
          <a:xfrm>
            <a:off x="960120" y="1965960"/>
            <a:ext cx="11887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자경 전</a:t>
            </a:r>
            <a:endParaRPr lang="en-US" sz="1500" dirty="0"/>
          </a:p>
        </p:txBody>
      </p:sp>
      <p:sp>
        <p:nvSpPr>
          <p:cNvPr id="12" name="Shape 7"/>
          <p:cNvSpPr/>
          <p:nvPr/>
        </p:nvSpPr>
        <p:spPr>
          <a:xfrm>
            <a:off x="6775704" y="1975104"/>
            <a:ext cx="4754880" cy="3840480"/>
          </a:xfrm>
          <a:prstGeom prst="roundRect">
            <a:avLst>
              <a:gd name="adj" fmla="val 2381"/>
            </a:avLst>
          </a:prstGeom>
          <a:solidFill>
            <a:srgbClr val="D9B66F"/>
          </a:solidFill>
          <a:ln w="12700">
            <a:solidFill>
              <a:srgbClr val="D9B66F"/>
            </a:solidFill>
            <a:prstDash val="solid"/>
          </a:ln>
        </p:spPr>
        <p:txBody>
          <a:bodyPr/>
          <a:p/>
        </p:txBody>
      </p:sp>
      <p:sp>
        <p:nvSpPr>
          <p:cNvPr id="13" name="Shape 8"/>
          <p:cNvSpPr/>
          <p:nvPr/>
        </p:nvSpPr>
        <p:spPr>
          <a:xfrm>
            <a:off x="6583680" y="1783080"/>
            <a:ext cx="4846320" cy="3931920"/>
          </a:xfrm>
          <a:prstGeom prst="roundRect">
            <a:avLst>
              <a:gd name="adj" fmla="val 2326"/>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14" name="Image 2" descr="D:\Desktop\타뱅발표\assets\sejong_after.jpg">    </p:cNvPr>
          <p:cNvPicPr>
            <a:picLocks noChangeAspect="1"/>
          </p:cNvPicPr>
          <p:nvPr/>
        </p:nvPicPr>
        <p:blipFill>
          <a:blip r:embed="rId3"/>
          <a:srcRect l="0" r="0" t="0" b="0"/>
          <a:stretch/>
        </p:blipFill>
        <p:spPr>
          <a:xfrm>
            <a:off x="6629400" y="1828800"/>
            <a:ext cx="4754880" cy="3840480"/>
          </a:xfrm>
          <a:prstGeom prst="rect">
            <a:avLst/>
          </a:prstGeom>
        </p:spPr>
      </p:pic>
      <p:sp>
        <p:nvSpPr>
          <p:cNvPr id="15" name="Shape 9"/>
          <p:cNvSpPr/>
          <p:nvPr/>
        </p:nvSpPr>
        <p:spPr>
          <a:xfrm>
            <a:off x="6766560" y="1965960"/>
            <a:ext cx="1188720" cy="411480"/>
          </a:xfrm>
          <a:prstGeom prst="roundRect">
            <a:avLst>
              <a:gd name="adj" fmla="val 48889"/>
            </a:avLst>
          </a:prstGeom>
          <a:solidFill>
            <a:srgbClr val="2E7D6B"/>
          </a:solidFill>
          <a:ln w="12700">
            <a:solidFill>
              <a:srgbClr val="FFFFFF"/>
            </a:solidFill>
            <a:prstDash val="solid"/>
          </a:ln>
        </p:spPr>
        <p:txBody>
          <a:bodyPr/>
          <a:p/>
        </p:txBody>
      </p:sp>
      <p:sp>
        <p:nvSpPr>
          <p:cNvPr id="16" name="Text 10"/>
          <p:cNvSpPr txBox="1"/>
          <p:nvPr/>
        </p:nvSpPr>
        <p:spPr>
          <a:xfrm>
            <a:off x="6766560" y="1965960"/>
            <a:ext cx="11887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자경 후</a:t>
            </a:r>
            <a:endParaRPr lang="en-US" sz="1500" dirty="0"/>
          </a:p>
        </p:txBody>
      </p:sp>
      <p:sp>
        <p:nvSpPr>
          <p:cNvPr id="17" name="Text 11"/>
          <p:cNvSpPr txBox="1"/>
          <p:nvPr/>
        </p:nvSpPr>
        <p:spPr>
          <a:xfrm>
            <a:off x="5669280" y="3383280"/>
            <a:ext cx="822960" cy="82296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Ⅶ</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농지 자경 전 · 후 사진 — 대전광역시</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같은 장소, 달라진 모습</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Shape 4"/>
          <p:cNvSpPr/>
          <p:nvPr/>
        </p:nvSpPr>
        <p:spPr>
          <a:xfrm>
            <a:off x="777240" y="1783080"/>
            <a:ext cx="4846320" cy="3931920"/>
          </a:xfrm>
          <a:prstGeom prst="roundRect">
            <a:avLst>
              <a:gd name="adj" fmla="val 2326"/>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9" name="Image 1" descr="D:\Desktop\타뱅발표\assets\daejeon_before.jpg">    </p:cNvPr>
          <p:cNvPicPr>
            <a:picLocks noChangeAspect="1"/>
          </p:cNvPicPr>
          <p:nvPr/>
        </p:nvPicPr>
        <p:blipFill>
          <a:blip r:embed="rId2"/>
          <a:srcRect l="0" r="0" t="0" b="0"/>
          <a:stretch/>
        </p:blipFill>
        <p:spPr>
          <a:xfrm>
            <a:off x="822960" y="1828800"/>
            <a:ext cx="4754880" cy="3840480"/>
          </a:xfrm>
          <a:prstGeom prst="rect">
            <a:avLst/>
          </a:prstGeom>
        </p:spPr>
      </p:pic>
      <p:sp>
        <p:nvSpPr>
          <p:cNvPr id="10" name="Shape 5"/>
          <p:cNvSpPr/>
          <p:nvPr/>
        </p:nvSpPr>
        <p:spPr>
          <a:xfrm>
            <a:off x="960120" y="1965960"/>
            <a:ext cx="1188720" cy="411480"/>
          </a:xfrm>
          <a:prstGeom prst="roundRect">
            <a:avLst>
              <a:gd name="adj" fmla="val 48889"/>
            </a:avLst>
          </a:prstGeom>
          <a:solidFill>
            <a:srgbClr val="4B5563"/>
          </a:solidFill>
          <a:ln w="12700">
            <a:solidFill>
              <a:srgbClr val="FFFFFF"/>
            </a:solidFill>
            <a:prstDash val="solid"/>
          </a:ln>
        </p:spPr>
        <p:txBody>
          <a:bodyPr/>
          <a:p/>
        </p:txBody>
      </p:sp>
      <p:sp>
        <p:nvSpPr>
          <p:cNvPr id="11" name="Text 6"/>
          <p:cNvSpPr txBox="1"/>
          <p:nvPr/>
        </p:nvSpPr>
        <p:spPr>
          <a:xfrm>
            <a:off x="960120" y="1965960"/>
            <a:ext cx="11887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자경 전</a:t>
            </a:r>
            <a:endParaRPr lang="en-US" sz="1500" dirty="0"/>
          </a:p>
        </p:txBody>
      </p:sp>
      <p:sp>
        <p:nvSpPr>
          <p:cNvPr id="12" name="Shape 7"/>
          <p:cNvSpPr/>
          <p:nvPr/>
        </p:nvSpPr>
        <p:spPr>
          <a:xfrm>
            <a:off x="6775704" y="1975104"/>
            <a:ext cx="4754880" cy="3840480"/>
          </a:xfrm>
          <a:prstGeom prst="roundRect">
            <a:avLst>
              <a:gd name="adj" fmla="val 2381"/>
            </a:avLst>
          </a:prstGeom>
          <a:solidFill>
            <a:srgbClr val="D9B66F"/>
          </a:solidFill>
          <a:ln w="12700">
            <a:solidFill>
              <a:srgbClr val="D9B66F"/>
            </a:solidFill>
            <a:prstDash val="solid"/>
          </a:ln>
        </p:spPr>
        <p:txBody>
          <a:bodyPr/>
          <a:p/>
        </p:txBody>
      </p:sp>
      <p:sp>
        <p:nvSpPr>
          <p:cNvPr id="13" name="Shape 8"/>
          <p:cNvSpPr/>
          <p:nvPr/>
        </p:nvSpPr>
        <p:spPr>
          <a:xfrm>
            <a:off x="6583680" y="1783080"/>
            <a:ext cx="4846320" cy="3931920"/>
          </a:xfrm>
          <a:prstGeom prst="roundRect">
            <a:avLst>
              <a:gd name="adj" fmla="val 2326"/>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14" name="Image 2" descr="D:\Desktop\타뱅발표\assets\daejeon_after.jpg">    </p:cNvPr>
          <p:cNvPicPr>
            <a:picLocks noChangeAspect="1"/>
          </p:cNvPicPr>
          <p:nvPr/>
        </p:nvPicPr>
        <p:blipFill>
          <a:blip r:embed="rId3"/>
          <a:srcRect l="0" r="0" t="0" b="0"/>
          <a:stretch/>
        </p:blipFill>
        <p:spPr>
          <a:xfrm>
            <a:off x="6629400" y="1828800"/>
            <a:ext cx="4754880" cy="3840480"/>
          </a:xfrm>
          <a:prstGeom prst="rect">
            <a:avLst/>
          </a:prstGeom>
        </p:spPr>
      </p:pic>
      <p:sp>
        <p:nvSpPr>
          <p:cNvPr id="15" name="Shape 9"/>
          <p:cNvSpPr/>
          <p:nvPr/>
        </p:nvSpPr>
        <p:spPr>
          <a:xfrm>
            <a:off x="6766560" y="1965960"/>
            <a:ext cx="1188720" cy="411480"/>
          </a:xfrm>
          <a:prstGeom prst="roundRect">
            <a:avLst>
              <a:gd name="adj" fmla="val 48889"/>
            </a:avLst>
          </a:prstGeom>
          <a:solidFill>
            <a:srgbClr val="2E7D6B"/>
          </a:solidFill>
          <a:ln w="12700">
            <a:solidFill>
              <a:srgbClr val="FFFFFF"/>
            </a:solidFill>
            <a:prstDash val="solid"/>
          </a:ln>
        </p:spPr>
        <p:txBody>
          <a:bodyPr/>
          <a:p/>
        </p:txBody>
      </p:sp>
      <p:sp>
        <p:nvSpPr>
          <p:cNvPr id="16" name="Text 10"/>
          <p:cNvSpPr txBox="1"/>
          <p:nvPr/>
        </p:nvSpPr>
        <p:spPr>
          <a:xfrm>
            <a:off x="6766560" y="1965960"/>
            <a:ext cx="11887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자경 후</a:t>
            </a:r>
            <a:endParaRPr lang="en-US" sz="1500" dirty="0"/>
          </a:p>
        </p:txBody>
      </p:sp>
      <p:sp>
        <p:nvSpPr>
          <p:cNvPr id="17" name="Text 11"/>
          <p:cNvSpPr txBox="1"/>
          <p:nvPr/>
        </p:nvSpPr>
        <p:spPr>
          <a:xfrm>
            <a:off x="5669280" y="3383280"/>
            <a:ext cx="822960" cy="82296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Ⅶ</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농지 자경 전 · 후 사진 — 전북특별자치도</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같은 장소, 달라진 모습</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Shape 4"/>
          <p:cNvSpPr/>
          <p:nvPr/>
        </p:nvSpPr>
        <p:spPr>
          <a:xfrm>
            <a:off x="777240" y="1783080"/>
            <a:ext cx="4846320" cy="3931920"/>
          </a:xfrm>
          <a:prstGeom prst="roundRect">
            <a:avLst>
              <a:gd name="adj" fmla="val 2326"/>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9" name="Image 1" descr="D:\Desktop\타뱅발표\assets\jeonbuk_before.jpg">    </p:cNvPr>
          <p:cNvPicPr>
            <a:picLocks noChangeAspect="1"/>
          </p:cNvPicPr>
          <p:nvPr/>
        </p:nvPicPr>
        <p:blipFill>
          <a:blip r:embed="rId2"/>
          <a:srcRect l="0" r="0" t="0" b="0"/>
          <a:stretch/>
        </p:blipFill>
        <p:spPr>
          <a:xfrm>
            <a:off x="822960" y="1828800"/>
            <a:ext cx="4754880" cy="3840480"/>
          </a:xfrm>
          <a:prstGeom prst="rect">
            <a:avLst/>
          </a:prstGeom>
        </p:spPr>
      </p:pic>
      <p:sp>
        <p:nvSpPr>
          <p:cNvPr id="10" name="Shape 5"/>
          <p:cNvSpPr/>
          <p:nvPr/>
        </p:nvSpPr>
        <p:spPr>
          <a:xfrm>
            <a:off x="960120" y="1965960"/>
            <a:ext cx="1188720" cy="411480"/>
          </a:xfrm>
          <a:prstGeom prst="roundRect">
            <a:avLst>
              <a:gd name="adj" fmla="val 48889"/>
            </a:avLst>
          </a:prstGeom>
          <a:solidFill>
            <a:srgbClr val="4B5563"/>
          </a:solidFill>
          <a:ln w="12700">
            <a:solidFill>
              <a:srgbClr val="FFFFFF"/>
            </a:solidFill>
            <a:prstDash val="solid"/>
          </a:ln>
        </p:spPr>
        <p:txBody>
          <a:bodyPr/>
          <a:p/>
        </p:txBody>
      </p:sp>
      <p:sp>
        <p:nvSpPr>
          <p:cNvPr id="11" name="Text 6"/>
          <p:cNvSpPr txBox="1"/>
          <p:nvPr/>
        </p:nvSpPr>
        <p:spPr>
          <a:xfrm>
            <a:off x="960120" y="1965960"/>
            <a:ext cx="11887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자경 전</a:t>
            </a:r>
            <a:endParaRPr lang="en-US" sz="1500" dirty="0"/>
          </a:p>
        </p:txBody>
      </p:sp>
      <p:sp>
        <p:nvSpPr>
          <p:cNvPr id="12" name="Shape 7"/>
          <p:cNvSpPr/>
          <p:nvPr/>
        </p:nvSpPr>
        <p:spPr>
          <a:xfrm>
            <a:off x="6775704" y="1975104"/>
            <a:ext cx="4754880" cy="3840480"/>
          </a:xfrm>
          <a:prstGeom prst="roundRect">
            <a:avLst>
              <a:gd name="adj" fmla="val 2381"/>
            </a:avLst>
          </a:prstGeom>
          <a:solidFill>
            <a:srgbClr val="D9B66F"/>
          </a:solidFill>
          <a:ln w="12700">
            <a:solidFill>
              <a:srgbClr val="D9B66F"/>
            </a:solidFill>
            <a:prstDash val="solid"/>
          </a:ln>
        </p:spPr>
        <p:txBody>
          <a:bodyPr/>
          <a:p/>
        </p:txBody>
      </p:sp>
      <p:sp>
        <p:nvSpPr>
          <p:cNvPr id="13" name="Shape 8"/>
          <p:cNvSpPr/>
          <p:nvPr/>
        </p:nvSpPr>
        <p:spPr>
          <a:xfrm>
            <a:off x="6583680" y="1783080"/>
            <a:ext cx="4846320" cy="3931920"/>
          </a:xfrm>
          <a:prstGeom prst="roundRect">
            <a:avLst>
              <a:gd name="adj" fmla="val 2326"/>
            </a:avLst>
          </a:prstGeom>
          <a:solidFill>
            <a:srgbClr val="FFFFFF"/>
          </a:solidFill>
          <a:ln w="12700">
            <a:solidFill>
              <a:srgbClr val="FFFFFF"/>
            </a:solidFill>
            <a:prstDash val="solid"/>
          </a:ln>
          <a:effectLst>
            <a:outerShdw sx="100000" sy="100000" kx="0" ky="0" algn="bl" rotWithShape="0" blurRad="228600" dist="101600" dir="5400000">
              <a:srgbClr val="000000">
                <a:alpha val="55000"/>
              </a:srgbClr>
            </a:outerShdw>
          </a:effectLst>
        </p:spPr>
        <p:txBody>
          <a:bodyPr/>
          <a:p/>
        </p:txBody>
      </p:sp>
      <p:pic>
        <p:nvPicPr>
          <p:cNvPr id="14" name="Image 2" descr="D:\Desktop\타뱅발표\assets\jeonbuk_after.jpg">    </p:cNvPr>
          <p:cNvPicPr>
            <a:picLocks noChangeAspect="1"/>
          </p:cNvPicPr>
          <p:nvPr/>
        </p:nvPicPr>
        <p:blipFill>
          <a:blip r:embed="rId3"/>
          <a:srcRect l="0" r="0" t="0" b="0"/>
          <a:stretch/>
        </p:blipFill>
        <p:spPr>
          <a:xfrm>
            <a:off x="6629400" y="1828800"/>
            <a:ext cx="4754880" cy="3840480"/>
          </a:xfrm>
          <a:prstGeom prst="rect">
            <a:avLst/>
          </a:prstGeom>
        </p:spPr>
      </p:pic>
      <p:sp>
        <p:nvSpPr>
          <p:cNvPr id="15" name="Shape 9"/>
          <p:cNvSpPr/>
          <p:nvPr/>
        </p:nvSpPr>
        <p:spPr>
          <a:xfrm>
            <a:off x="6766560" y="1965960"/>
            <a:ext cx="1188720" cy="411480"/>
          </a:xfrm>
          <a:prstGeom prst="roundRect">
            <a:avLst>
              <a:gd name="adj" fmla="val 48889"/>
            </a:avLst>
          </a:prstGeom>
          <a:solidFill>
            <a:srgbClr val="2E7D6B"/>
          </a:solidFill>
          <a:ln w="12700">
            <a:solidFill>
              <a:srgbClr val="FFFFFF"/>
            </a:solidFill>
            <a:prstDash val="solid"/>
          </a:ln>
        </p:spPr>
        <p:txBody>
          <a:bodyPr/>
          <a:p/>
        </p:txBody>
      </p:sp>
      <p:sp>
        <p:nvSpPr>
          <p:cNvPr id="16" name="Text 10"/>
          <p:cNvSpPr txBox="1"/>
          <p:nvPr/>
        </p:nvSpPr>
        <p:spPr>
          <a:xfrm>
            <a:off x="6766560" y="1965960"/>
            <a:ext cx="11887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자경 후</a:t>
            </a:r>
            <a:endParaRPr lang="en-US" sz="1500" dirty="0"/>
          </a:p>
        </p:txBody>
      </p:sp>
      <p:sp>
        <p:nvSpPr>
          <p:cNvPr id="17" name="Text 11"/>
          <p:cNvSpPr txBox="1"/>
          <p:nvPr/>
        </p:nvSpPr>
        <p:spPr>
          <a:xfrm>
            <a:off x="5669280" y="3383280"/>
            <a:ext cx="822960" cy="82296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Ⅷ</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지방세 서면조사 “적정”</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직원들의 탁월한 직무 능력으로 평소 세무 신고의 정확성 입증</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Text 4"/>
          <p:cNvSpPr txBox="1"/>
          <p:nvPr/>
        </p:nvSpPr>
        <p:spPr>
          <a:xfrm>
            <a:off x="548640" y="1371600"/>
            <a:ext cx="4297680" cy="365760"/>
          </a:xfrm>
          <a:prstGeom prst="rect">
            <a:avLst/>
          </a:prstGeom>
          <a:noFill/>
          <a:ln/>
        </p:spPr>
        <p:txBody>
          <a:bodyPr wrap="square" lIns="0" tIns="0" rIns="0" bIns="0" rtlCol="0" anchor="t"/>
          <a:lstStyle/>
          <a:p>
            <a:pPr algn="ctr" indent="0" marL="0">
              <a:buNone/>
            </a:pPr>
            <a:r>
              <a:rPr lang="en-US" sz="1500" b="1" dirty="0">
                <a:solidFill>
                  <a:srgbClr val="F3DCA4"/>
                </a:solidFill>
                <a:latin typeface="Malgun Gothic" pitchFamily="34" charset="0"/>
                <a:ea typeface="Malgun Gothic" pitchFamily="34" charset="-122"/>
                <a:cs typeface="Malgun Gothic" pitchFamily="34" charset="-120"/>
              </a:rPr>
              <a:t>춘천시청 · 5개년 (2021~2025)</a:t>
            </a:r>
            <a:endParaRPr lang="en-US" sz="1500" dirty="0"/>
          </a:p>
        </p:txBody>
      </p:sp>
      <p:sp>
        <p:nvSpPr>
          <p:cNvPr id="9" name="Shape 5"/>
          <p:cNvSpPr/>
          <p:nvPr/>
        </p:nvSpPr>
        <p:spPr>
          <a:xfrm>
            <a:off x="822960" y="1920240"/>
            <a:ext cx="3657600" cy="3611880"/>
          </a:xfrm>
          <a:prstGeom prst="rect">
            <a:avLst/>
          </a:prstGeom>
          <a:solidFill>
            <a:srgbClr val="FFFFFF"/>
          </a:solidFill>
          <a:ln w="12700">
            <a:solidFill>
              <a:srgbClr val="FFFFFF"/>
            </a:solidFill>
            <a:prstDash val="solid"/>
          </a:ln>
          <a:effectLst>
            <a:outerShdw sx="100000" sy="100000" kx="0" ky="0" algn="bl" rotWithShape="0" blurRad="203200" dist="88900" dir="5400000">
              <a:srgbClr val="000000">
                <a:alpha val="55000"/>
              </a:srgbClr>
            </a:outerShdw>
          </a:effectLst>
        </p:spPr>
        <p:txBody>
          <a:bodyPr/>
          <a:p/>
        </p:txBody>
      </p:sp>
      <p:pic>
        <p:nvPicPr>
          <p:cNvPr id="10" name="Image 1" descr="D:\Desktop\타뱅발표\assets\chuncheon.jpg">    </p:cNvPr>
          <p:cNvPicPr>
            <a:picLocks noChangeAspect="1"/>
          </p:cNvPicPr>
          <p:nvPr/>
        </p:nvPicPr>
        <p:blipFill>
          <a:blip r:embed="rId2"/>
          <a:srcRect l="0" r="0" t="0" b="0"/>
          <a:stretch/>
        </p:blipFill>
        <p:spPr>
          <a:xfrm>
            <a:off x="868680" y="1965960"/>
            <a:ext cx="3566160" cy="3520440"/>
          </a:xfrm>
          <a:prstGeom prst="rect">
            <a:avLst/>
          </a:prstGeom>
        </p:spPr>
      </p:pic>
      <p:sp>
        <p:nvSpPr>
          <p:cNvPr id="11" name="Text 6"/>
          <p:cNvSpPr txBox="1"/>
          <p:nvPr/>
        </p:nvSpPr>
        <p:spPr>
          <a:xfrm>
            <a:off x="548640" y="5715000"/>
            <a:ext cx="4206240" cy="36576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춘천시 소재 5개 매장</a:t>
            </a:r>
            <a:endParaRPr lang="en-US" sz="1400" dirty="0"/>
          </a:p>
        </p:txBody>
      </p:sp>
      <p:sp>
        <p:nvSpPr>
          <p:cNvPr id="12" name="Text 7"/>
          <p:cNvSpPr txBox="1"/>
          <p:nvPr/>
        </p:nvSpPr>
        <p:spPr>
          <a:xfrm>
            <a:off x="7863840" y="1371600"/>
            <a:ext cx="4297680" cy="365760"/>
          </a:xfrm>
          <a:prstGeom prst="rect">
            <a:avLst/>
          </a:prstGeom>
          <a:noFill/>
          <a:ln/>
        </p:spPr>
        <p:txBody>
          <a:bodyPr wrap="square" lIns="0" tIns="0" rIns="0" bIns="0" rtlCol="0" anchor="t"/>
          <a:lstStyle/>
          <a:p>
            <a:pPr algn="ctr" indent="0" marL="0">
              <a:buNone/>
            </a:pPr>
            <a:r>
              <a:rPr lang="en-US" sz="1500" b="1" dirty="0">
                <a:solidFill>
                  <a:srgbClr val="F3DCA4"/>
                </a:solidFill>
                <a:latin typeface="Malgun Gothic" pitchFamily="34" charset="0"/>
                <a:ea typeface="Malgun Gothic" pitchFamily="34" charset="-122"/>
                <a:cs typeface="Malgun Gothic" pitchFamily="34" charset="-120"/>
              </a:rPr>
              <a:t>전주시청 · 4개년 (2022~2025)</a:t>
            </a:r>
            <a:endParaRPr lang="en-US" sz="1500" dirty="0"/>
          </a:p>
        </p:txBody>
      </p:sp>
      <p:sp>
        <p:nvSpPr>
          <p:cNvPr id="13" name="Shape 8"/>
          <p:cNvSpPr/>
          <p:nvPr/>
        </p:nvSpPr>
        <p:spPr>
          <a:xfrm>
            <a:off x="8138160" y="1920240"/>
            <a:ext cx="3657600" cy="3611880"/>
          </a:xfrm>
          <a:prstGeom prst="rect">
            <a:avLst/>
          </a:prstGeom>
          <a:solidFill>
            <a:srgbClr val="FFFFFF"/>
          </a:solidFill>
          <a:ln w="12700">
            <a:solidFill>
              <a:srgbClr val="FFFFFF"/>
            </a:solidFill>
            <a:prstDash val="solid"/>
          </a:ln>
          <a:effectLst>
            <a:outerShdw sx="100000" sy="100000" kx="0" ky="0" algn="bl" rotWithShape="0" blurRad="203200" dist="88900" dir="5400000">
              <a:srgbClr val="000000">
                <a:alpha val="55000"/>
              </a:srgbClr>
            </a:outerShdw>
          </a:effectLst>
        </p:spPr>
        <p:txBody>
          <a:bodyPr/>
          <a:p/>
        </p:txBody>
      </p:sp>
      <p:pic>
        <p:nvPicPr>
          <p:cNvPr id="14" name="Image 2" descr="D:\Desktop\타뱅발표\assets\jeonju.jpg">    </p:cNvPr>
          <p:cNvPicPr>
            <a:picLocks noChangeAspect="1"/>
          </p:cNvPicPr>
          <p:nvPr/>
        </p:nvPicPr>
        <p:blipFill>
          <a:blip r:embed="rId3"/>
          <a:srcRect l="0" r="0" t="0" b="0"/>
          <a:stretch/>
        </p:blipFill>
        <p:spPr>
          <a:xfrm>
            <a:off x="8183880" y="1965960"/>
            <a:ext cx="3566160" cy="3520440"/>
          </a:xfrm>
          <a:prstGeom prst="rect">
            <a:avLst/>
          </a:prstGeom>
        </p:spPr>
      </p:pic>
      <p:sp>
        <p:nvSpPr>
          <p:cNvPr id="15" name="Text 9"/>
          <p:cNvSpPr txBox="1"/>
          <p:nvPr/>
        </p:nvSpPr>
        <p:spPr>
          <a:xfrm>
            <a:off x="7863840" y="5715000"/>
            <a:ext cx="4206240" cy="36576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전주시 소재 11개 매장</a:t>
            </a:r>
            <a:endParaRPr lang="en-US" sz="1400" dirty="0"/>
          </a:p>
        </p:txBody>
      </p:sp>
      <p:sp>
        <p:nvSpPr>
          <p:cNvPr id="16" name="Shape 10"/>
          <p:cNvSpPr/>
          <p:nvPr/>
        </p:nvSpPr>
        <p:spPr>
          <a:xfrm>
            <a:off x="4937760" y="2743200"/>
            <a:ext cx="2286000" cy="1097280"/>
          </a:xfrm>
          <a:prstGeom prst="roundRect">
            <a:avLst>
              <a:gd name="adj" fmla="val 13333"/>
            </a:avLst>
          </a:prstGeom>
          <a:solidFill>
            <a:srgbClr val="0B1426">
              <a:alpha val="0"/>
            </a:srgbClr>
          </a:solidFill>
          <a:ln w="50800">
            <a:solidFill>
              <a:srgbClr val="FF6B73"/>
            </a:solidFill>
            <a:prstDash val="solid"/>
          </a:ln>
        </p:spPr>
        <p:txBody>
          <a:bodyPr/>
          <a:p/>
        </p:txBody>
      </p:sp>
      <p:sp>
        <p:nvSpPr>
          <p:cNvPr id="17" name="Text 11"/>
          <p:cNvSpPr txBox="1"/>
          <p:nvPr/>
        </p:nvSpPr>
        <p:spPr>
          <a:xfrm>
            <a:off x="4937760" y="2743200"/>
            <a:ext cx="2286000" cy="1097280"/>
          </a:xfrm>
          <a:prstGeom prst="rect">
            <a:avLst/>
          </a:prstGeom>
          <a:noFill/>
          <a:ln/>
        </p:spPr>
        <p:txBody>
          <a:bodyPr wrap="square" lIns="0" tIns="0" rIns="0" bIns="0" rtlCol="0" anchor="ctr"/>
          <a:lstStyle/>
          <a:p>
            <a:pPr algn="ctr" indent="0" marL="0">
              <a:buNone/>
            </a:pPr>
            <a:r>
              <a:rPr lang="en-US" sz="3600" b="1" spc="600" kern="0" dirty="0">
                <a:solidFill>
                  <a:srgbClr val="FF6B73"/>
                </a:solidFill>
                <a:latin typeface="Malgun Gothic" pitchFamily="34" charset="0"/>
                <a:ea typeface="Malgun Gothic" pitchFamily="34" charset="-122"/>
                <a:cs typeface="Malgun Gothic" pitchFamily="34" charset="-120"/>
              </a:rPr>
              <a:t>적 정</a:t>
            </a:r>
            <a:endParaRPr lang="en-US" sz="3600" dirty="0"/>
          </a:p>
        </p:txBody>
      </p:sp>
      <p:sp>
        <p:nvSpPr>
          <p:cNvPr id="18" name="Shape 12"/>
          <p:cNvSpPr/>
          <p:nvPr/>
        </p:nvSpPr>
        <p:spPr>
          <a:xfrm>
            <a:off x="4937760" y="4114800"/>
            <a:ext cx="2286000" cy="457200"/>
          </a:xfrm>
          <a:prstGeom prst="roundRect">
            <a:avLst>
              <a:gd name="adj" fmla="val 50000"/>
            </a:avLst>
          </a:prstGeom>
          <a:solidFill>
            <a:srgbClr val="FF6B73">
              <a:alpha val="20000"/>
            </a:srgbClr>
          </a:solidFill>
          <a:ln w="12700">
            <a:solidFill>
              <a:srgbClr val="FF6B73"/>
            </a:solidFill>
            <a:prstDash val="solid"/>
          </a:ln>
        </p:spPr>
        <p:txBody>
          <a:bodyPr/>
          <a:p/>
        </p:txBody>
      </p:sp>
      <p:sp>
        <p:nvSpPr>
          <p:cNvPr id="19" name="Text 13"/>
          <p:cNvSpPr txBox="1"/>
          <p:nvPr/>
        </p:nvSpPr>
        <p:spPr>
          <a:xfrm>
            <a:off x="4937760" y="4114800"/>
            <a:ext cx="2286000" cy="457200"/>
          </a:xfrm>
          <a:prstGeom prst="rect">
            <a:avLst/>
          </a:prstGeom>
          <a:noFill/>
          <a:ln/>
        </p:spPr>
        <p:txBody>
          <a:bodyPr wrap="square" lIns="0" tIns="0" rIns="0" bIns="0" rtlCol="0" anchor="ctr"/>
          <a:lstStyle/>
          <a:p>
            <a:pPr algn="ctr" indent="0" marL="0">
              <a:buNone/>
            </a:pPr>
            <a:r>
              <a:rPr lang="en-US" sz="1400" b="1" dirty="0">
                <a:solidFill>
                  <a:srgbClr val="FFB3B8"/>
                </a:solidFill>
                <a:latin typeface="Malgun Gothic" pitchFamily="34" charset="0"/>
                <a:ea typeface="Malgun Gothic" pitchFamily="34" charset="-122"/>
                <a:cs typeface="Malgun Gothic" pitchFamily="34" charset="-120"/>
              </a:rPr>
              <a:t>추징세액 없음</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Ⅸ</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MMDA 이자율 및 여신금리 관리</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이자수익의 극대화 · 이자비용의 최소화</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417320"/>
            <a:ext cx="6400800" cy="4800600"/>
          </a:xfrm>
          <a:prstGeom prst="roundRect">
            <a:avLst>
              <a:gd name="adj" fmla="val 2286"/>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Text 5"/>
          <p:cNvSpPr txBox="1"/>
          <p:nvPr/>
        </p:nvSpPr>
        <p:spPr>
          <a:xfrm>
            <a:off x="822960" y="1554480"/>
            <a:ext cx="5852160" cy="365760"/>
          </a:xfrm>
          <a:prstGeom prst="rect">
            <a:avLst/>
          </a:prstGeom>
          <a:noFill/>
          <a:ln/>
        </p:spPr>
        <p:txBody>
          <a:bodyPr wrap="square" lIns="0" tIns="0" rIns="0" bIns="0" rtlCol="0" anchor="t"/>
          <a:lstStyle/>
          <a:p>
            <a:pPr indent="0" marL="0">
              <a:buNone/>
            </a:pPr>
            <a:r>
              <a:rPr lang="en-US" sz="1500" b="1" dirty="0">
                <a:solidFill>
                  <a:srgbClr val="D9B66F"/>
                </a:solidFill>
                <a:latin typeface="Malgun Gothic" pitchFamily="34" charset="0"/>
                <a:ea typeface="Malgun Gothic" pitchFamily="34" charset="-122"/>
                <a:cs typeface="Malgun Gothic" pitchFamily="34" charset="-120"/>
              </a:rPr>
              <a:t>① MMDA 이자율 관리 (2026.10 현재)</a:t>
            </a:r>
            <a:endParaRPr lang="en-US" sz="1500" dirty="0"/>
          </a:p>
        </p:txBody>
      </p:sp>
      <p:sp>
        <p:nvSpPr>
          <p:cNvPr id="10" name="Text 6"/>
          <p:cNvSpPr txBox="1"/>
          <p:nvPr/>
        </p:nvSpPr>
        <p:spPr>
          <a:xfrm>
            <a:off x="822960" y="2011680"/>
            <a:ext cx="5852160" cy="64008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매월 금융기관 MMDA 이자율 확인 → 당좌자산 예치 금융기관 결정</a:t>
            </a:r>
            <a:endParaRPr lang="en-US" sz="1400" dirty="0"/>
          </a:p>
        </p:txBody>
      </p:sp>
      <p:sp>
        <p:nvSpPr>
          <p:cNvPr id="11" name="Text 7"/>
          <p:cNvSpPr txBox="1"/>
          <p:nvPr/>
        </p:nvSpPr>
        <p:spPr>
          <a:xfrm>
            <a:off x="822960" y="2926080"/>
            <a:ext cx="1371600" cy="457200"/>
          </a:xfrm>
          <a:prstGeom prst="rect">
            <a:avLst/>
          </a:prstGeom>
          <a:noFill/>
          <a:ln/>
        </p:spPr>
        <p:txBody>
          <a:bodyPr wrap="square" lIns="0" tIns="0" rIns="0" bIns="0" rtlCol="0" anchor="ctr"/>
          <a:lstStyle/>
          <a:p>
            <a:pPr indent="0" marL="0">
              <a:buNone/>
            </a:pPr>
            <a:r>
              <a:rPr lang="en-US" sz="1800" dirty="0">
                <a:solidFill>
                  <a:srgbClr val="F5F2EA"/>
                </a:solidFill>
                <a:latin typeface="Malgun Gothic" pitchFamily="34" charset="0"/>
                <a:ea typeface="Malgun Gothic" pitchFamily="34" charset="-122"/>
                <a:cs typeface="Malgun Gothic" pitchFamily="34" charset="-120"/>
              </a:rPr>
              <a:t>농협은행</a:t>
            </a:r>
            <a:endParaRPr lang="en-US" sz="1800" dirty="0"/>
          </a:p>
        </p:txBody>
      </p:sp>
      <p:sp>
        <p:nvSpPr>
          <p:cNvPr id="12" name="Shape 8"/>
          <p:cNvSpPr/>
          <p:nvPr/>
        </p:nvSpPr>
        <p:spPr>
          <a:xfrm>
            <a:off x="2286000" y="2926080"/>
            <a:ext cx="3291840" cy="457200"/>
          </a:xfrm>
          <a:prstGeom prst="roundRect">
            <a:avLst>
              <a:gd name="adj" fmla="val 20000"/>
            </a:avLst>
          </a:prstGeom>
          <a:solidFill>
            <a:srgbClr val="2C3E63"/>
          </a:solidFill>
          <a:ln w="12700">
            <a:solidFill>
              <a:srgbClr val="2C3E63"/>
            </a:solidFill>
            <a:prstDash val="solid"/>
          </a:ln>
        </p:spPr>
        <p:txBody>
          <a:bodyPr/>
          <a:p/>
        </p:txBody>
      </p:sp>
      <p:sp>
        <p:nvSpPr>
          <p:cNvPr id="13" name="Shape 9"/>
          <p:cNvSpPr/>
          <p:nvPr/>
        </p:nvSpPr>
        <p:spPr>
          <a:xfrm>
            <a:off x="2286000" y="2926080"/>
            <a:ext cx="2743200" cy="457200"/>
          </a:xfrm>
          <a:prstGeom prst="roundRect">
            <a:avLst>
              <a:gd name="adj" fmla="val 20000"/>
            </a:avLst>
          </a:prstGeom>
          <a:solidFill>
            <a:srgbClr val="D9B66F"/>
          </a:solidFill>
          <a:ln w="12700">
            <a:solidFill>
              <a:srgbClr val="D9B66F"/>
            </a:solidFill>
            <a:prstDash val="solid"/>
          </a:ln>
        </p:spPr>
        <p:txBody>
          <a:bodyPr/>
          <a:p/>
        </p:txBody>
      </p:sp>
      <p:sp>
        <p:nvSpPr>
          <p:cNvPr id="14" name="Text 10"/>
          <p:cNvSpPr txBox="1"/>
          <p:nvPr/>
        </p:nvSpPr>
        <p:spPr>
          <a:xfrm>
            <a:off x="5669280" y="2926080"/>
            <a:ext cx="1097280" cy="457200"/>
          </a:xfrm>
          <a:prstGeom prst="rect">
            <a:avLst/>
          </a:prstGeom>
          <a:noFill/>
          <a:ln/>
        </p:spPr>
        <p:txBody>
          <a:bodyPr wrap="square" lIns="0" tIns="0" rIns="0" bIns="0" rtlCol="0" anchor="ctr"/>
          <a:lstStyle/>
          <a:p>
            <a:pPr algn="r" indent="0" marL="0">
              <a:buNone/>
            </a:pPr>
            <a:r>
              <a:rPr lang="en-US" sz="2000" b="1" dirty="0">
                <a:solidFill>
                  <a:srgbClr val="F3DCA4"/>
                </a:solidFill>
                <a:latin typeface="Malgun Gothic" pitchFamily="34" charset="0"/>
                <a:ea typeface="Malgun Gothic" pitchFamily="34" charset="-122"/>
                <a:cs typeface="Malgun Gothic" pitchFamily="34" charset="-120"/>
              </a:rPr>
              <a:t>2.5%</a:t>
            </a:r>
            <a:endParaRPr lang="en-US" sz="2000" dirty="0"/>
          </a:p>
        </p:txBody>
      </p:sp>
      <p:sp>
        <p:nvSpPr>
          <p:cNvPr id="15" name="Text 11"/>
          <p:cNvSpPr txBox="1"/>
          <p:nvPr/>
        </p:nvSpPr>
        <p:spPr>
          <a:xfrm>
            <a:off x="822960" y="3703320"/>
            <a:ext cx="1371600" cy="457200"/>
          </a:xfrm>
          <a:prstGeom prst="rect">
            <a:avLst/>
          </a:prstGeom>
          <a:noFill/>
          <a:ln/>
        </p:spPr>
        <p:txBody>
          <a:bodyPr wrap="square" lIns="0" tIns="0" rIns="0" bIns="0" rtlCol="0" anchor="ctr"/>
          <a:lstStyle/>
          <a:p>
            <a:pPr indent="0" marL="0">
              <a:buNone/>
            </a:pPr>
            <a:r>
              <a:rPr lang="en-US" sz="1800" dirty="0">
                <a:solidFill>
                  <a:srgbClr val="F5F2EA"/>
                </a:solidFill>
                <a:latin typeface="Malgun Gothic" pitchFamily="34" charset="0"/>
                <a:ea typeface="Malgun Gothic" pitchFamily="34" charset="-122"/>
                <a:cs typeface="Malgun Gothic" pitchFamily="34" charset="-120"/>
              </a:rPr>
              <a:t>우리은행</a:t>
            </a:r>
            <a:endParaRPr lang="en-US" sz="1800" dirty="0"/>
          </a:p>
        </p:txBody>
      </p:sp>
      <p:sp>
        <p:nvSpPr>
          <p:cNvPr id="16" name="Shape 12"/>
          <p:cNvSpPr/>
          <p:nvPr/>
        </p:nvSpPr>
        <p:spPr>
          <a:xfrm>
            <a:off x="2286000" y="3703320"/>
            <a:ext cx="3291840" cy="457200"/>
          </a:xfrm>
          <a:prstGeom prst="roundRect">
            <a:avLst>
              <a:gd name="adj" fmla="val 20000"/>
            </a:avLst>
          </a:prstGeom>
          <a:solidFill>
            <a:srgbClr val="2C3E63"/>
          </a:solidFill>
          <a:ln w="12700">
            <a:solidFill>
              <a:srgbClr val="2C3E63"/>
            </a:solidFill>
            <a:prstDash val="solid"/>
          </a:ln>
        </p:spPr>
        <p:txBody>
          <a:bodyPr/>
          <a:p/>
        </p:txBody>
      </p:sp>
      <p:sp>
        <p:nvSpPr>
          <p:cNvPr id="17" name="Shape 13"/>
          <p:cNvSpPr/>
          <p:nvPr/>
        </p:nvSpPr>
        <p:spPr>
          <a:xfrm>
            <a:off x="2286000" y="3703320"/>
            <a:ext cx="2523744" cy="457200"/>
          </a:xfrm>
          <a:prstGeom prst="roundRect">
            <a:avLst>
              <a:gd name="adj" fmla="val 20000"/>
            </a:avLst>
          </a:prstGeom>
          <a:solidFill>
            <a:srgbClr val="6AA7E6"/>
          </a:solidFill>
          <a:ln w="12700">
            <a:solidFill>
              <a:srgbClr val="6AA7E6"/>
            </a:solidFill>
            <a:prstDash val="solid"/>
          </a:ln>
        </p:spPr>
        <p:txBody>
          <a:bodyPr/>
          <a:p/>
        </p:txBody>
      </p:sp>
      <p:sp>
        <p:nvSpPr>
          <p:cNvPr id="18" name="Text 14"/>
          <p:cNvSpPr txBox="1"/>
          <p:nvPr/>
        </p:nvSpPr>
        <p:spPr>
          <a:xfrm>
            <a:off x="5669280" y="3703320"/>
            <a:ext cx="1097280" cy="457200"/>
          </a:xfrm>
          <a:prstGeom prst="rect">
            <a:avLst/>
          </a:prstGeom>
          <a:noFill/>
          <a:ln/>
        </p:spPr>
        <p:txBody>
          <a:bodyPr wrap="square" lIns="0" tIns="0" rIns="0" bIns="0" rtlCol="0" anchor="ctr"/>
          <a:lstStyle/>
          <a:p>
            <a:pPr algn="r" indent="0" marL="0">
              <a:buNone/>
            </a:pPr>
            <a:r>
              <a:rPr lang="en-US" sz="2000" b="1" dirty="0">
                <a:solidFill>
                  <a:srgbClr val="F3DCA4"/>
                </a:solidFill>
                <a:latin typeface="Malgun Gothic" pitchFamily="34" charset="0"/>
                <a:ea typeface="Malgun Gothic" pitchFamily="34" charset="-122"/>
                <a:cs typeface="Malgun Gothic" pitchFamily="34" charset="-120"/>
              </a:rPr>
              <a:t>2.3%</a:t>
            </a:r>
            <a:endParaRPr lang="en-US" sz="2000" dirty="0"/>
          </a:p>
        </p:txBody>
      </p:sp>
      <p:sp>
        <p:nvSpPr>
          <p:cNvPr id="19" name="Shape 15"/>
          <p:cNvSpPr/>
          <p:nvPr/>
        </p:nvSpPr>
        <p:spPr>
          <a:xfrm>
            <a:off x="822960" y="4937760"/>
            <a:ext cx="2103120" cy="457200"/>
          </a:xfrm>
          <a:prstGeom prst="roundRect">
            <a:avLst>
              <a:gd name="adj" fmla="val 50000"/>
            </a:avLst>
          </a:prstGeom>
          <a:solidFill>
            <a:srgbClr val="D9B66F">
              <a:alpha val="25000"/>
            </a:srgbClr>
          </a:solidFill>
          <a:ln w="12700">
            <a:solidFill>
              <a:srgbClr val="D9B66F"/>
            </a:solidFill>
            <a:prstDash val="solid"/>
          </a:ln>
        </p:spPr>
        <p:txBody>
          <a:bodyPr/>
          <a:p/>
        </p:txBody>
      </p:sp>
      <p:sp>
        <p:nvSpPr>
          <p:cNvPr id="20" name="Text 16"/>
          <p:cNvSpPr txBox="1"/>
          <p:nvPr/>
        </p:nvSpPr>
        <p:spPr>
          <a:xfrm>
            <a:off x="822960" y="4937760"/>
            <a:ext cx="2103120" cy="457200"/>
          </a:xfrm>
          <a:prstGeom prst="rect">
            <a:avLst/>
          </a:prstGeom>
          <a:noFill/>
          <a:ln/>
        </p:spPr>
        <p:txBody>
          <a:bodyPr wrap="square" lIns="0" tIns="0" rIns="0" bIns="0" rtlCol="0" anchor="ctr"/>
          <a:lstStyle/>
          <a:p>
            <a:pPr algn="ctr" indent="0" marL="0">
              <a:buNone/>
            </a:pPr>
            <a:r>
              <a:rPr lang="en-US" sz="1400" b="1" dirty="0">
                <a:solidFill>
                  <a:srgbClr val="F3DCA4"/>
                </a:solidFill>
                <a:latin typeface="Malgun Gothic" pitchFamily="34" charset="0"/>
                <a:ea typeface="Malgun Gothic" pitchFamily="34" charset="-122"/>
                <a:cs typeface="Malgun Gothic" pitchFamily="34" charset="-120"/>
              </a:rPr>
              <a:t>이자수익 극대화</a:t>
            </a:r>
            <a:endParaRPr lang="en-US" sz="1400" dirty="0"/>
          </a:p>
        </p:txBody>
      </p:sp>
      <p:sp>
        <p:nvSpPr>
          <p:cNvPr id="21" name="card"/>
          <p:cNvSpPr/>
          <p:nvPr/>
        </p:nvSpPr>
        <p:spPr>
          <a:xfrm>
            <a:off x="7178040" y="1417320"/>
            <a:ext cx="4480560" cy="4800600"/>
          </a:xfrm>
          <a:prstGeom prst="roundRect">
            <a:avLst>
              <a:gd name="adj" fmla="val 244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2" name="Text 18"/>
          <p:cNvSpPr txBox="1"/>
          <p:nvPr/>
        </p:nvSpPr>
        <p:spPr>
          <a:xfrm>
            <a:off x="7452360" y="1554480"/>
            <a:ext cx="3931920" cy="365760"/>
          </a:xfrm>
          <a:prstGeom prst="rect">
            <a:avLst/>
          </a:prstGeom>
          <a:noFill/>
          <a:ln/>
        </p:spPr>
        <p:txBody>
          <a:bodyPr wrap="square" lIns="0" tIns="0" rIns="0" bIns="0" rtlCol="0" anchor="t"/>
          <a:lstStyle/>
          <a:p>
            <a:pPr indent="0" marL="0">
              <a:buNone/>
            </a:pPr>
            <a:r>
              <a:rPr lang="en-US" sz="1500" b="1" dirty="0">
                <a:solidFill>
                  <a:srgbClr val="D9B66F"/>
                </a:solidFill>
                <a:latin typeface="Malgun Gothic" pitchFamily="34" charset="0"/>
                <a:ea typeface="Malgun Gothic" pitchFamily="34" charset="-122"/>
                <a:cs typeface="Malgun Gothic" pitchFamily="34" charset="-120"/>
              </a:rPr>
              <a:t>② 여신 금리 관리</a:t>
            </a:r>
            <a:endParaRPr lang="en-US" sz="1500" dirty="0"/>
          </a:p>
        </p:txBody>
      </p:sp>
      <p:sp>
        <p:nvSpPr>
          <p:cNvPr id="23" name="Text 19"/>
          <p:cNvSpPr txBox="1"/>
          <p:nvPr/>
        </p:nvSpPr>
        <p:spPr>
          <a:xfrm>
            <a:off x="7452360" y="2011680"/>
            <a:ext cx="4023360" cy="1097280"/>
          </a:xfrm>
          <a:prstGeom prst="rect">
            <a:avLst/>
          </a:prstGeom>
          <a:noFill/>
          <a:ln/>
        </p:spPr>
        <p:txBody>
          <a:bodyPr wrap="square" lIns="0" tIns="0" rIns="0" bIns="0" rtlCol="0" anchor="t"/>
          <a:lstStyle/>
          <a:p>
            <a:pPr indent="0" marL="0">
              <a:spcAft>
                <a:spcPts val="800"/>
              </a:spcAft>
              <a:buNone/>
            </a:pPr>
            <a:r>
              <a:rPr lang="en-US" sz="1500" dirty="0">
                <a:solidFill>
                  <a:srgbClr val="F5F2EA"/>
                </a:solidFill>
                <a:latin typeface="Malgun Gothic" pitchFamily="34" charset="0"/>
                <a:ea typeface="Malgun Gothic" pitchFamily="34" charset="-122"/>
                <a:cs typeface="Malgun Gothic" pitchFamily="34" charset="-120"/>
              </a:rPr>
              <a:t>중앙은행 기준금리 인상 → 여신 금리 상승</a:t>
            </a:r>
            <a:endParaRPr lang="en-US" sz="1500" dirty="0"/>
          </a:p>
          <a:p>
            <a:pPr indent="0" marL="0">
              <a:buNone/>
            </a:pPr>
            <a:r>
              <a:rPr lang="en-US" sz="1500" dirty="0">
                <a:solidFill>
                  <a:srgbClr val="F5F2EA"/>
                </a:solidFill>
                <a:latin typeface="Malgun Gothic" pitchFamily="34" charset="0"/>
                <a:ea typeface="Malgun Gothic" pitchFamily="34" charset="-122"/>
                <a:cs typeface="Malgun Gothic" pitchFamily="34" charset="-120"/>
              </a:rPr>
              <a:t>지속 모니터링 후 </a:t>
            </a:r>
            <a:pPr indent="0" marL="0">
              <a:buNone/>
            </a:pPr>
            <a:r>
              <a:rPr lang="en-US" sz="1500" b="1" dirty="0">
                <a:solidFill>
                  <a:srgbClr val="F3DCA4"/>
                </a:solidFill>
                <a:latin typeface="Malgun Gothic" pitchFamily="34" charset="0"/>
                <a:ea typeface="Malgun Gothic" pitchFamily="34" charset="-122"/>
                <a:cs typeface="Malgun Gothic" pitchFamily="34" charset="-120"/>
              </a:rPr>
              <a:t>상환 또는 연장</a:t>
            </a:r>
            <a:endParaRPr lang="en-US" sz="1500" dirty="0"/>
          </a:p>
        </p:txBody>
      </p:sp>
      <p:sp>
        <p:nvSpPr>
          <p:cNvPr id="24" name="Text 20"/>
          <p:cNvSpPr txBox="1"/>
          <p:nvPr/>
        </p:nvSpPr>
        <p:spPr>
          <a:xfrm>
            <a:off x="7452360" y="3337560"/>
            <a:ext cx="1280160" cy="457200"/>
          </a:xfrm>
          <a:prstGeom prst="rect">
            <a:avLst/>
          </a:prstGeom>
          <a:noFill/>
          <a:ln/>
        </p:spPr>
        <p:txBody>
          <a:bodyPr wrap="square" lIns="0" tIns="0" rIns="0" bIns="0" rtlCol="0" anchor="ctr"/>
          <a:lstStyle/>
          <a:p>
            <a:pPr indent="0" marL="0">
              <a:buNone/>
            </a:pPr>
            <a:r>
              <a:rPr lang="en-US" sz="1800" dirty="0">
                <a:solidFill>
                  <a:srgbClr val="F5F2EA"/>
                </a:solidFill>
                <a:latin typeface="Malgun Gothic" pitchFamily="34" charset="0"/>
                <a:ea typeface="Malgun Gothic" pitchFamily="34" charset="-122"/>
                <a:cs typeface="Malgun Gothic" pitchFamily="34" charset="-120"/>
              </a:rPr>
              <a:t>기준금리</a:t>
            </a:r>
            <a:endParaRPr lang="en-US" sz="1800" dirty="0"/>
          </a:p>
        </p:txBody>
      </p:sp>
      <p:sp>
        <p:nvSpPr>
          <p:cNvPr id="25" name="Shape 21"/>
          <p:cNvSpPr/>
          <p:nvPr/>
        </p:nvSpPr>
        <p:spPr>
          <a:xfrm>
            <a:off x="8732520" y="3337560"/>
            <a:ext cx="2011680" cy="457200"/>
          </a:xfrm>
          <a:prstGeom prst="roundRect">
            <a:avLst>
              <a:gd name="adj" fmla="val 20000"/>
            </a:avLst>
          </a:prstGeom>
          <a:solidFill>
            <a:srgbClr val="FF6B73"/>
          </a:solidFill>
          <a:ln w="12700">
            <a:solidFill>
              <a:srgbClr val="FF6B73"/>
            </a:solidFill>
            <a:prstDash val="solid"/>
          </a:ln>
        </p:spPr>
        <p:txBody>
          <a:bodyPr/>
          <a:p/>
        </p:txBody>
      </p:sp>
      <p:sp>
        <p:nvSpPr>
          <p:cNvPr id="26" name="Text 22"/>
          <p:cNvSpPr txBox="1"/>
          <p:nvPr/>
        </p:nvSpPr>
        <p:spPr>
          <a:xfrm>
            <a:off x="10744200" y="3337560"/>
            <a:ext cx="822960" cy="457200"/>
          </a:xfrm>
          <a:prstGeom prst="rect">
            <a:avLst/>
          </a:prstGeom>
          <a:noFill/>
          <a:ln/>
        </p:spPr>
        <p:txBody>
          <a:bodyPr wrap="square" lIns="0" tIns="0" rIns="0" bIns="0" rtlCol="0" anchor="ctr"/>
          <a:lstStyle/>
          <a:p>
            <a:pPr algn="r" indent="0" marL="0">
              <a:buNone/>
            </a:pPr>
            <a:r>
              <a:rPr lang="en-US" sz="2000" b="1" dirty="0">
                <a:solidFill>
                  <a:srgbClr val="FF6B73"/>
                </a:solidFill>
                <a:latin typeface="Malgun Gothic" pitchFamily="34" charset="0"/>
                <a:ea typeface="Malgun Gothic" pitchFamily="34" charset="-122"/>
                <a:cs typeface="Malgun Gothic" pitchFamily="34" charset="-120"/>
              </a:rPr>
              <a:t>3.0%</a:t>
            </a:r>
            <a:endParaRPr lang="en-US" sz="2000" dirty="0"/>
          </a:p>
        </p:txBody>
      </p:sp>
      <p:sp>
        <p:nvSpPr>
          <p:cNvPr id="27" name="Shape 23"/>
          <p:cNvSpPr/>
          <p:nvPr/>
        </p:nvSpPr>
        <p:spPr>
          <a:xfrm>
            <a:off x="7452360" y="4937760"/>
            <a:ext cx="2103120" cy="457200"/>
          </a:xfrm>
          <a:prstGeom prst="roundRect">
            <a:avLst>
              <a:gd name="adj" fmla="val 50000"/>
            </a:avLst>
          </a:prstGeom>
          <a:solidFill>
            <a:srgbClr val="FF6B73">
              <a:alpha val="20000"/>
            </a:srgbClr>
          </a:solidFill>
          <a:ln w="12700">
            <a:solidFill>
              <a:srgbClr val="FF6B73"/>
            </a:solidFill>
            <a:prstDash val="solid"/>
          </a:ln>
        </p:spPr>
        <p:txBody>
          <a:bodyPr/>
          <a:p/>
        </p:txBody>
      </p:sp>
      <p:sp>
        <p:nvSpPr>
          <p:cNvPr id="28" name="Text 24"/>
          <p:cNvSpPr txBox="1"/>
          <p:nvPr/>
        </p:nvSpPr>
        <p:spPr>
          <a:xfrm>
            <a:off x="7452360" y="4937760"/>
            <a:ext cx="2103120" cy="457200"/>
          </a:xfrm>
          <a:prstGeom prst="rect">
            <a:avLst/>
          </a:prstGeom>
          <a:noFill/>
          <a:ln/>
        </p:spPr>
        <p:txBody>
          <a:bodyPr wrap="square" lIns="0" tIns="0" rIns="0" bIns="0" rtlCol="0" anchor="ctr"/>
          <a:lstStyle/>
          <a:p>
            <a:pPr algn="ctr" indent="0" marL="0">
              <a:buNone/>
            </a:pPr>
            <a:r>
              <a:rPr lang="en-US" sz="1400" b="1" dirty="0">
                <a:solidFill>
                  <a:srgbClr val="FFB3B8"/>
                </a:solidFill>
                <a:latin typeface="Malgun Gothic" pitchFamily="34" charset="0"/>
                <a:ea typeface="Malgun Gothic" pitchFamily="34" charset="-122"/>
                <a:cs typeface="Malgun Gothic" pitchFamily="34" charset="-120"/>
              </a:rPr>
              <a:t>이자비용 최소화</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Ⅹ</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위수탁사업계약서 595건 작성 완료</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1~9월 월별 계약 체결 추이</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371600"/>
            <a:ext cx="2651760" cy="1371600"/>
          </a:xfrm>
          <a:prstGeom prst="roundRect">
            <a:avLst>
              <a:gd name="adj" fmla="val 80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Text 5"/>
          <p:cNvSpPr txBox="1"/>
          <p:nvPr/>
        </p:nvSpPr>
        <p:spPr>
          <a:xfrm>
            <a:off x="731520" y="1444752"/>
            <a:ext cx="2286000" cy="27432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계약서 작성 건수</a:t>
            </a:r>
            <a:endParaRPr lang="en-US" sz="1200" dirty="0"/>
          </a:p>
        </p:txBody>
      </p:sp>
      <p:sp>
        <p:nvSpPr>
          <p:cNvPr id="10" name="Text 6"/>
          <p:cNvSpPr txBox="1"/>
          <p:nvPr/>
        </p:nvSpPr>
        <p:spPr>
          <a:xfrm>
            <a:off x="731520" y="1719072"/>
            <a:ext cx="2286000" cy="640080"/>
          </a:xfrm>
          <a:prstGeom prst="rect">
            <a:avLst/>
          </a:prstGeom>
          <a:noFill/>
          <a:ln/>
        </p:spPr>
        <p:txBody>
          <a:bodyPr wrap="square" lIns="0" tIns="0" rIns="0" bIns="0" rtlCol="0" anchor="ctr"/>
          <a:lstStyle/>
          <a:p>
            <a:pPr indent="0" marL="0">
              <a:buNone/>
            </a:pPr>
            <a:r>
              <a:rPr lang="en-US" sz="3200" b="1" dirty="0">
                <a:solidFill>
                  <a:srgbClr val="F3DCA4"/>
                </a:solidFill>
                <a:latin typeface="Malgun Gothic" pitchFamily="34" charset="0"/>
                <a:ea typeface="Malgun Gothic" pitchFamily="34" charset="-122"/>
                <a:cs typeface="Malgun Gothic" pitchFamily="34" charset="-120"/>
              </a:rPr>
              <a:t>595건</a:t>
            </a:r>
            <a:endParaRPr lang="en-US" sz="3200" dirty="0"/>
          </a:p>
        </p:txBody>
      </p:sp>
      <p:sp>
        <p:nvSpPr>
          <p:cNvPr id="11" name="Text 7"/>
          <p:cNvSpPr txBox="1"/>
          <p:nvPr/>
        </p:nvSpPr>
        <p:spPr>
          <a:xfrm>
            <a:off x="731520" y="2377440"/>
            <a:ext cx="2286000" cy="274320"/>
          </a:xfrm>
          <a:prstGeom prst="rect">
            <a:avLst/>
          </a:prstGeom>
          <a:noFill/>
          <a:ln/>
        </p:spPr>
        <p:txBody>
          <a:bodyPr wrap="square" lIns="0" tIns="0" rIns="0" bIns="0" rtlCol="0" anchor="t"/>
          <a:lstStyle/>
          <a:p>
            <a:pPr indent="0" marL="0">
              <a:buNone/>
            </a:pPr>
            <a:r>
              <a:rPr lang="en-US" sz="1200" dirty="0">
                <a:solidFill>
                  <a:srgbClr val="5FD0B0"/>
                </a:solidFill>
                <a:latin typeface="Malgun Gothic" pitchFamily="34" charset="0"/>
                <a:ea typeface="Malgun Gothic" pitchFamily="34" charset="-122"/>
                <a:cs typeface="Malgun Gothic" pitchFamily="34" charset="-120"/>
              </a:rPr>
              <a:t>전년 동기 547건 · +8.8%</a:t>
            </a:r>
            <a:endParaRPr lang="en-US" sz="1200" dirty="0"/>
          </a:p>
        </p:txBody>
      </p:sp>
      <p:sp>
        <p:nvSpPr>
          <p:cNvPr id="12" name="card"/>
          <p:cNvSpPr/>
          <p:nvPr/>
        </p:nvSpPr>
        <p:spPr>
          <a:xfrm>
            <a:off x="3355848" y="1371600"/>
            <a:ext cx="2651760" cy="1371600"/>
          </a:xfrm>
          <a:prstGeom prst="roundRect">
            <a:avLst>
              <a:gd name="adj" fmla="val 80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3" name="Text 9"/>
          <p:cNvSpPr txBox="1"/>
          <p:nvPr/>
        </p:nvSpPr>
        <p:spPr>
          <a:xfrm>
            <a:off x="3538728" y="1444752"/>
            <a:ext cx="2286000" cy="27432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신규·변동 매장</a:t>
            </a:r>
            <a:endParaRPr lang="en-US" sz="1200" dirty="0"/>
          </a:p>
        </p:txBody>
      </p:sp>
      <p:sp>
        <p:nvSpPr>
          <p:cNvPr id="14" name="Text 10"/>
          <p:cNvSpPr txBox="1"/>
          <p:nvPr/>
        </p:nvSpPr>
        <p:spPr>
          <a:xfrm>
            <a:off x="3538728" y="1719072"/>
            <a:ext cx="2286000" cy="640080"/>
          </a:xfrm>
          <a:prstGeom prst="rect">
            <a:avLst/>
          </a:prstGeom>
          <a:noFill/>
          <a:ln/>
        </p:spPr>
        <p:txBody>
          <a:bodyPr wrap="square" lIns="0" tIns="0" rIns="0" bIns="0" rtlCol="0" anchor="ctr"/>
          <a:lstStyle/>
          <a:p>
            <a:pPr indent="0" marL="0">
              <a:buNone/>
            </a:pPr>
            <a:r>
              <a:rPr lang="en-US" sz="3200" b="1" dirty="0">
                <a:solidFill>
                  <a:srgbClr val="F5F2EA"/>
                </a:solidFill>
                <a:latin typeface="Malgun Gothic" pitchFamily="34" charset="0"/>
                <a:ea typeface="Malgun Gothic" pitchFamily="34" charset="-122"/>
                <a:cs typeface="Malgun Gothic" pitchFamily="34" charset="-120"/>
              </a:rPr>
              <a:t>322건</a:t>
            </a:r>
            <a:endParaRPr lang="en-US" sz="3200" dirty="0"/>
          </a:p>
        </p:txBody>
      </p:sp>
      <p:sp>
        <p:nvSpPr>
          <p:cNvPr id="15" name="Text 11"/>
          <p:cNvSpPr txBox="1"/>
          <p:nvPr/>
        </p:nvSpPr>
        <p:spPr>
          <a:xfrm>
            <a:off x="3538728" y="2377440"/>
            <a:ext cx="2286000" cy="274320"/>
          </a:xfrm>
          <a:prstGeom prst="rect">
            <a:avLst/>
          </a:prstGeom>
          <a:noFill/>
          <a:ln/>
        </p:spPr>
        <p:txBody>
          <a:bodyPr wrap="square" lIns="0" tIns="0" rIns="0" bIns="0" rtlCol="0" anchor="t"/>
          <a:lstStyle/>
          <a:p>
            <a:pPr indent="0" marL="0">
              <a:buNone/>
            </a:pPr>
            <a:r>
              <a:rPr lang="en-US" sz="1200" dirty="0">
                <a:solidFill>
                  <a:srgbClr val="5FD0B0"/>
                </a:solidFill>
                <a:latin typeface="Malgun Gothic" pitchFamily="34" charset="0"/>
                <a:ea typeface="Malgun Gothic" pitchFamily="34" charset="-122"/>
                <a:cs typeface="Malgun Gothic" pitchFamily="34" charset="-120"/>
              </a:rPr>
              <a:t>월평균 35.8건</a:t>
            </a:r>
            <a:endParaRPr lang="en-US" sz="1200" dirty="0"/>
          </a:p>
        </p:txBody>
      </p:sp>
      <p:sp>
        <p:nvSpPr>
          <p:cNvPr id="16" name="card"/>
          <p:cNvSpPr/>
          <p:nvPr/>
        </p:nvSpPr>
        <p:spPr>
          <a:xfrm>
            <a:off x="6163056" y="1371600"/>
            <a:ext cx="2651760" cy="1371600"/>
          </a:xfrm>
          <a:prstGeom prst="roundRect">
            <a:avLst>
              <a:gd name="adj" fmla="val 80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7" name="Text 13"/>
          <p:cNvSpPr txBox="1"/>
          <p:nvPr/>
        </p:nvSpPr>
        <p:spPr>
          <a:xfrm>
            <a:off x="6345936" y="1444752"/>
            <a:ext cx="2286000" cy="27432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재계약 매장</a:t>
            </a:r>
            <a:endParaRPr lang="en-US" sz="1200" dirty="0"/>
          </a:p>
        </p:txBody>
      </p:sp>
      <p:sp>
        <p:nvSpPr>
          <p:cNvPr id="18" name="Text 14"/>
          <p:cNvSpPr txBox="1"/>
          <p:nvPr/>
        </p:nvSpPr>
        <p:spPr>
          <a:xfrm>
            <a:off x="6345936" y="1719072"/>
            <a:ext cx="2286000" cy="640080"/>
          </a:xfrm>
          <a:prstGeom prst="rect">
            <a:avLst/>
          </a:prstGeom>
          <a:noFill/>
          <a:ln/>
        </p:spPr>
        <p:txBody>
          <a:bodyPr wrap="square" lIns="0" tIns="0" rIns="0" bIns="0" rtlCol="0" anchor="ctr"/>
          <a:lstStyle/>
          <a:p>
            <a:pPr indent="0" marL="0">
              <a:buNone/>
            </a:pPr>
            <a:r>
              <a:rPr lang="en-US" sz="3200" b="1" dirty="0">
                <a:solidFill>
                  <a:srgbClr val="6AA7E6"/>
                </a:solidFill>
                <a:latin typeface="Malgun Gothic" pitchFamily="34" charset="0"/>
                <a:ea typeface="Malgun Gothic" pitchFamily="34" charset="-122"/>
                <a:cs typeface="Malgun Gothic" pitchFamily="34" charset="-120"/>
              </a:rPr>
              <a:t>273건</a:t>
            </a:r>
            <a:endParaRPr lang="en-US" sz="3200" dirty="0"/>
          </a:p>
        </p:txBody>
      </p:sp>
      <p:sp>
        <p:nvSpPr>
          <p:cNvPr id="19" name="Text 15"/>
          <p:cNvSpPr txBox="1"/>
          <p:nvPr/>
        </p:nvSpPr>
        <p:spPr>
          <a:xfrm>
            <a:off x="6345936" y="2377440"/>
            <a:ext cx="2286000" cy="274320"/>
          </a:xfrm>
          <a:prstGeom prst="rect">
            <a:avLst/>
          </a:prstGeom>
          <a:noFill/>
          <a:ln/>
        </p:spPr>
        <p:txBody>
          <a:bodyPr wrap="square" lIns="0" tIns="0" rIns="0" bIns="0" rtlCol="0" anchor="t"/>
          <a:lstStyle/>
          <a:p>
            <a:pPr indent="0" marL="0">
              <a:buNone/>
            </a:pPr>
            <a:r>
              <a:rPr lang="en-US" sz="1200" dirty="0">
                <a:solidFill>
                  <a:srgbClr val="5FD0B0"/>
                </a:solidFill>
                <a:latin typeface="Malgun Gothic" pitchFamily="34" charset="0"/>
                <a:ea typeface="Malgun Gothic" pitchFamily="34" charset="-122"/>
                <a:cs typeface="Malgun Gothic" pitchFamily="34" charset="-120"/>
              </a:rPr>
              <a:t>월평균 30.3건</a:t>
            </a:r>
            <a:endParaRPr lang="en-US" sz="1200" dirty="0"/>
          </a:p>
        </p:txBody>
      </p:sp>
      <p:sp>
        <p:nvSpPr>
          <p:cNvPr id="20" name="card"/>
          <p:cNvSpPr/>
          <p:nvPr/>
        </p:nvSpPr>
        <p:spPr>
          <a:xfrm>
            <a:off x="8970264" y="1371600"/>
            <a:ext cx="2651760" cy="1371600"/>
          </a:xfrm>
          <a:prstGeom prst="roundRect">
            <a:avLst>
              <a:gd name="adj" fmla="val 80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1" name="Text 17"/>
          <p:cNvSpPr txBox="1"/>
          <p:nvPr/>
        </p:nvSpPr>
        <p:spPr>
          <a:xfrm>
            <a:off x="9153144" y="1444752"/>
            <a:ext cx="2286000" cy="274320"/>
          </a:xfrm>
          <a:prstGeom prst="rect">
            <a:avLst/>
          </a:prstGeom>
          <a:noFill/>
          <a:ln/>
        </p:spPr>
        <p:txBody>
          <a:bodyPr wrap="square" lIns="0" tIns="0" rIns="0" bIns="0" rtlCol="0" anchor="t"/>
          <a:lstStyle/>
          <a:p>
            <a:pPr indent="0" marL="0">
              <a:buNone/>
            </a:pPr>
            <a:r>
              <a:rPr lang="en-US" sz="1200" dirty="0">
                <a:solidFill>
                  <a:srgbClr val="A9B3C9"/>
                </a:solidFill>
                <a:latin typeface="Malgun Gothic" pitchFamily="34" charset="0"/>
                <a:ea typeface="Malgun Gothic" pitchFamily="34" charset="-122"/>
                <a:cs typeface="Malgun Gothic" pitchFamily="34" charset="-120"/>
              </a:rPr>
              <a:t>9월말 매장 수</a:t>
            </a:r>
            <a:endParaRPr lang="en-US" sz="1200" dirty="0"/>
          </a:p>
        </p:txBody>
      </p:sp>
      <p:sp>
        <p:nvSpPr>
          <p:cNvPr id="22" name="Text 18"/>
          <p:cNvSpPr txBox="1"/>
          <p:nvPr/>
        </p:nvSpPr>
        <p:spPr>
          <a:xfrm>
            <a:off x="9153144" y="1719072"/>
            <a:ext cx="2286000" cy="640080"/>
          </a:xfrm>
          <a:prstGeom prst="rect">
            <a:avLst/>
          </a:prstGeom>
          <a:noFill/>
          <a:ln/>
        </p:spPr>
        <p:txBody>
          <a:bodyPr wrap="square" lIns="0" tIns="0" rIns="0" bIns="0" rtlCol="0" anchor="ctr"/>
          <a:lstStyle/>
          <a:p>
            <a:pPr indent="0" marL="0">
              <a:buNone/>
            </a:pPr>
            <a:r>
              <a:rPr lang="en-US" sz="3200" b="1" dirty="0">
                <a:solidFill>
                  <a:srgbClr val="F5F2EA"/>
                </a:solidFill>
                <a:latin typeface="Malgun Gothic" pitchFamily="34" charset="0"/>
                <a:ea typeface="Malgun Gothic" pitchFamily="34" charset="-122"/>
                <a:cs typeface="Malgun Gothic" pitchFamily="34" charset="-120"/>
              </a:rPr>
              <a:t>545개</a:t>
            </a:r>
            <a:endParaRPr lang="en-US" sz="3200" dirty="0"/>
          </a:p>
        </p:txBody>
      </p:sp>
      <p:sp>
        <p:nvSpPr>
          <p:cNvPr id="23" name="Text 19"/>
          <p:cNvSpPr txBox="1"/>
          <p:nvPr/>
        </p:nvSpPr>
        <p:spPr>
          <a:xfrm>
            <a:off x="9153144" y="2377440"/>
            <a:ext cx="2286000" cy="274320"/>
          </a:xfrm>
          <a:prstGeom prst="rect">
            <a:avLst/>
          </a:prstGeom>
          <a:noFill/>
          <a:ln/>
        </p:spPr>
        <p:txBody>
          <a:bodyPr wrap="square" lIns="0" tIns="0" rIns="0" bIns="0" rtlCol="0" anchor="t"/>
          <a:lstStyle/>
          <a:p>
            <a:pPr indent="0" marL="0">
              <a:buNone/>
            </a:pPr>
            <a:r>
              <a:t>연초 대비 +25개</a:t>
            </a:r>
            <a:br/>
            <a:r>
              <a:t>수도권 190 · 영남권 155 · 충청권 97 · 호남권 73 · 강원권 23 · 제주권 7</a:t>
            </a:r>
            <a:endParaRPr lang="en-US" sz="1200" dirty="0"/>
          </a:p>
        </p:txBody>
      </p:sp>
      <p:sp>
        <p:nvSpPr>
          <p:cNvPr id="24" name="card"/>
          <p:cNvSpPr/>
          <p:nvPr/>
        </p:nvSpPr>
        <p:spPr>
          <a:xfrm>
            <a:off x="548640" y="2926080"/>
            <a:ext cx="7680960" cy="3337560"/>
          </a:xfrm>
          <a:prstGeom prst="roundRect">
            <a:avLst>
              <a:gd name="adj" fmla="val 3288"/>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graphicFrame>
        <p:nvGraphicFramePr>
          <p:cNvPr id="25" name="Chart 0" descr=""/>
          <p:cNvGraphicFramePr/>
          <p:nvPr/>
        </p:nvGraphicFramePr>
        <p:xfrm>
          <a:off x="640080" y="2971800"/>
          <a:ext cx="7498080" cy="3246120"/>
        </p:xfrm>
        <a:graphic xmlns:a="http://schemas.openxmlformats.org/drawingml/2006/main">
          <a:graphicData uri="http://schemas.openxmlformats.org/drawingml/2006/chart">
            <c:chart xmlns:c="http://schemas.openxmlformats.org/drawingml/2006/chart" r:id="rId2"/>
          </a:graphicData>
        </a:graphic>
      </p:graphicFrame>
      <p:sp>
        <p:nvSpPr>
          <p:cNvPr id="26" name="card"/>
          <p:cNvSpPr/>
          <p:nvPr/>
        </p:nvSpPr>
        <p:spPr>
          <a:xfrm>
            <a:off x="8458200" y="2926080"/>
            <a:ext cx="3200400" cy="3337560"/>
          </a:xfrm>
          <a:prstGeom prst="roundRect">
            <a:avLst>
              <a:gd name="adj" fmla="val 3429"/>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7" name="Text 22"/>
          <p:cNvSpPr txBox="1"/>
          <p:nvPr/>
        </p:nvSpPr>
        <p:spPr>
          <a:xfrm>
            <a:off x="8686800" y="3017520"/>
            <a:ext cx="274320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주요 사항</a:t>
            </a:r>
            <a:endParaRPr lang="en-US" sz="1400" dirty="0"/>
          </a:p>
        </p:txBody>
      </p:sp>
      <p:sp>
        <p:nvSpPr>
          <p:cNvPr id="28" name="Text 23"/>
          <p:cNvSpPr txBox="1"/>
          <p:nvPr/>
        </p:nvSpPr>
        <p:spPr>
          <a:xfrm>
            <a:off x="8686800" y="3429000"/>
            <a:ext cx="283464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5F2EA"/>
                </a:solidFill>
                <a:latin typeface="Malgun Gothic" pitchFamily="34" charset="0"/>
                <a:ea typeface="Malgun Gothic" pitchFamily="34" charset="-122"/>
                <a:cs typeface="Malgun Gothic" pitchFamily="34" charset="-120"/>
              </a:rPr>
              <a:t>1~9월 595건, 전년 대비 48건 증가</a:t>
            </a:r>
            <a:endParaRPr lang="en-US" sz="1600" dirty="0"/>
          </a:p>
          <a:p>
            <a:pPr marL="342900" indent="-342900">
              <a:spcAft>
                <a:spcPts val="800"/>
              </a:spcAft>
              <a:buSzPct val="100000"/>
              <a:buChar char="•"/>
            </a:pPr>
            <a:r>
              <a:rPr lang="en-US" sz="1400" dirty="0">
                <a:solidFill>
                  <a:srgbClr val="F5F2EA"/>
                </a:solidFill>
                <a:latin typeface="Malgun Gothic" pitchFamily="34" charset="0"/>
                <a:ea typeface="Malgun Gothic" pitchFamily="34" charset="-122"/>
                <a:cs typeface="Malgun Gothic" pitchFamily="34" charset="-120"/>
              </a:rPr>
              <a:t>신규 26개 · 폐점 1개 → 25개 증가</a:t>
            </a:r>
            <a:endParaRPr lang="en-US" sz="1600" dirty="0"/>
          </a:p>
          <a:p>
            <a:pPr marL="342900" indent="-342900">
              <a:spcAft>
                <a:spcPts val="800"/>
              </a:spcAft>
              <a:buSzPct val="100000"/>
              <a:buChar char="•"/>
            </a:pPr>
            <a:r>
              <a:rPr lang="en-US" sz="1400" dirty="0">
                <a:solidFill>
                  <a:srgbClr val="F5F2EA"/>
                </a:solidFill>
                <a:latin typeface="Malgun Gothic" pitchFamily="34" charset="0"/>
                <a:ea typeface="Malgun Gothic" pitchFamily="34" charset="-122"/>
                <a:cs typeface="Malgun Gothic" pitchFamily="34" charset="-120"/>
              </a:rPr>
              <a:t>3·7·8월 변동 과다</a:t>
            </a:r>
            <a:endParaRPr lang="en-US" sz="1600" dirty="0"/>
          </a:p>
        </p:txBody>
      </p:sp>
      <p:sp>
        <p:nvSpPr>
          <p:cNvPr id="29" name="Text 24"/>
          <p:cNvSpPr txBox="1"/>
          <p:nvPr/>
        </p:nvSpPr>
        <p:spPr>
          <a:xfrm>
            <a:off x="8686800" y="5440680"/>
            <a:ext cx="2834640" cy="548640"/>
          </a:xfrm>
          <a:prstGeom prst="rect">
            <a:avLst/>
          </a:prstGeom>
          <a:noFill/>
          <a:ln/>
        </p:spPr>
        <p:txBody>
          <a:bodyPr wrap="square" lIns="0" tIns="0" rIns="0" bIns="0" rtlCol="0" anchor="t"/>
          <a:lstStyle/>
          <a:p>
            <a:pPr indent="0" marL="0">
              <a:buNone/>
            </a:pPr>
            <a:r>
              <a:rPr lang="en-US" sz="1500" b="1" dirty="0">
                <a:solidFill>
                  <a:srgbClr val="FF6B73"/>
                </a:solidFill>
                <a:latin typeface="Malgun Gothic" pitchFamily="34" charset="0"/>
                <a:ea typeface="Malgun Gothic" pitchFamily="34" charset="-122"/>
                <a:cs typeface="Malgun Gothic" pitchFamily="34" charset="-120"/>
              </a:rPr>
              <a:t>월 30개 이내 관리 필요</a:t>
            </a:r>
            <a:endParaRPr lang="en-US" sz="15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29</a:t>
            </a:fld>
            <a:endParaRPr lang="en-US"/>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Ⅹ</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위수탁사업계약서 업무 분장</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8명 · 1인당 약 74건 (월 평균 약 8건)</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417320"/>
            <a:ext cx="3291840" cy="2651760"/>
          </a:xfrm>
          <a:prstGeom prst="roundRect">
            <a:avLst>
              <a:gd name="adj" fmla="val 4138"/>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Text 5"/>
          <p:cNvSpPr txBox="1"/>
          <p:nvPr/>
        </p:nvSpPr>
        <p:spPr>
          <a:xfrm>
            <a:off x="777240" y="1554480"/>
            <a:ext cx="2834640" cy="27432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경영전략본부</a:t>
            </a:r>
            <a:endParaRPr lang="en-US" sz="1300" dirty="0"/>
          </a:p>
        </p:txBody>
      </p:sp>
      <p:sp>
        <p:nvSpPr>
          <p:cNvPr id="10" name="Text 6"/>
          <p:cNvSpPr txBox="1"/>
          <p:nvPr/>
        </p:nvSpPr>
        <p:spPr>
          <a:xfrm>
            <a:off x="777240" y="1920240"/>
            <a:ext cx="2834640" cy="1188720"/>
          </a:xfrm>
          <a:prstGeom prst="rect">
            <a:avLst/>
          </a:prstGeom>
          <a:noFill/>
          <a:ln/>
        </p:spPr>
        <p:txBody>
          <a:bodyPr wrap="square" lIns="0" tIns="0" rIns="0" bIns="0" rtlCol="0" anchor="ctr"/>
          <a:lstStyle/>
          <a:p>
            <a:pPr algn="ctr" indent="0" marL="0">
              <a:buNone/>
            </a:pPr>
            <a:r>
              <a:rPr lang="en-US" sz="6000" b="1" dirty="0">
                <a:solidFill>
                  <a:srgbClr val="F3DCA4"/>
                </a:solidFill>
                <a:latin typeface="Malgun Gothic" pitchFamily="34" charset="0"/>
                <a:ea typeface="Malgun Gothic" pitchFamily="34" charset="-122"/>
                <a:cs typeface="Malgun Gothic" pitchFamily="34" charset="-120"/>
              </a:rPr>
              <a:t>8명</a:t>
            </a:r>
            <a:endParaRPr lang="en-US" sz="6000" dirty="0"/>
          </a:p>
        </p:txBody>
      </p:sp>
      <p:sp>
        <p:nvSpPr>
          <p:cNvPr id="11" name="Text 7"/>
          <p:cNvSpPr txBox="1"/>
          <p:nvPr/>
        </p:nvSpPr>
        <p:spPr>
          <a:xfrm>
            <a:off x="777240" y="3291840"/>
            <a:ext cx="2834640" cy="36576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전체 595건 체결</a:t>
            </a:r>
            <a:endParaRPr lang="en-US" sz="1400" dirty="0"/>
          </a:p>
        </p:txBody>
      </p:sp>
      <p:sp>
        <p:nvSpPr>
          <p:cNvPr id="12" name="Text 8"/>
          <p:cNvSpPr txBox="1"/>
          <p:nvPr/>
        </p:nvSpPr>
        <p:spPr>
          <a:xfrm>
            <a:off x="3931920" y="2377440"/>
            <a:ext cx="640080" cy="64008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13" name="card"/>
          <p:cNvSpPr/>
          <p:nvPr/>
        </p:nvSpPr>
        <p:spPr>
          <a:xfrm>
            <a:off x="4663440" y="1417320"/>
            <a:ext cx="3291840" cy="2651760"/>
          </a:xfrm>
          <a:prstGeom prst="roundRect">
            <a:avLst>
              <a:gd name="adj" fmla="val 4138"/>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4" name="Text 10"/>
          <p:cNvSpPr txBox="1"/>
          <p:nvPr/>
        </p:nvSpPr>
        <p:spPr>
          <a:xfrm>
            <a:off x="4892040" y="1554480"/>
            <a:ext cx="2834640" cy="27432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1인당</a:t>
            </a:r>
            <a:endParaRPr lang="en-US" sz="1300" dirty="0"/>
          </a:p>
        </p:txBody>
      </p:sp>
      <p:sp>
        <p:nvSpPr>
          <p:cNvPr id="15" name="Text 11"/>
          <p:cNvSpPr txBox="1"/>
          <p:nvPr/>
        </p:nvSpPr>
        <p:spPr>
          <a:xfrm>
            <a:off x="4892040" y="1920240"/>
            <a:ext cx="2834640" cy="1188720"/>
          </a:xfrm>
          <a:prstGeom prst="rect">
            <a:avLst/>
          </a:prstGeom>
          <a:noFill/>
          <a:ln/>
        </p:spPr>
        <p:txBody>
          <a:bodyPr wrap="square" lIns="0" tIns="0" rIns="0" bIns="0" rtlCol="0" anchor="ctr"/>
          <a:lstStyle/>
          <a:p>
            <a:pPr algn="ctr" indent="0" marL="0">
              <a:buNone/>
            </a:pPr>
            <a:r>
              <a:rPr lang="en-US" sz="6000" b="1" dirty="0">
                <a:solidFill>
                  <a:srgbClr val="F5F2EA"/>
                </a:solidFill>
                <a:latin typeface="Malgun Gothic" pitchFamily="34" charset="0"/>
                <a:ea typeface="Malgun Gothic" pitchFamily="34" charset="-122"/>
                <a:cs typeface="Malgun Gothic" pitchFamily="34" charset="-120"/>
              </a:rPr>
              <a:t>74</a:t>
            </a:r>
            <a:pPr algn="ctr" indent="0" marL="0">
              <a:buNone/>
            </a:pPr>
            <a:r>
              <a:rPr lang="en-US" sz="2200" b="1" dirty="0">
                <a:solidFill>
                  <a:srgbClr val="F5F2EA"/>
                </a:solidFill>
                <a:latin typeface="Malgun Gothic" pitchFamily="34" charset="0"/>
                <a:ea typeface="Malgun Gothic" pitchFamily="34" charset="-122"/>
                <a:cs typeface="Malgun Gothic" pitchFamily="34" charset="-120"/>
              </a:rPr>
              <a:t>건</a:t>
            </a:r>
            <a:endParaRPr lang="en-US" sz="1600" dirty="0"/>
          </a:p>
        </p:txBody>
      </p:sp>
      <p:sp>
        <p:nvSpPr>
          <p:cNvPr id="16" name="Text 12"/>
          <p:cNvSpPr txBox="1"/>
          <p:nvPr/>
        </p:nvSpPr>
        <p:spPr>
          <a:xfrm>
            <a:off x="4892040" y="3291840"/>
            <a:ext cx="2834640" cy="36576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월 평균 약 8건</a:t>
            </a:r>
            <a:endParaRPr lang="en-US" sz="1400" dirty="0"/>
          </a:p>
        </p:txBody>
      </p:sp>
      <p:sp>
        <p:nvSpPr>
          <p:cNvPr id="17" name="Text 13"/>
          <p:cNvSpPr txBox="1"/>
          <p:nvPr/>
        </p:nvSpPr>
        <p:spPr>
          <a:xfrm>
            <a:off x="8046720" y="2377440"/>
            <a:ext cx="640080" cy="640080"/>
          </a:xfrm>
          <a:prstGeom prst="rect">
            <a:avLst/>
          </a:prstGeom>
          <a:noFill/>
          <a:ln/>
        </p:spPr>
        <p:txBody>
          <a:bodyPr wrap="square" lIns="0" tIns="0" rIns="0" bIns="0" rtlCol="0" anchor="ctr"/>
          <a:lstStyle/>
          <a:p>
            <a:pPr algn="ctr" indent="0" marL="0">
              <a:buNone/>
            </a:pPr>
            <a:r>
              <a:rPr lang="en-US" sz="2600" dirty="0">
                <a:solidFill>
                  <a:srgbClr val="D9B66F"/>
                </a:solidFill>
                <a:latin typeface="Malgun Gothic" pitchFamily="34" charset="0"/>
                <a:ea typeface="Malgun Gothic" pitchFamily="34" charset="-122"/>
                <a:cs typeface="Malgun Gothic" pitchFamily="34" charset="-120"/>
              </a:rPr>
              <a:t>➜</a:t>
            </a:r>
            <a:endParaRPr lang="en-US" sz="2600" dirty="0"/>
          </a:p>
        </p:txBody>
      </p:sp>
      <p:sp>
        <p:nvSpPr>
          <p:cNvPr id="18" name="card"/>
          <p:cNvSpPr/>
          <p:nvPr/>
        </p:nvSpPr>
        <p:spPr>
          <a:xfrm>
            <a:off x="8778240" y="1417320"/>
            <a:ext cx="2880360" cy="2651760"/>
          </a:xfrm>
          <a:prstGeom prst="roundRect">
            <a:avLst>
              <a:gd name="adj" fmla="val 4138"/>
            </a:avLst>
          </a:prstGeom>
          <a:solidFill>
            <a:srgbClr val="2A2740"/>
          </a:solidFill>
          <a:ln w="9525">
            <a:solidFill>
              <a:srgbClr val="D9B66F"/>
            </a:solidFill>
            <a:prstDash val="solid"/>
          </a:ln>
          <a:effectLst>
            <a:outerShdw sx="100000" sy="100000" kx="0" ky="0" algn="bl" rotWithShape="0" blurRad="127000" dist="50800" dir="5400000">
              <a:srgbClr val="000000">
                <a:alpha val="35000"/>
              </a:srgbClr>
            </a:outerShdw>
          </a:effectLst>
        </p:spPr>
        <p:txBody>
          <a:bodyPr/>
          <a:p/>
        </p:txBody>
      </p:sp>
      <p:sp>
        <p:nvSpPr>
          <p:cNvPr id="19" name="Text 15"/>
          <p:cNvSpPr txBox="1"/>
          <p:nvPr/>
        </p:nvSpPr>
        <p:spPr>
          <a:xfrm>
            <a:off x="8961120" y="1554480"/>
            <a:ext cx="2514600" cy="27432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2026.10부터</a:t>
            </a:r>
            <a:endParaRPr lang="en-US" sz="1300" dirty="0"/>
          </a:p>
        </p:txBody>
      </p:sp>
      <p:sp>
        <p:nvSpPr>
          <p:cNvPr id="20" name="Text 16"/>
          <p:cNvSpPr txBox="1"/>
          <p:nvPr/>
        </p:nvSpPr>
        <p:spPr>
          <a:xfrm>
            <a:off x="8961120" y="2011680"/>
            <a:ext cx="2514600" cy="1005840"/>
          </a:xfrm>
          <a:prstGeom prst="rect">
            <a:avLst/>
          </a:prstGeom>
          <a:noFill/>
          <a:ln/>
        </p:spPr>
        <p:txBody>
          <a:bodyPr wrap="square" lIns="0" tIns="0" rIns="0" bIns="0" rtlCol="0" anchor="ctr"/>
          <a:lstStyle/>
          <a:p>
            <a:pPr algn="ctr" indent="0" marL="0">
              <a:buNone/>
            </a:pPr>
            <a:r>
              <a:rPr lang="en-US" sz="2200" b="1" dirty="0">
                <a:solidFill>
                  <a:srgbClr val="F3DCA4"/>
                </a:solidFill>
                <a:latin typeface="Malgun Gothic" pitchFamily="34" charset="0"/>
                <a:ea typeface="Malgun Gothic" pitchFamily="34" charset="-122"/>
                <a:cs typeface="Malgun Gothic" pitchFamily="34" charset="-120"/>
              </a:rPr>
              <a:t>사업주전담팀</a:t>
            </a:r>
            <a:endParaRPr lang="en-US" sz="2200" dirty="0"/>
          </a:p>
          <a:p>
            <a:pPr algn="ctr" indent="0" marL="0">
              <a:buNone/>
            </a:pPr>
            <a:r>
              <a:rPr lang="en-US" sz="2200" b="1" dirty="0">
                <a:solidFill>
                  <a:srgbClr val="F3DCA4"/>
                </a:solidFill>
                <a:latin typeface="Malgun Gothic" pitchFamily="34" charset="0"/>
                <a:ea typeface="Malgun Gothic" pitchFamily="34" charset="-122"/>
                <a:cs typeface="Malgun Gothic" pitchFamily="34" charset="-120"/>
              </a:rPr>
              <a:t>업무 이관</a:t>
            </a:r>
            <a:endParaRPr lang="en-US" sz="2200" dirty="0"/>
          </a:p>
        </p:txBody>
      </p:sp>
      <p:sp>
        <p:nvSpPr>
          <p:cNvPr id="21" name="Text 17"/>
          <p:cNvSpPr txBox="1"/>
          <p:nvPr/>
        </p:nvSpPr>
        <p:spPr>
          <a:xfrm>
            <a:off x="8961120" y="3291840"/>
            <a:ext cx="2514600" cy="365760"/>
          </a:xfrm>
          <a:prstGeom prst="rect">
            <a:avLst/>
          </a:prstGeom>
          <a:noFill/>
          <a:ln/>
        </p:spPr>
        <p:txBody>
          <a:bodyPr wrap="square" lIns="0" tIns="0" rIns="0" bIns="0" rtlCol="0" anchor="t"/>
          <a:lstStyle/>
          <a:p>
            <a:pPr algn="ctr" indent="0" marL="0">
              <a:buNone/>
            </a:pPr>
            <a:r>
              <a:rPr lang="en-US" sz="1300" dirty="0">
                <a:solidFill>
                  <a:srgbClr val="A9B3C9"/>
                </a:solidFill>
                <a:latin typeface="Malgun Gothic" pitchFamily="34" charset="0"/>
                <a:ea typeface="Malgun Gothic" pitchFamily="34" charset="-122"/>
                <a:cs typeface="Malgun Gothic" pitchFamily="34" charset="-120"/>
              </a:rPr>
              <a:t>신규 · 사업장변경 작성</a:t>
            </a:r>
            <a:endParaRPr lang="en-US" sz="1300" dirty="0"/>
          </a:p>
        </p:txBody>
      </p:sp>
      <p:sp>
        <p:nvSpPr>
          <p:cNvPr id="22" name="Text 18"/>
          <p:cNvSpPr txBox="1"/>
          <p:nvPr/>
        </p:nvSpPr>
        <p:spPr>
          <a:xfrm>
            <a:off x="548640" y="4297680"/>
            <a:ext cx="548640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경영전략본부 유지 업무</a:t>
            </a:r>
            <a:endParaRPr lang="en-US" sz="1400" dirty="0"/>
          </a:p>
        </p:txBody>
      </p:sp>
      <p:sp>
        <p:nvSpPr>
          <p:cNvPr id="23" name="Shape 19"/>
          <p:cNvSpPr/>
          <p:nvPr/>
        </p:nvSpPr>
        <p:spPr>
          <a:xfrm>
            <a:off x="548640" y="4709160"/>
            <a:ext cx="2103120" cy="640080"/>
          </a:xfrm>
          <a:prstGeom prst="roundRect">
            <a:avLst>
              <a:gd name="adj" fmla="val 50000"/>
            </a:avLst>
          </a:prstGeom>
          <a:solidFill>
            <a:srgbClr val="D9B66F">
              <a:alpha val="20000"/>
            </a:srgbClr>
          </a:solidFill>
          <a:ln w="12700">
            <a:solidFill>
              <a:srgbClr val="D9B66F"/>
            </a:solidFill>
            <a:prstDash val="solid"/>
          </a:ln>
        </p:spPr>
        <p:txBody>
          <a:bodyPr/>
          <a:p/>
        </p:txBody>
      </p:sp>
      <p:sp>
        <p:nvSpPr>
          <p:cNvPr id="24" name="Text 20"/>
          <p:cNvSpPr txBox="1"/>
          <p:nvPr/>
        </p:nvSpPr>
        <p:spPr>
          <a:xfrm>
            <a:off x="548640" y="4709160"/>
            <a:ext cx="2103120" cy="640080"/>
          </a:xfrm>
          <a:prstGeom prst="rect">
            <a:avLst/>
          </a:prstGeom>
          <a:noFill/>
          <a:ln/>
        </p:spPr>
        <p:txBody>
          <a:bodyPr wrap="square" lIns="0" tIns="0" rIns="0" bIns="0" rtlCol="0" anchor="ctr"/>
          <a:lstStyle/>
          <a:p>
            <a:pPr algn="ctr" indent="0" marL="0">
              <a:buNone/>
            </a:pPr>
            <a:r>
              <a:rPr lang="en-US" sz="1400" b="1" dirty="0">
                <a:solidFill>
                  <a:srgbClr val="F3DCA4"/>
                </a:solidFill>
                <a:latin typeface="Malgun Gothic" pitchFamily="34" charset="0"/>
                <a:ea typeface="Malgun Gothic" pitchFamily="34" charset="-122"/>
                <a:cs typeface="Malgun Gothic" pitchFamily="34" charset="-120"/>
              </a:rPr>
              <a:t>이관분 계약서 검토</a:t>
            </a:r>
            <a:endParaRPr lang="en-US" sz="1400" dirty="0"/>
          </a:p>
        </p:txBody>
      </p:sp>
      <p:sp>
        <p:nvSpPr>
          <p:cNvPr id="25" name="Shape 21"/>
          <p:cNvSpPr/>
          <p:nvPr/>
        </p:nvSpPr>
        <p:spPr>
          <a:xfrm>
            <a:off x="2788920" y="4709160"/>
            <a:ext cx="2103120" cy="640080"/>
          </a:xfrm>
          <a:prstGeom prst="roundRect">
            <a:avLst>
              <a:gd name="adj" fmla="val 50000"/>
            </a:avLst>
          </a:prstGeom>
          <a:solidFill>
            <a:srgbClr val="D9B66F">
              <a:alpha val="20000"/>
            </a:srgbClr>
          </a:solidFill>
          <a:ln w="12700">
            <a:solidFill>
              <a:srgbClr val="D9B66F"/>
            </a:solidFill>
            <a:prstDash val="solid"/>
          </a:ln>
        </p:spPr>
        <p:txBody>
          <a:bodyPr/>
          <a:p/>
        </p:txBody>
      </p:sp>
      <p:sp>
        <p:nvSpPr>
          <p:cNvPr id="26" name="Text 22"/>
          <p:cNvSpPr txBox="1"/>
          <p:nvPr/>
        </p:nvSpPr>
        <p:spPr>
          <a:xfrm>
            <a:off x="2788920" y="4709160"/>
            <a:ext cx="2103120" cy="640080"/>
          </a:xfrm>
          <a:prstGeom prst="rect">
            <a:avLst/>
          </a:prstGeom>
          <a:noFill/>
          <a:ln/>
        </p:spPr>
        <p:txBody>
          <a:bodyPr wrap="square" lIns="0" tIns="0" rIns="0" bIns="0" rtlCol="0" anchor="ctr"/>
          <a:lstStyle/>
          <a:p>
            <a:pPr algn="ctr" indent="0" marL="0">
              <a:buNone/>
            </a:pPr>
            <a:r>
              <a:rPr lang="en-US" sz="1400" b="1" dirty="0">
                <a:solidFill>
                  <a:srgbClr val="F3DCA4"/>
                </a:solidFill>
                <a:latin typeface="Malgun Gothic" pitchFamily="34" charset="0"/>
                <a:ea typeface="Malgun Gothic" pitchFamily="34" charset="-122"/>
                <a:cs typeface="Malgun Gothic" pitchFamily="34" charset="-120"/>
              </a:rPr>
              <a:t>사업주 신원보증보험</a:t>
            </a:r>
            <a:endParaRPr lang="en-US" sz="1400" dirty="0"/>
          </a:p>
        </p:txBody>
      </p:sp>
      <p:sp>
        <p:nvSpPr>
          <p:cNvPr id="27" name="Shape 23"/>
          <p:cNvSpPr/>
          <p:nvPr/>
        </p:nvSpPr>
        <p:spPr>
          <a:xfrm>
            <a:off x="5029200" y="4709160"/>
            <a:ext cx="2103120" cy="640080"/>
          </a:xfrm>
          <a:prstGeom prst="roundRect">
            <a:avLst>
              <a:gd name="adj" fmla="val 50000"/>
            </a:avLst>
          </a:prstGeom>
          <a:solidFill>
            <a:srgbClr val="D9B66F">
              <a:alpha val="20000"/>
            </a:srgbClr>
          </a:solidFill>
          <a:ln w="12700">
            <a:solidFill>
              <a:srgbClr val="D9B66F"/>
            </a:solidFill>
            <a:prstDash val="solid"/>
          </a:ln>
        </p:spPr>
        <p:txBody>
          <a:bodyPr/>
          <a:p/>
        </p:txBody>
      </p:sp>
      <p:sp>
        <p:nvSpPr>
          <p:cNvPr id="28" name="Text 24"/>
          <p:cNvSpPr txBox="1"/>
          <p:nvPr/>
        </p:nvSpPr>
        <p:spPr>
          <a:xfrm>
            <a:off x="5029200" y="4709160"/>
            <a:ext cx="2103120" cy="640080"/>
          </a:xfrm>
          <a:prstGeom prst="rect">
            <a:avLst/>
          </a:prstGeom>
          <a:noFill/>
          <a:ln/>
        </p:spPr>
        <p:txBody>
          <a:bodyPr wrap="square" lIns="0" tIns="0" rIns="0" bIns="0" rtlCol="0" anchor="ctr"/>
          <a:lstStyle/>
          <a:p>
            <a:pPr algn="ctr" indent="0" marL="0">
              <a:buNone/>
            </a:pPr>
            <a:r>
              <a:rPr lang="en-US" sz="1400" b="1" dirty="0">
                <a:solidFill>
                  <a:srgbClr val="F3DCA4"/>
                </a:solidFill>
                <a:latin typeface="Malgun Gothic" pitchFamily="34" charset="0"/>
                <a:ea typeface="Malgun Gothic" pitchFamily="34" charset="-122"/>
                <a:cs typeface="Malgun Gothic" pitchFamily="34" charset="-120"/>
              </a:rPr>
              <a:t>세무대리인 관리</a:t>
            </a:r>
            <a:endParaRPr lang="en-US" sz="1400" dirty="0"/>
          </a:p>
        </p:txBody>
      </p:sp>
      <p:sp>
        <p:nvSpPr>
          <p:cNvPr id="29" name="Shape 25"/>
          <p:cNvSpPr/>
          <p:nvPr/>
        </p:nvSpPr>
        <p:spPr>
          <a:xfrm>
            <a:off x="7269480" y="4709160"/>
            <a:ext cx="2103120" cy="640080"/>
          </a:xfrm>
          <a:prstGeom prst="roundRect">
            <a:avLst>
              <a:gd name="adj" fmla="val 50000"/>
            </a:avLst>
          </a:prstGeom>
          <a:solidFill>
            <a:srgbClr val="D9B66F">
              <a:alpha val="20000"/>
            </a:srgbClr>
          </a:solidFill>
          <a:ln w="12700">
            <a:solidFill>
              <a:srgbClr val="D9B66F"/>
            </a:solidFill>
            <a:prstDash val="solid"/>
          </a:ln>
        </p:spPr>
        <p:txBody>
          <a:bodyPr/>
          <a:p/>
        </p:txBody>
      </p:sp>
      <p:sp>
        <p:nvSpPr>
          <p:cNvPr id="30" name="Text 26"/>
          <p:cNvSpPr txBox="1"/>
          <p:nvPr/>
        </p:nvSpPr>
        <p:spPr>
          <a:xfrm>
            <a:off x="7269480" y="4709160"/>
            <a:ext cx="2103120" cy="640080"/>
          </a:xfrm>
          <a:prstGeom prst="rect">
            <a:avLst/>
          </a:prstGeom>
          <a:noFill/>
          <a:ln/>
        </p:spPr>
        <p:txBody>
          <a:bodyPr wrap="square" lIns="0" tIns="0" rIns="0" bIns="0" rtlCol="0" anchor="ctr"/>
          <a:lstStyle/>
          <a:p>
            <a:pPr algn="ctr" indent="0" marL="0">
              <a:buNone/>
            </a:pPr>
            <a:r>
              <a:rPr lang="en-US" sz="1400" b="1" dirty="0">
                <a:solidFill>
                  <a:srgbClr val="F3DCA4"/>
                </a:solidFill>
                <a:latin typeface="Malgun Gothic" pitchFamily="34" charset="0"/>
                <a:ea typeface="Malgun Gothic" pitchFamily="34" charset="-122"/>
                <a:cs typeface="Malgun Gothic" pitchFamily="34" charset="-120"/>
              </a:rPr>
              <a:t>계약서 이력 관리</a:t>
            </a:r>
            <a:endParaRPr lang="en-US" sz="1400" dirty="0"/>
          </a:p>
        </p:txBody>
      </p:sp>
      <p:sp>
        <p:nvSpPr>
          <p:cNvPr id="31" name="Shape 27"/>
          <p:cNvSpPr/>
          <p:nvPr/>
        </p:nvSpPr>
        <p:spPr>
          <a:xfrm>
            <a:off x="9509760" y="4709160"/>
            <a:ext cx="2103120" cy="640080"/>
          </a:xfrm>
          <a:prstGeom prst="roundRect">
            <a:avLst>
              <a:gd name="adj" fmla="val 50000"/>
            </a:avLst>
          </a:prstGeom>
          <a:solidFill>
            <a:srgbClr val="D9B66F">
              <a:alpha val="20000"/>
            </a:srgbClr>
          </a:solidFill>
          <a:ln w="12700">
            <a:solidFill>
              <a:srgbClr val="D9B66F"/>
            </a:solidFill>
            <a:prstDash val="solid"/>
          </a:ln>
        </p:spPr>
        <p:txBody>
          <a:bodyPr/>
          <a:p/>
        </p:txBody>
      </p:sp>
      <p:sp>
        <p:nvSpPr>
          <p:cNvPr id="32" name="Text 28"/>
          <p:cNvSpPr txBox="1"/>
          <p:nvPr/>
        </p:nvSpPr>
        <p:spPr>
          <a:xfrm>
            <a:off x="9509760" y="4709160"/>
            <a:ext cx="2103120" cy="640080"/>
          </a:xfrm>
          <a:prstGeom prst="rect">
            <a:avLst/>
          </a:prstGeom>
          <a:noFill/>
          <a:ln/>
        </p:spPr>
        <p:txBody>
          <a:bodyPr wrap="square" lIns="0" tIns="0" rIns="0" bIns="0" rtlCol="0" anchor="ctr"/>
          <a:lstStyle/>
          <a:p>
            <a:pPr algn="ctr" indent="0" marL="0">
              <a:buNone/>
            </a:pPr>
            <a:r>
              <a:rPr lang="en-US" sz="1400" b="1" dirty="0">
                <a:solidFill>
                  <a:srgbClr val="F3DCA4"/>
                </a:solidFill>
                <a:latin typeface="Malgun Gothic" pitchFamily="34" charset="0"/>
                <a:ea typeface="Malgun Gothic" pitchFamily="34" charset="-122"/>
                <a:cs typeface="Malgun Gothic" pitchFamily="34" charset="-120"/>
              </a:rPr>
              <a:t>재계약 업무</a:t>
            </a:r>
            <a:endParaRPr lang="en-US" sz="1400" dirty="0"/>
          </a:p>
        </p:txBody>
      </p:sp>
      <p:sp>
        <p:nvSpPr>
          <p:cNvPr id="33" name="card"/>
          <p:cNvSpPr/>
          <p:nvPr/>
        </p:nvSpPr>
        <p:spPr>
          <a:xfrm>
            <a:off x="548640" y="5577840"/>
            <a:ext cx="11109960" cy="685800"/>
          </a:xfrm>
          <a:prstGeom prst="roundRect">
            <a:avLst>
              <a:gd name="adj" fmla="val 160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4" name="Text 30"/>
          <p:cNvSpPr txBox="1"/>
          <p:nvPr/>
        </p:nvSpPr>
        <p:spPr>
          <a:xfrm>
            <a:off x="822960" y="5577840"/>
            <a:ext cx="10607040" cy="685800"/>
          </a:xfrm>
          <a:prstGeom prst="rect">
            <a:avLst/>
          </a:prstGeom>
          <a:noFill/>
          <a:ln/>
        </p:spPr>
        <p:txBody>
          <a:bodyPr wrap="square" lIns="0" tIns="0" rIns="0" bIns="0" rtlCol="0" anchor="ctr"/>
          <a:lstStyle/>
          <a:p>
            <a:pPr indent="0" marL="0">
              <a:buNone/>
            </a:pPr>
            <a:r>
              <a:rPr lang="en-US" sz="1500" b="1" dirty="0">
                <a:solidFill>
                  <a:srgbClr val="F3DCA4"/>
                </a:solidFill>
                <a:latin typeface="Malgun Gothic" pitchFamily="34" charset="0"/>
                <a:ea typeface="Malgun Gothic" pitchFamily="34" charset="-122"/>
                <a:cs typeface="Malgun Gothic" pitchFamily="34" charset="-120"/>
              </a:rPr>
              <a:t>※  </a:t>
            </a:r>
            <a:pPr indent="0" marL="0">
              <a:buNone/>
            </a:pPr>
            <a:r>
              <a:rPr lang="en-US" sz="1500" dirty="0">
                <a:solidFill>
                  <a:srgbClr val="F5F2EA"/>
                </a:solidFill>
                <a:latin typeface="Malgun Gothic" pitchFamily="34" charset="0"/>
                <a:ea typeface="Malgun Gothic" pitchFamily="34" charset="-122"/>
                <a:cs typeface="Malgun Gothic" pitchFamily="34" charset="-120"/>
              </a:rPr>
              <a:t>수탁사업주 위임 하에 세무대리인에게 개업 의뢰 → 사업자 미등록 가산세·매입세액 불공제 문제 해결</a:t>
            </a:r>
            <a:endParaRPr lang="en-US" sz="15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30</a:t>
            </a:fld>
            <a:endParaRPr lang="en-US"/>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txBox="1"/>
          <p:nvPr/>
        </p:nvSpPr>
        <p:spPr>
          <a:xfrm>
            <a:off x="822960" y="731520"/>
            <a:ext cx="4572000" cy="2743200"/>
          </a:xfrm>
          <a:prstGeom prst="rect">
            <a:avLst/>
          </a:prstGeom>
          <a:noFill/>
          <a:ln/>
        </p:spPr>
        <p:txBody>
          <a:bodyPr wrap="square" lIns="0" tIns="0" rIns="0" bIns="0" rtlCol="0" anchor="t"/>
          <a:lstStyle/>
          <a:p>
            <a:pPr indent="0" marL="0">
              <a:buNone/>
            </a:pPr>
            <a:r>
              <a:rPr lang="en-US" sz="17000" b="1" dirty="0">
                <a:solidFill>
                  <a:srgbClr val="D9B66F"/>
                </a:solidFill>
                <a:latin typeface="Malgun Gothic" pitchFamily="34" charset="0"/>
                <a:ea typeface="Malgun Gothic" pitchFamily="34" charset="-122"/>
                <a:cs typeface="Malgun Gothic" pitchFamily="34" charset="-120"/>
              </a:rPr>
              <a:t>Ⅱ</a:t>
            </a:r>
            <a:endParaRPr lang="en-US" sz="17000" dirty="0"/>
          </a:p>
        </p:txBody>
      </p:sp>
      <p:sp>
        <p:nvSpPr>
          <p:cNvPr id="4" name="Text 1"/>
          <p:cNvSpPr txBox="1"/>
          <p:nvPr/>
        </p:nvSpPr>
        <p:spPr>
          <a:xfrm>
            <a:off x="822960" y="3566160"/>
            <a:ext cx="10058400" cy="1828800"/>
          </a:xfrm>
          <a:prstGeom prst="rect">
            <a:avLst/>
          </a:prstGeom>
          <a:noFill/>
          <a:ln/>
        </p:spPr>
        <p:txBody>
          <a:bodyPr wrap="square" lIns="0" tIns="0" rIns="0" bIns="0" rtlCol="0" anchor="t"/>
          <a:lstStyle/>
          <a:p>
            <a:pPr indent="0" marL="0">
              <a:buNone/>
            </a:pPr>
            <a:r>
              <a:rPr lang="en-US" sz="5400" b="1" dirty="0">
                <a:solidFill>
                  <a:srgbClr val="F5F2EA"/>
                </a:solidFill>
                <a:latin typeface="Malgun Gothic" pitchFamily="34" charset="0"/>
                <a:ea typeface="Malgun Gothic" pitchFamily="34" charset="-122"/>
                <a:cs typeface="Malgun Gothic" pitchFamily="34" charset="-120"/>
              </a:rPr>
              <a:t>2026년 4분기</a:t>
            </a:r>
            <a:endParaRPr lang="en-US" sz="5400" dirty="0"/>
          </a:p>
          <a:p>
            <a:pPr indent="0" marL="0">
              <a:buNone/>
            </a:pPr>
            <a:r>
              <a:rPr lang="en-US" sz="5400" b="1" dirty="0">
                <a:solidFill>
                  <a:srgbClr val="F5F2EA"/>
                </a:solidFill>
                <a:latin typeface="Malgun Gothic" pitchFamily="34" charset="0"/>
                <a:ea typeface="Malgun Gothic" pitchFamily="34" charset="-122"/>
                <a:cs typeface="Malgun Gothic" pitchFamily="34" charset="-120"/>
              </a:rPr>
              <a:t>중점업무 추진목표</a:t>
            </a:r>
            <a:endParaRPr lang="en-US" sz="5400" dirty="0"/>
          </a:p>
        </p:txBody>
      </p:sp>
      <p:sp>
        <p:nvSpPr>
          <p:cNvPr id="5" name="Text 2"/>
          <p:cNvSpPr txBox="1"/>
          <p:nvPr/>
        </p:nvSpPr>
        <p:spPr>
          <a:xfrm>
            <a:off x="822960" y="5486400"/>
            <a:ext cx="9144000" cy="457200"/>
          </a:xfrm>
          <a:prstGeom prst="rect">
            <a:avLst/>
          </a:prstGeom>
          <a:noFill/>
          <a:ln/>
        </p:spPr>
        <p:txBody>
          <a:bodyPr wrap="square" lIns="0" tIns="0" rIns="0" bIns="0" rtlCol="0" anchor="t"/>
          <a:lstStyle/>
          <a:p>
            <a:pPr indent="0" marL="0">
              <a:buNone/>
            </a:pPr>
            <a:r>
              <a:rPr lang="en-US" sz="2000" dirty="0">
                <a:solidFill>
                  <a:srgbClr val="A9B3C9"/>
                </a:solidFill>
                <a:latin typeface="Malgun Gothic" pitchFamily="34" charset="0"/>
                <a:ea typeface="Malgun Gothic" pitchFamily="34" charset="-122"/>
                <a:cs typeface="Malgun Gothic" pitchFamily="34" charset="-120"/>
              </a:rPr>
              <a:t>세무 · 재무 · 시스템 · 관계법인 관리</a:t>
            </a:r>
            <a:endParaRPr lang="en-US" sz="20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31</a:t>
            </a:fld>
            <a:endParaRPr lang="en-US"/>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Ⅱ</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4분기 중점업무 ① 세무 · 재무</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조세쟁송 · 세법검토 · 신고 · 외부감사 · 결산</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card"/>
          <p:cNvSpPr/>
          <p:nvPr/>
        </p:nvSpPr>
        <p:spPr>
          <a:xfrm>
            <a:off x="548640" y="1417320"/>
            <a:ext cx="3611880" cy="2286000"/>
          </a:xfrm>
          <a:prstGeom prst="roundRect">
            <a:avLst>
              <a:gd name="adj" fmla="val 48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9" name="Shape 5"/>
          <p:cNvSpPr/>
          <p:nvPr/>
        </p:nvSpPr>
        <p:spPr>
          <a:xfrm>
            <a:off x="777240" y="1600200"/>
            <a:ext cx="411480" cy="411480"/>
          </a:xfrm>
          <a:prstGeom prst="ellipse">
            <a:avLst/>
          </a:prstGeom>
          <a:solidFill>
            <a:srgbClr val="D9B66F"/>
          </a:solidFill>
          <a:ln w="12700">
            <a:solidFill>
              <a:srgbClr val="D9B66F"/>
            </a:solidFill>
            <a:prstDash val="solid"/>
          </a:ln>
        </p:spPr>
        <p:txBody>
          <a:bodyPr/>
          <a:p/>
        </p:txBody>
      </p:sp>
      <p:sp>
        <p:nvSpPr>
          <p:cNvPr id="10" name="Text 6"/>
          <p:cNvSpPr txBox="1"/>
          <p:nvPr/>
        </p:nvSpPr>
        <p:spPr>
          <a:xfrm>
            <a:off x="777240" y="1600200"/>
            <a:ext cx="411480" cy="411480"/>
          </a:xfrm>
          <a:prstGeom prst="rect">
            <a:avLst/>
          </a:prstGeom>
          <a:noFill/>
          <a:ln/>
        </p:spPr>
        <p:txBody>
          <a:bodyPr wrap="square" lIns="0" tIns="0" rIns="0" bIns="0" rtlCol="0" anchor="ctr"/>
          <a:lstStyle/>
          <a:p>
            <a:pPr algn="ctr" indent="0" marL="0">
              <a:buNone/>
            </a:pPr>
            <a:r>
              <a:rPr lang="en-US" sz="1500" b="1" dirty="0">
                <a:solidFill>
                  <a:srgbClr val="1A1305"/>
                </a:solidFill>
                <a:latin typeface="Malgun Gothic" pitchFamily="34" charset="0"/>
                <a:ea typeface="Malgun Gothic" pitchFamily="34" charset="-122"/>
                <a:cs typeface="Malgun Gothic" pitchFamily="34" charset="-120"/>
              </a:rPr>
              <a:t>1</a:t>
            </a:r>
            <a:endParaRPr lang="en-US" sz="1500" dirty="0"/>
          </a:p>
        </p:txBody>
      </p:sp>
      <p:sp>
        <p:nvSpPr>
          <p:cNvPr id="11" name="Text 7"/>
          <p:cNvSpPr txBox="1"/>
          <p:nvPr/>
        </p:nvSpPr>
        <p:spPr>
          <a:xfrm>
            <a:off x="1325880" y="1600200"/>
            <a:ext cx="2651760" cy="411480"/>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조세쟁송</a:t>
            </a:r>
            <a:endParaRPr lang="en-US" sz="1300" dirty="0"/>
          </a:p>
        </p:txBody>
      </p:sp>
      <p:sp>
        <p:nvSpPr>
          <p:cNvPr id="12" name="Text 8"/>
          <p:cNvSpPr txBox="1"/>
          <p:nvPr/>
        </p:nvSpPr>
        <p:spPr>
          <a:xfrm>
            <a:off x="777240" y="2148840"/>
            <a:ext cx="3200400" cy="457200"/>
          </a:xfrm>
          <a:prstGeom prst="rect">
            <a:avLst/>
          </a:prstGeom>
          <a:noFill/>
          <a:ln/>
        </p:spPr>
        <p:txBody>
          <a:bodyPr wrap="square" lIns="0" tIns="0" rIns="0" bIns="0" rtlCol="0" anchor="t"/>
          <a:lstStyle/>
          <a:p>
            <a:pPr indent="0" marL="0">
              <a:buNone/>
            </a:pPr>
            <a:r>
              <a:rPr lang="en-US" sz="2000" b="1" dirty="0">
                <a:solidFill>
                  <a:srgbClr val="F5F2EA"/>
                </a:solidFill>
                <a:latin typeface="Malgun Gothic" pitchFamily="34" charset="0"/>
                <a:ea typeface="Malgun Gothic" pitchFamily="34" charset="-122"/>
                <a:cs typeface="Malgun Gothic" pitchFamily="34" charset="-120"/>
              </a:rPr>
              <a:t>행정심</a:t>
            </a:r>
            <a:endParaRPr lang="en-US" sz="2000" dirty="0"/>
          </a:p>
        </p:txBody>
      </p:sp>
      <p:sp>
        <p:nvSpPr>
          <p:cNvPr id="13" name="Text 9"/>
          <p:cNvSpPr txBox="1"/>
          <p:nvPr/>
        </p:nvSpPr>
        <p:spPr>
          <a:xfrm>
            <a:off x="777240" y="2697480"/>
            <a:ext cx="3200400" cy="91440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2014년 귀속 상여처분에 대한 행정심 대응</a:t>
            </a:r>
            <a:endParaRPr lang="en-US" sz="1400" dirty="0"/>
          </a:p>
        </p:txBody>
      </p:sp>
      <p:sp>
        <p:nvSpPr>
          <p:cNvPr id="14" name="card"/>
          <p:cNvSpPr/>
          <p:nvPr/>
        </p:nvSpPr>
        <p:spPr>
          <a:xfrm>
            <a:off x="4297680" y="1417320"/>
            <a:ext cx="3611880" cy="2286000"/>
          </a:xfrm>
          <a:prstGeom prst="roundRect">
            <a:avLst>
              <a:gd name="adj" fmla="val 48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15" name="Shape 11"/>
          <p:cNvSpPr/>
          <p:nvPr/>
        </p:nvSpPr>
        <p:spPr>
          <a:xfrm>
            <a:off x="4526280" y="1600200"/>
            <a:ext cx="411480" cy="411480"/>
          </a:xfrm>
          <a:prstGeom prst="ellipse">
            <a:avLst/>
          </a:prstGeom>
          <a:solidFill>
            <a:srgbClr val="D9B66F"/>
          </a:solidFill>
          <a:ln w="12700">
            <a:solidFill>
              <a:srgbClr val="D9B66F"/>
            </a:solidFill>
            <a:prstDash val="solid"/>
          </a:ln>
        </p:spPr>
        <p:txBody>
          <a:bodyPr/>
          <a:p/>
        </p:txBody>
      </p:sp>
      <p:sp>
        <p:nvSpPr>
          <p:cNvPr id="16" name="Text 12"/>
          <p:cNvSpPr txBox="1"/>
          <p:nvPr/>
        </p:nvSpPr>
        <p:spPr>
          <a:xfrm>
            <a:off x="4526280" y="1600200"/>
            <a:ext cx="411480" cy="411480"/>
          </a:xfrm>
          <a:prstGeom prst="rect">
            <a:avLst/>
          </a:prstGeom>
          <a:noFill/>
          <a:ln/>
        </p:spPr>
        <p:txBody>
          <a:bodyPr wrap="square" lIns="0" tIns="0" rIns="0" bIns="0" rtlCol="0" anchor="ctr"/>
          <a:lstStyle/>
          <a:p>
            <a:pPr algn="ctr" indent="0" marL="0">
              <a:buNone/>
            </a:pPr>
            <a:r>
              <a:rPr lang="en-US" sz="1500" b="1" dirty="0">
                <a:solidFill>
                  <a:srgbClr val="1A1305"/>
                </a:solidFill>
                <a:latin typeface="Malgun Gothic" pitchFamily="34" charset="0"/>
                <a:ea typeface="Malgun Gothic" pitchFamily="34" charset="-122"/>
                <a:cs typeface="Malgun Gothic" pitchFamily="34" charset="-120"/>
              </a:rPr>
              <a:t>2</a:t>
            </a:r>
            <a:endParaRPr lang="en-US" sz="1500" dirty="0"/>
          </a:p>
        </p:txBody>
      </p:sp>
      <p:sp>
        <p:nvSpPr>
          <p:cNvPr id="17" name="Text 13"/>
          <p:cNvSpPr txBox="1"/>
          <p:nvPr/>
        </p:nvSpPr>
        <p:spPr>
          <a:xfrm>
            <a:off x="5074920" y="1600200"/>
            <a:ext cx="2651760" cy="411480"/>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자금관리</a:t>
            </a:r>
            <a:endParaRPr lang="en-US" sz="1300" dirty="0"/>
          </a:p>
        </p:txBody>
      </p:sp>
      <p:sp>
        <p:nvSpPr>
          <p:cNvPr id="18" name="Text 14"/>
          <p:cNvSpPr txBox="1"/>
          <p:nvPr/>
        </p:nvSpPr>
        <p:spPr>
          <a:xfrm>
            <a:off x="4526280" y="2148840"/>
            <a:ext cx="3200400" cy="457200"/>
          </a:xfrm>
          <a:prstGeom prst="rect">
            <a:avLst/>
          </a:prstGeom>
          <a:noFill/>
          <a:ln/>
        </p:spPr>
        <p:txBody>
          <a:bodyPr wrap="square" lIns="0" tIns="0" rIns="0" bIns="0" rtlCol="0" anchor="t"/>
          <a:lstStyle/>
          <a:p>
            <a:pPr indent="0" marL="0">
              <a:buNone/>
            </a:pPr>
            <a:r>
              <a:rPr lang="en-US" sz="2000" b="1" dirty="0">
                <a:solidFill>
                  <a:srgbClr val="F5F2EA"/>
                </a:solidFill>
                <a:latin typeface="Malgun Gothic" pitchFamily="34" charset="0"/>
                <a:ea typeface="Malgun Gothic" pitchFamily="34" charset="-122"/>
                <a:cs typeface="Malgun Gothic" pitchFamily="34" charset="-120"/>
              </a:rPr>
              <a:t>MMDA · 여신금리</a:t>
            </a:r>
            <a:endParaRPr lang="en-US" sz="2000" dirty="0"/>
          </a:p>
        </p:txBody>
      </p:sp>
      <p:sp>
        <p:nvSpPr>
          <p:cNvPr id="19" name="Text 15"/>
          <p:cNvSpPr txBox="1"/>
          <p:nvPr/>
        </p:nvSpPr>
        <p:spPr>
          <a:xfrm>
            <a:off x="4526280" y="2697480"/>
            <a:ext cx="3200400" cy="91440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매월 이자율 확인으로 수익 극대화 · 비용 최소화</a:t>
            </a:r>
            <a:endParaRPr lang="en-US" sz="1400" dirty="0"/>
          </a:p>
        </p:txBody>
      </p:sp>
      <p:sp>
        <p:nvSpPr>
          <p:cNvPr id="20" name="card"/>
          <p:cNvSpPr/>
          <p:nvPr/>
        </p:nvSpPr>
        <p:spPr>
          <a:xfrm>
            <a:off x="8046720" y="1417320"/>
            <a:ext cx="3611880" cy="2286000"/>
          </a:xfrm>
          <a:prstGeom prst="roundRect">
            <a:avLst>
              <a:gd name="adj" fmla="val 48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1" name="Shape 17"/>
          <p:cNvSpPr/>
          <p:nvPr/>
        </p:nvSpPr>
        <p:spPr>
          <a:xfrm>
            <a:off x="8275320" y="1600200"/>
            <a:ext cx="411480" cy="411480"/>
          </a:xfrm>
          <a:prstGeom prst="ellipse">
            <a:avLst/>
          </a:prstGeom>
          <a:solidFill>
            <a:srgbClr val="D9B66F"/>
          </a:solidFill>
          <a:ln w="12700">
            <a:solidFill>
              <a:srgbClr val="D9B66F"/>
            </a:solidFill>
            <a:prstDash val="solid"/>
          </a:ln>
        </p:spPr>
        <p:txBody>
          <a:bodyPr/>
          <a:p/>
        </p:txBody>
      </p:sp>
      <p:sp>
        <p:nvSpPr>
          <p:cNvPr id="22" name="Text 18"/>
          <p:cNvSpPr txBox="1"/>
          <p:nvPr/>
        </p:nvSpPr>
        <p:spPr>
          <a:xfrm>
            <a:off x="8275320" y="1600200"/>
            <a:ext cx="411480" cy="411480"/>
          </a:xfrm>
          <a:prstGeom prst="rect">
            <a:avLst/>
          </a:prstGeom>
          <a:noFill/>
          <a:ln/>
        </p:spPr>
        <p:txBody>
          <a:bodyPr wrap="square" lIns="0" tIns="0" rIns="0" bIns="0" rtlCol="0" anchor="ctr"/>
          <a:lstStyle/>
          <a:p>
            <a:pPr algn="ctr" indent="0" marL="0">
              <a:buNone/>
            </a:pPr>
            <a:r>
              <a:rPr lang="en-US" sz="1500" b="1" dirty="0">
                <a:solidFill>
                  <a:srgbClr val="1A1305"/>
                </a:solidFill>
                <a:latin typeface="Malgun Gothic" pitchFamily="34" charset="0"/>
                <a:ea typeface="Malgun Gothic" pitchFamily="34" charset="-122"/>
                <a:cs typeface="Malgun Gothic" pitchFamily="34" charset="-120"/>
              </a:rPr>
              <a:t>3</a:t>
            </a:r>
            <a:endParaRPr lang="en-US" sz="1500" dirty="0"/>
          </a:p>
        </p:txBody>
      </p:sp>
      <p:sp>
        <p:nvSpPr>
          <p:cNvPr id="23" name="Text 19"/>
          <p:cNvSpPr txBox="1"/>
          <p:nvPr/>
        </p:nvSpPr>
        <p:spPr>
          <a:xfrm>
            <a:off x="8823960" y="1600200"/>
            <a:ext cx="2651760" cy="411480"/>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세법검토</a:t>
            </a:r>
            <a:endParaRPr lang="en-US" sz="1300" dirty="0"/>
          </a:p>
        </p:txBody>
      </p:sp>
      <p:sp>
        <p:nvSpPr>
          <p:cNvPr id="24" name="Text 20"/>
          <p:cNvSpPr txBox="1"/>
          <p:nvPr/>
        </p:nvSpPr>
        <p:spPr>
          <a:xfrm>
            <a:off x="8275320" y="2148840"/>
            <a:ext cx="3200400" cy="457200"/>
          </a:xfrm>
          <a:prstGeom prst="rect">
            <a:avLst/>
          </a:prstGeom>
          <a:noFill/>
          <a:ln/>
        </p:spPr>
        <p:txBody>
          <a:bodyPr wrap="square" lIns="0" tIns="0" rIns="0" bIns="0" rtlCol="0" anchor="t"/>
          <a:lstStyle/>
          <a:p>
            <a:pPr indent="0" marL="0">
              <a:buNone/>
            </a:pPr>
            <a:r>
              <a:rPr lang="en-US" sz="2000" b="1" dirty="0">
                <a:solidFill>
                  <a:srgbClr val="F5F2EA"/>
                </a:solidFill>
                <a:latin typeface="Malgun Gothic" pitchFamily="34" charset="0"/>
                <a:ea typeface="Malgun Gothic" pitchFamily="34" charset="-122"/>
                <a:cs typeface="Malgun Gothic" pitchFamily="34" charset="-120"/>
              </a:rPr>
              <a:t>2027년 개정세법</a:t>
            </a:r>
            <a:endParaRPr lang="en-US" sz="2000" dirty="0"/>
          </a:p>
        </p:txBody>
      </p:sp>
      <p:sp>
        <p:nvSpPr>
          <p:cNvPr id="25" name="Text 21"/>
          <p:cNvSpPr txBox="1"/>
          <p:nvPr/>
        </p:nvSpPr>
        <p:spPr>
          <a:xfrm>
            <a:off x="8275320" y="2697480"/>
            <a:ext cx="3200400" cy="91440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2026년 귀속 법인세 절감 연구</a:t>
            </a:r>
            <a:endParaRPr lang="en-US" sz="1400" dirty="0"/>
          </a:p>
        </p:txBody>
      </p:sp>
      <p:sp>
        <p:nvSpPr>
          <p:cNvPr id="26" name="card"/>
          <p:cNvSpPr/>
          <p:nvPr/>
        </p:nvSpPr>
        <p:spPr>
          <a:xfrm>
            <a:off x="548640" y="3886200"/>
            <a:ext cx="3611880" cy="2286000"/>
          </a:xfrm>
          <a:prstGeom prst="roundRect">
            <a:avLst>
              <a:gd name="adj" fmla="val 48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7" name="Shape 23"/>
          <p:cNvSpPr/>
          <p:nvPr/>
        </p:nvSpPr>
        <p:spPr>
          <a:xfrm>
            <a:off x="777240" y="4069080"/>
            <a:ext cx="411480" cy="411480"/>
          </a:xfrm>
          <a:prstGeom prst="ellipse">
            <a:avLst/>
          </a:prstGeom>
          <a:solidFill>
            <a:srgbClr val="D9B66F"/>
          </a:solidFill>
          <a:ln w="12700">
            <a:solidFill>
              <a:srgbClr val="D9B66F"/>
            </a:solidFill>
            <a:prstDash val="solid"/>
          </a:ln>
        </p:spPr>
        <p:txBody>
          <a:bodyPr/>
          <a:p/>
        </p:txBody>
      </p:sp>
      <p:sp>
        <p:nvSpPr>
          <p:cNvPr id="28" name="Text 24"/>
          <p:cNvSpPr txBox="1"/>
          <p:nvPr/>
        </p:nvSpPr>
        <p:spPr>
          <a:xfrm>
            <a:off x="777240" y="4069080"/>
            <a:ext cx="411480" cy="411480"/>
          </a:xfrm>
          <a:prstGeom prst="rect">
            <a:avLst/>
          </a:prstGeom>
          <a:noFill/>
          <a:ln/>
        </p:spPr>
        <p:txBody>
          <a:bodyPr wrap="square" lIns="0" tIns="0" rIns="0" bIns="0" rtlCol="0" anchor="ctr"/>
          <a:lstStyle/>
          <a:p>
            <a:pPr algn="ctr" indent="0" marL="0">
              <a:buNone/>
            </a:pPr>
            <a:r>
              <a:rPr lang="en-US" sz="1500" b="1" dirty="0">
                <a:solidFill>
                  <a:srgbClr val="1A1305"/>
                </a:solidFill>
                <a:latin typeface="Malgun Gothic" pitchFamily="34" charset="0"/>
                <a:ea typeface="Malgun Gothic" pitchFamily="34" charset="-122"/>
                <a:cs typeface="Malgun Gothic" pitchFamily="34" charset="-120"/>
              </a:rPr>
              <a:t>4</a:t>
            </a:r>
            <a:endParaRPr lang="en-US" sz="1500" dirty="0"/>
          </a:p>
        </p:txBody>
      </p:sp>
      <p:sp>
        <p:nvSpPr>
          <p:cNvPr id="29" name="Text 25"/>
          <p:cNvSpPr txBox="1"/>
          <p:nvPr/>
        </p:nvSpPr>
        <p:spPr>
          <a:xfrm>
            <a:off x="1325880" y="4069080"/>
            <a:ext cx="2651760" cy="411480"/>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세금 신고</a:t>
            </a:r>
            <a:endParaRPr lang="en-US" sz="1300" dirty="0"/>
          </a:p>
        </p:txBody>
      </p:sp>
      <p:sp>
        <p:nvSpPr>
          <p:cNvPr id="30" name="Text 26"/>
          <p:cNvSpPr txBox="1"/>
          <p:nvPr/>
        </p:nvSpPr>
        <p:spPr>
          <a:xfrm>
            <a:off x="777240" y="4617720"/>
            <a:ext cx="3200400" cy="457200"/>
          </a:xfrm>
          <a:prstGeom prst="rect">
            <a:avLst/>
          </a:prstGeom>
          <a:noFill/>
          <a:ln/>
        </p:spPr>
        <p:txBody>
          <a:bodyPr wrap="square" lIns="0" tIns="0" rIns="0" bIns="0" rtlCol="0" anchor="t"/>
          <a:lstStyle/>
          <a:p>
            <a:pPr indent="0" marL="0">
              <a:buNone/>
            </a:pPr>
            <a:r>
              <a:rPr lang="en-US" sz="2000" b="1" dirty="0">
                <a:solidFill>
                  <a:srgbClr val="F5F2EA"/>
                </a:solidFill>
                <a:latin typeface="Malgun Gothic" pitchFamily="34" charset="0"/>
                <a:ea typeface="Malgun Gothic" pitchFamily="34" charset="-122"/>
                <a:cs typeface="Malgun Gothic" pitchFamily="34" charset="-120"/>
              </a:rPr>
              <a:t>신고 및 납부</a:t>
            </a:r>
            <a:endParaRPr lang="en-US" sz="2000" dirty="0"/>
          </a:p>
        </p:txBody>
      </p:sp>
      <p:sp>
        <p:nvSpPr>
          <p:cNvPr id="31" name="Text 27"/>
          <p:cNvSpPr txBox="1"/>
          <p:nvPr/>
        </p:nvSpPr>
        <p:spPr>
          <a:xfrm>
            <a:off x="777240" y="5166360"/>
            <a:ext cx="3200400" cy="91440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부가가치세 · 취득세(경대교, 조치원)</a:t>
            </a:r>
            <a:endParaRPr lang="en-US" sz="1400" dirty="0"/>
          </a:p>
          <a:p>
            <a:pPr indent="0" marL="0">
              <a:buNone/>
            </a:pPr>
            <a:r>
              <a:rPr lang="en-US" sz="1400" dirty="0">
                <a:solidFill>
                  <a:srgbClr val="A9B3C9"/>
                </a:solidFill>
                <a:latin typeface="Malgun Gothic" pitchFamily="34" charset="0"/>
                <a:ea typeface="Malgun Gothic" pitchFamily="34" charset="-122"/>
                <a:cs typeface="Malgun Gothic" pitchFamily="34" charset="-120"/>
              </a:rPr>
              <a:t>양도소득세(남전주점 토지·건물)</a:t>
            </a:r>
            <a:endParaRPr lang="en-US" sz="1400" dirty="0"/>
          </a:p>
        </p:txBody>
      </p:sp>
      <p:sp>
        <p:nvSpPr>
          <p:cNvPr id="32" name="card"/>
          <p:cNvSpPr/>
          <p:nvPr/>
        </p:nvSpPr>
        <p:spPr>
          <a:xfrm>
            <a:off x="4297680" y="3886200"/>
            <a:ext cx="3611880" cy="2286000"/>
          </a:xfrm>
          <a:prstGeom prst="roundRect">
            <a:avLst>
              <a:gd name="adj" fmla="val 48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3" name="Shape 29"/>
          <p:cNvSpPr/>
          <p:nvPr/>
        </p:nvSpPr>
        <p:spPr>
          <a:xfrm>
            <a:off x="4526280" y="4069080"/>
            <a:ext cx="411480" cy="411480"/>
          </a:xfrm>
          <a:prstGeom prst="ellipse">
            <a:avLst/>
          </a:prstGeom>
          <a:solidFill>
            <a:srgbClr val="D9B66F"/>
          </a:solidFill>
          <a:ln w="12700">
            <a:solidFill>
              <a:srgbClr val="D9B66F"/>
            </a:solidFill>
            <a:prstDash val="solid"/>
          </a:ln>
        </p:spPr>
        <p:txBody>
          <a:bodyPr/>
          <a:p/>
        </p:txBody>
      </p:sp>
      <p:sp>
        <p:nvSpPr>
          <p:cNvPr id="34" name="Text 30"/>
          <p:cNvSpPr txBox="1"/>
          <p:nvPr/>
        </p:nvSpPr>
        <p:spPr>
          <a:xfrm>
            <a:off x="4526280" y="4069080"/>
            <a:ext cx="411480" cy="411480"/>
          </a:xfrm>
          <a:prstGeom prst="rect">
            <a:avLst/>
          </a:prstGeom>
          <a:noFill/>
          <a:ln/>
        </p:spPr>
        <p:txBody>
          <a:bodyPr wrap="square" lIns="0" tIns="0" rIns="0" bIns="0" rtlCol="0" anchor="ctr"/>
          <a:lstStyle/>
          <a:p>
            <a:pPr algn="ctr" indent="0" marL="0">
              <a:buNone/>
            </a:pPr>
            <a:r>
              <a:rPr lang="en-US" sz="1500" b="1" dirty="0">
                <a:solidFill>
                  <a:srgbClr val="1A1305"/>
                </a:solidFill>
                <a:latin typeface="Malgun Gothic" pitchFamily="34" charset="0"/>
                <a:ea typeface="Malgun Gothic" pitchFamily="34" charset="-122"/>
                <a:cs typeface="Malgun Gothic" pitchFamily="34" charset="-120"/>
              </a:rPr>
              <a:t>5</a:t>
            </a:r>
            <a:endParaRPr lang="en-US" sz="1500" dirty="0"/>
          </a:p>
        </p:txBody>
      </p:sp>
      <p:sp>
        <p:nvSpPr>
          <p:cNvPr id="35" name="Text 31"/>
          <p:cNvSpPr txBox="1"/>
          <p:nvPr/>
        </p:nvSpPr>
        <p:spPr>
          <a:xfrm>
            <a:off x="5074920" y="4069080"/>
            <a:ext cx="2651760" cy="411480"/>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외부감사</a:t>
            </a:r>
            <a:endParaRPr lang="en-US" sz="1300" dirty="0"/>
          </a:p>
        </p:txBody>
      </p:sp>
      <p:sp>
        <p:nvSpPr>
          <p:cNvPr id="36" name="Text 32"/>
          <p:cNvSpPr txBox="1"/>
          <p:nvPr/>
        </p:nvSpPr>
        <p:spPr>
          <a:xfrm>
            <a:off x="4526280" y="4617720"/>
            <a:ext cx="3200400" cy="457200"/>
          </a:xfrm>
          <a:prstGeom prst="rect">
            <a:avLst/>
          </a:prstGeom>
          <a:noFill/>
          <a:ln/>
        </p:spPr>
        <p:txBody>
          <a:bodyPr wrap="square" lIns="0" tIns="0" rIns="0" bIns="0" rtlCol="0" anchor="t"/>
          <a:lstStyle/>
          <a:p>
            <a:pPr indent="0" marL="0">
              <a:buNone/>
            </a:pPr>
            <a:r>
              <a:rPr lang="en-US" sz="2000" b="1" dirty="0">
                <a:solidFill>
                  <a:srgbClr val="F5F2EA"/>
                </a:solidFill>
                <a:latin typeface="Malgun Gothic" pitchFamily="34" charset="0"/>
                <a:ea typeface="Malgun Gothic" pitchFamily="34" charset="-122"/>
                <a:cs typeface="Malgun Gothic" pitchFamily="34" charset="-120"/>
              </a:rPr>
              <a:t>중간 외부감사 대응</a:t>
            </a:r>
            <a:endParaRPr lang="en-US" sz="2000" dirty="0"/>
          </a:p>
        </p:txBody>
      </p:sp>
      <p:sp>
        <p:nvSpPr>
          <p:cNvPr id="37" name="Text 33"/>
          <p:cNvSpPr txBox="1"/>
          <p:nvPr/>
        </p:nvSpPr>
        <p:spPr>
          <a:xfrm>
            <a:off x="4526280" y="5166360"/>
            <a:ext cx="3200400" cy="91440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타이어뱅크 · 원풍약품상사 · 풍년농사</a:t>
            </a:r>
            <a:endParaRPr lang="en-US" sz="1400" dirty="0"/>
          </a:p>
          <a:p>
            <a:pPr indent="0" marL="0">
              <a:buNone/>
            </a:pPr>
            <a:r>
              <a:rPr lang="en-US" sz="1400" dirty="0">
                <a:solidFill>
                  <a:srgbClr val="A9B3C9"/>
                </a:solidFill>
                <a:latin typeface="Malgun Gothic" pitchFamily="34" charset="0"/>
                <a:ea typeface="Malgun Gothic" pitchFamily="34" charset="-122"/>
                <a:cs typeface="Malgun Gothic" pitchFamily="34" charset="-120"/>
              </a:rPr>
              <a:t>예정: AP홀딩스 · 성공을만드는 · 성공 · 좋은농사 · 선농종합식품</a:t>
            </a:r>
            <a:endParaRPr lang="en-US" sz="1400" dirty="0"/>
          </a:p>
        </p:txBody>
      </p:sp>
      <p:sp>
        <p:nvSpPr>
          <p:cNvPr id="38" name="card"/>
          <p:cNvSpPr/>
          <p:nvPr/>
        </p:nvSpPr>
        <p:spPr>
          <a:xfrm>
            <a:off x="8046720" y="3886200"/>
            <a:ext cx="3611880" cy="2286000"/>
          </a:xfrm>
          <a:prstGeom prst="roundRect">
            <a:avLst>
              <a:gd name="adj" fmla="val 4800"/>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39" name="Shape 35"/>
          <p:cNvSpPr/>
          <p:nvPr/>
        </p:nvSpPr>
        <p:spPr>
          <a:xfrm>
            <a:off x="8275320" y="4069080"/>
            <a:ext cx="411480" cy="411480"/>
          </a:xfrm>
          <a:prstGeom prst="ellipse">
            <a:avLst/>
          </a:prstGeom>
          <a:solidFill>
            <a:srgbClr val="D9B66F"/>
          </a:solidFill>
          <a:ln w="12700">
            <a:solidFill>
              <a:srgbClr val="D9B66F"/>
            </a:solidFill>
            <a:prstDash val="solid"/>
          </a:ln>
        </p:spPr>
        <p:txBody>
          <a:bodyPr/>
          <a:p/>
        </p:txBody>
      </p:sp>
      <p:sp>
        <p:nvSpPr>
          <p:cNvPr id="40" name="Text 36"/>
          <p:cNvSpPr txBox="1"/>
          <p:nvPr/>
        </p:nvSpPr>
        <p:spPr>
          <a:xfrm>
            <a:off x="8275320" y="4069080"/>
            <a:ext cx="411480" cy="411480"/>
          </a:xfrm>
          <a:prstGeom prst="rect">
            <a:avLst/>
          </a:prstGeom>
          <a:noFill/>
          <a:ln/>
        </p:spPr>
        <p:txBody>
          <a:bodyPr wrap="square" lIns="0" tIns="0" rIns="0" bIns="0" rtlCol="0" anchor="ctr"/>
          <a:lstStyle/>
          <a:p>
            <a:pPr algn="ctr" indent="0" marL="0">
              <a:buNone/>
            </a:pPr>
            <a:r>
              <a:rPr lang="en-US" sz="1500" b="1" dirty="0">
                <a:solidFill>
                  <a:srgbClr val="1A1305"/>
                </a:solidFill>
                <a:latin typeface="Malgun Gothic" pitchFamily="34" charset="0"/>
                <a:ea typeface="Malgun Gothic" pitchFamily="34" charset="-122"/>
                <a:cs typeface="Malgun Gothic" pitchFamily="34" charset="-120"/>
              </a:rPr>
              <a:t>6</a:t>
            </a:r>
            <a:endParaRPr lang="en-US" sz="1500" dirty="0"/>
          </a:p>
        </p:txBody>
      </p:sp>
      <p:sp>
        <p:nvSpPr>
          <p:cNvPr id="41" name="Text 37"/>
          <p:cNvSpPr txBox="1"/>
          <p:nvPr/>
        </p:nvSpPr>
        <p:spPr>
          <a:xfrm>
            <a:off x="8823960" y="4069080"/>
            <a:ext cx="2651760" cy="411480"/>
          </a:xfrm>
          <a:prstGeom prst="rect">
            <a:avLst/>
          </a:prstGeom>
          <a:noFill/>
          <a:ln/>
        </p:spPr>
        <p:txBody>
          <a:bodyPr wrap="square" lIns="0" tIns="0" rIns="0" bIns="0" rtlCol="0" anchor="ctr"/>
          <a:lstStyle/>
          <a:p>
            <a:pPr indent="0" marL="0">
              <a:buNone/>
            </a:pPr>
            <a:r>
              <a:rPr lang="en-US" sz="1300" b="1" dirty="0">
                <a:solidFill>
                  <a:srgbClr val="D9B66F"/>
                </a:solidFill>
                <a:latin typeface="Malgun Gothic" pitchFamily="34" charset="0"/>
                <a:ea typeface="Malgun Gothic" pitchFamily="34" charset="-122"/>
                <a:cs typeface="Malgun Gothic" pitchFamily="34" charset="-120"/>
              </a:rPr>
              <a:t>결산업무</a:t>
            </a:r>
            <a:endParaRPr lang="en-US" sz="1300" dirty="0"/>
          </a:p>
        </p:txBody>
      </p:sp>
      <p:sp>
        <p:nvSpPr>
          <p:cNvPr id="42" name="Text 38"/>
          <p:cNvSpPr txBox="1"/>
          <p:nvPr/>
        </p:nvSpPr>
        <p:spPr>
          <a:xfrm>
            <a:off x="8275320" y="4617720"/>
            <a:ext cx="3200400" cy="457200"/>
          </a:xfrm>
          <a:prstGeom prst="rect">
            <a:avLst/>
          </a:prstGeom>
          <a:noFill/>
          <a:ln/>
        </p:spPr>
        <p:txBody>
          <a:bodyPr wrap="square" lIns="0" tIns="0" rIns="0" bIns="0" rtlCol="0" anchor="t"/>
          <a:lstStyle/>
          <a:p>
            <a:pPr indent="0" marL="0">
              <a:buNone/>
            </a:pPr>
            <a:r>
              <a:rPr lang="en-US" sz="2000" b="1" dirty="0">
                <a:solidFill>
                  <a:srgbClr val="F5F2EA"/>
                </a:solidFill>
                <a:latin typeface="Malgun Gothic" pitchFamily="34" charset="0"/>
                <a:ea typeface="Malgun Gothic" pitchFamily="34" charset="-122"/>
                <a:cs typeface="Malgun Gothic" pitchFamily="34" charset="-120"/>
              </a:rPr>
              <a:t>17개 법인 결산</a:t>
            </a:r>
            <a:endParaRPr lang="en-US" sz="2000" dirty="0"/>
          </a:p>
        </p:txBody>
      </p:sp>
      <p:sp>
        <p:nvSpPr>
          <p:cNvPr id="43" name="Text 39"/>
          <p:cNvSpPr txBox="1"/>
          <p:nvPr/>
        </p:nvSpPr>
        <p:spPr>
          <a:xfrm>
            <a:off x="8275320" y="5166360"/>
            <a:ext cx="3200400" cy="91440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자체 장부 운영 17개 법인의 2026년 귀속 결산 진행</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32</a:t>
            </a:fld>
            <a:endParaRPr lang="en-US"/>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Ⅱ</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4분기 중점업무 ② 시스템 · 관리</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ERP 구축 · 관계법인 관리 · 광고수익</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Shape 4"/>
          <p:cNvSpPr/>
          <p:nvPr/>
        </p:nvSpPr>
        <p:spPr>
          <a:xfrm>
            <a:off x="1931670" y="1673352"/>
            <a:ext cx="8298180" cy="45720"/>
          </a:xfrm>
          <a:prstGeom prst="rect">
            <a:avLst/>
          </a:prstGeom>
          <a:solidFill>
            <a:srgbClr val="D9B66F"/>
          </a:solidFill>
          <a:ln w="12700">
            <a:solidFill>
              <a:srgbClr val="D9B66F"/>
            </a:solidFill>
            <a:prstDash val="solid"/>
          </a:ln>
        </p:spPr>
        <p:txBody>
          <a:bodyPr/>
          <a:p/>
        </p:txBody>
      </p:sp>
      <p:sp>
        <p:nvSpPr>
          <p:cNvPr id="9" name="Shape 5"/>
          <p:cNvSpPr/>
          <p:nvPr/>
        </p:nvSpPr>
        <p:spPr>
          <a:xfrm>
            <a:off x="1602486" y="1371600"/>
            <a:ext cx="658368" cy="658368"/>
          </a:xfrm>
          <a:prstGeom prst="ellipse">
            <a:avLst/>
          </a:prstGeom>
          <a:solidFill>
            <a:srgbClr val="D9B66F"/>
          </a:solidFill>
          <a:ln w="38100">
            <a:solidFill>
              <a:srgbClr val="0B1426"/>
            </a:solidFill>
            <a:prstDash val="solid"/>
          </a:ln>
          <a:effectLst>
            <a:outerShdw sx="100000" sy="100000" kx="0" ky="0" algn="bl" rotWithShape="0" blurRad="177800" dist="50800" dir="5400000">
              <a:srgbClr val="D9B66F">
                <a:alpha val="50000"/>
              </a:srgbClr>
            </a:outerShdw>
          </a:effectLst>
        </p:spPr>
        <p:txBody>
          <a:bodyPr/>
          <a:p/>
        </p:txBody>
      </p:sp>
      <p:sp>
        <p:nvSpPr>
          <p:cNvPr id="10" name="Text 6"/>
          <p:cNvSpPr txBox="1"/>
          <p:nvPr/>
        </p:nvSpPr>
        <p:spPr>
          <a:xfrm>
            <a:off x="1602486" y="1371600"/>
            <a:ext cx="658368" cy="658368"/>
          </a:xfrm>
          <a:prstGeom prst="rect">
            <a:avLst/>
          </a:prstGeom>
          <a:noFill/>
          <a:ln/>
        </p:spPr>
        <p:txBody>
          <a:bodyPr wrap="square" lIns="0" tIns="0" rIns="0" bIns="0" rtlCol="0" anchor="ctr"/>
          <a:lstStyle/>
          <a:p>
            <a:pPr algn="ctr" indent="0" marL="0">
              <a:buNone/>
            </a:pPr>
            <a:r>
              <a:rPr lang="en-US" sz="1400" b="1" dirty="0">
                <a:solidFill>
                  <a:srgbClr val="1A1305"/>
                </a:solidFill>
                <a:latin typeface="Malgun Gothic" pitchFamily="34" charset="0"/>
                <a:ea typeface="Malgun Gothic" pitchFamily="34" charset="-122"/>
                <a:cs typeface="Malgun Gothic" pitchFamily="34" charset="-120"/>
              </a:rPr>
              <a:t>10.29</a:t>
            </a:r>
            <a:endParaRPr lang="en-US" sz="1400" dirty="0"/>
          </a:p>
        </p:txBody>
      </p:sp>
      <p:sp>
        <p:nvSpPr>
          <p:cNvPr id="11" name="Text 7"/>
          <p:cNvSpPr txBox="1"/>
          <p:nvPr/>
        </p:nvSpPr>
        <p:spPr>
          <a:xfrm>
            <a:off x="640080" y="214884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선농종합식품</a:t>
            </a:r>
            <a:endParaRPr lang="en-US" sz="1700" dirty="0"/>
          </a:p>
        </p:txBody>
      </p:sp>
      <p:sp>
        <p:nvSpPr>
          <p:cNvPr id="12" name="Text 8"/>
          <p:cNvSpPr txBox="1"/>
          <p:nvPr/>
        </p:nvSpPr>
        <p:spPr>
          <a:xfrm>
            <a:off x="640080" y="256032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재고실사 예정</a:t>
            </a:r>
            <a:endParaRPr lang="en-US" sz="1600" dirty="0"/>
          </a:p>
        </p:txBody>
      </p:sp>
      <p:sp>
        <p:nvSpPr>
          <p:cNvPr id="13" name="Shape 9"/>
          <p:cNvSpPr/>
          <p:nvPr/>
        </p:nvSpPr>
        <p:spPr>
          <a:xfrm>
            <a:off x="4368546" y="1371600"/>
            <a:ext cx="658368" cy="658368"/>
          </a:xfrm>
          <a:prstGeom prst="ellipse">
            <a:avLst/>
          </a:prstGeom>
          <a:solidFill>
            <a:srgbClr val="D9B66F"/>
          </a:solidFill>
          <a:ln w="38100">
            <a:solidFill>
              <a:srgbClr val="0B1426"/>
            </a:solidFill>
            <a:prstDash val="solid"/>
          </a:ln>
          <a:effectLst>
            <a:outerShdw sx="100000" sy="100000" kx="0" ky="0" algn="bl" rotWithShape="0" blurRad="177800" dist="50800" dir="5400000">
              <a:srgbClr val="D9B66F">
                <a:alpha val="50000"/>
              </a:srgbClr>
            </a:outerShdw>
          </a:effectLst>
        </p:spPr>
        <p:txBody>
          <a:bodyPr/>
          <a:p/>
        </p:txBody>
      </p:sp>
      <p:sp>
        <p:nvSpPr>
          <p:cNvPr id="14" name="Text 10"/>
          <p:cNvSpPr txBox="1"/>
          <p:nvPr/>
        </p:nvSpPr>
        <p:spPr>
          <a:xfrm>
            <a:off x="4368546" y="1371600"/>
            <a:ext cx="658368" cy="658368"/>
          </a:xfrm>
          <a:prstGeom prst="rect">
            <a:avLst/>
          </a:prstGeom>
          <a:noFill/>
          <a:ln/>
        </p:spPr>
        <p:txBody>
          <a:bodyPr wrap="square" lIns="0" tIns="0" rIns="0" bIns="0" rtlCol="0" anchor="ctr"/>
          <a:lstStyle/>
          <a:p>
            <a:pPr algn="ctr" indent="0" marL="0">
              <a:buNone/>
            </a:pPr>
            <a:r>
              <a:rPr lang="en-US" sz="1400" b="1" dirty="0">
                <a:solidFill>
                  <a:srgbClr val="1A1305"/>
                </a:solidFill>
                <a:latin typeface="Malgun Gothic" pitchFamily="34" charset="0"/>
                <a:ea typeface="Malgun Gothic" pitchFamily="34" charset="-122"/>
                <a:cs typeface="Malgun Gothic" pitchFamily="34" charset="-120"/>
              </a:rPr>
              <a:t>11.9</a:t>
            </a:r>
            <a:endParaRPr lang="en-US" sz="1400" dirty="0"/>
          </a:p>
        </p:txBody>
      </p:sp>
      <p:sp>
        <p:nvSpPr>
          <p:cNvPr id="15" name="Text 11"/>
          <p:cNvSpPr txBox="1"/>
          <p:nvPr/>
        </p:nvSpPr>
        <p:spPr>
          <a:xfrm>
            <a:off x="3406140" y="214884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옴니이솔</a:t>
            </a:r>
            <a:endParaRPr lang="en-US" sz="1700" dirty="0"/>
          </a:p>
        </p:txBody>
      </p:sp>
      <p:sp>
        <p:nvSpPr>
          <p:cNvPr id="16" name="Text 12"/>
          <p:cNvSpPr txBox="1"/>
          <p:nvPr/>
        </p:nvSpPr>
        <p:spPr>
          <a:xfrm>
            <a:off x="3406140" y="256032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일부 오픈 사용</a:t>
            </a:r>
            <a:endParaRPr lang="en-US" sz="1600" dirty="0"/>
          </a:p>
        </p:txBody>
      </p:sp>
      <p:sp>
        <p:nvSpPr>
          <p:cNvPr id="17" name="Shape 13"/>
          <p:cNvSpPr/>
          <p:nvPr/>
        </p:nvSpPr>
        <p:spPr>
          <a:xfrm>
            <a:off x="7134606" y="1371600"/>
            <a:ext cx="658368" cy="658368"/>
          </a:xfrm>
          <a:prstGeom prst="ellipse">
            <a:avLst/>
          </a:prstGeom>
          <a:solidFill>
            <a:srgbClr val="D9B66F"/>
          </a:solidFill>
          <a:ln w="38100">
            <a:solidFill>
              <a:srgbClr val="0B1426"/>
            </a:solidFill>
            <a:prstDash val="solid"/>
          </a:ln>
          <a:effectLst>
            <a:outerShdw sx="100000" sy="100000" kx="0" ky="0" algn="bl" rotWithShape="0" blurRad="177800" dist="50800" dir="5400000">
              <a:srgbClr val="D9B66F">
                <a:alpha val="50000"/>
              </a:srgbClr>
            </a:outerShdw>
          </a:effectLst>
        </p:spPr>
        <p:txBody>
          <a:bodyPr/>
          <a:p/>
        </p:txBody>
      </p:sp>
      <p:sp>
        <p:nvSpPr>
          <p:cNvPr id="18" name="Text 14"/>
          <p:cNvSpPr txBox="1"/>
          <p:nvPr/>
        </p:nvSpPr>
        <p:spPr>
          <a:xfrm>
            <a:off x="7134606" y="1371600"/>
            <a:ext cx="658368" cy="658368"/>
          </a:xfrm>
          <a:prstGeom prst="rect">
            <a:avLst/>
          </a:prstGeom>
          <a:noFill/>
          <a:ln/>
        </p:spPr>
        <p:txBody>
          <a:bodyPr wrap="square" lIns="0" tIns="0" rIns="0" bIns="0" rtlCol="0" anchor="ctr"/>
          <a:lstStyle/>
          <a:p>
            <a:pPr algn="ctr" indent="0" marL="0">
              <a:buNone/>
            </a:pPr>
            <a:r>
              <a:rPr lang="en-US" sz="1400" b="1" dirty="0">
                <a:solidFill>
                  <a:srgbClr val="1A1305"/>
                </a:solidFill>
                <a:latin typeface="Malgun Gothic" pitchFamily="34" charset="0"/>
                <a:ea typeface="Malgun Gothic" pitchFamily="34" charset="-122"/>
                <a:cs typeface="Malgun Gothic" pitchFamily="34" charset="-120"/>
              </a:rPr>
              <a:t>12월</a:t>
            </a:r>
            <a:endParaRPr lang="en-US" sz="1400" dirty="0"/>
          </a:p>
        </p:txBody>
      </p:sp>
      <p:sp>
        <p:nvSpPr>
          <p:cNvPr id="19" name="Text 15"/>
          <p:cNvSpPr txBox="1"/>
          <p:nvPr/>
        </p:nvSpPr>
        <p:spPr>
          <a:xfrm>
            <a:off x="6172200" y="214884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연말</a:t>
            </a:r>
            <a:endParaRPr lang="en-US" sz="1700" dirty="0"/>
          </a:p>
        </p:txBody>
      </p:sp>
      <p:sp>
        <p:nvSpPr>
          <p:cNvPr id="20" name="Text 16"/>
          <p:cNvSpPr txBox="1"/>
          <p:nvPr/>
        </p:nvSpPr>
        <p:spPr>
          <a:xfrm>
            <a:off x="6172200" y="256032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결산 · 폐기재고 반영</a:t>
            </a:r>
            <a:endParaRPr lang="en-US" sz="1600" dirty="0"/>
          </a:p>
        </p:txBody>
      </p:sp>
      <p:sp>
        <p:nvSpPr>
          <p:cNvPr id="21" name="Shape 17"/>
          <p:cNvSpPr/>
          <p:nvPr/>
        </p:nvSpPr>
        <p:spPr>
          <a:xfrm>
            <a:off x="9900666" y="1371600"/>
            <a:ext cx="658368" cy="658368"/>
          </a:xfrm>
          <a:prstGeom prst="ellipse">
            <a:avLst/>
          </a:prstGeom>
          <a:solidFill>
            <a:srgbClr val="F0B93A"/>
          </a:solidFill>
          <a:ln w="38100">
            <a:solidFill>
              <a:srgbClr val="0B1426"/>
            </a:solidFill>
            <a:prstDash val="solid"/>
          </a:ln>
          <a:effectLst>
            <a:outerShdw sx="100000" sy="100000" kx="0" ky="0" algn="bl" rotWithShape="0" blurRad="177800" dist="50800" dir="5400000">
              <a:srgbClr val="F0B93A">
                <a:alpha val="50000"/>
              </a:srgbClr>
            </a:outerShdw>
          </a:effectLst>
        </p:spPr>
        <p:txBody>
          <a:bodyPr/>
          <a:p/>
        </p:txBody>
      </p:sp>
      <p:sp>
        <p:nvSpPr>
          <p:cNvPr id="22" name="Text 18"/>
          <p:cNvSpPr txBox="1"/>
          <p:nvPr/>
        </p:nvSpPr>
        <p:spPr>
          <a:xfrm>
            <a:off x="9900666" y="1371600"/>
            <a:ext cx="658368" cy="658368"/>
          </a:xfrm>
          <a:prstGeom prst="rect">
            <a:avLst/>
          </a:prstGeom>
          <a:noFill/>
          <a:ln/>
        </p:spPr>
        <p:txBody>
          <a:bodyPr wrap="square" lIns="0" tIns="0" rIns="0" bIns="0" rtlCol="0" anchor="ctr"/>
          <a:lstStyle/>
          <a:p>
            <a:pPr algn="ctr" indent="0" marL="0">
              <a:buNone/>
            </a:pPr>
            <a:r>
              <a:rPr lang="en-US" sz="1400" b="1" dirty="0">
                <a:solidFill>
                  <a:srgbClr val="1A1305"/>
                </a:solidFill>
                <a:latin typeface="Malgun Gothic" pitchFamily="34" charset="0"/>
                <a:ea typeface="Malgun Gothic" pitchFamily="34" charset="-122"/>
                <a:cs typeface="Malgun Gothic" pitchFamily="34" charset="-120"/>
              </a:rPr>
              <a:t>2027</a:t>
            </a:r>
            <a:endParaRPr lang="en-US" sz="1400" dirty="0"/>
          </a:p>
        </p:txBody>
      </p:sp>
      <p:sp>
        <p:nvSpPr>
          <p:cNvPr id="23" name="Text 19"/>
          <p:cNvSpPr txBox="1"/>
          <p:nvPr/>
        </p:nvSpPr>
        <p:spPr>
          <a:xfrm>
            <a:off x="8938260" y="2148840"/>
            <a:ext cx="2583180" cy="365760"/>
          </a:xfrm>
          <a:prstGeom prst="rect">
            <a:avLst/>
          </a:prstGeom>
          <a:noFill/>
          <a:ln/>
        </p:spPr>
        <p:txBody>
          <a:bodyPr wrap="square" lIns="0" tIns="0" rIns="0" bIns="0" rtlCol="0" anchor="t"/>
          <a:lstStyle/>
          <a:p>
            <a:pPr algn="ctr" indent="0" marL="0">
              <a:buNone/>
            </a:pPr>
            <a:r>
              <a:rPr lang="en-US" sz="1700" b="1" dirty="0">
                <a:solidFill>
                  <a:srgbClr val="F3DCA4"/>
                </a:solidFill>
                <a:latin typeface="Malgun Gothic" pitchFamily="34" charset="0"/>
                <a:ea typeface="Malgun Gothic" pitchFamily="34" charset="-122"/>
                <a:cs typeface="Malgun Gothic" pitchFamily="34" charset="-120"/>
              </a:rPr>
              <a:t>AI ERP</a:t>
            </a:r>
            <a:endParaRPr lang="en-US" sz="1700" dirty="0"/>
          </a:p>
        </p:txBody>
      </p:sp>
      <p:sp>
        <p:nvSpPr>
          <p:cNvPr id="24" name="Text 20"/>
          <p:cNvSpPr txBox="1"/>
          <p:nvPr/>
        </p:nvSpPr>
        <p:spPr>
          <a:xfrm>
            <a:off x="8938260" y="2560320"/>
            <a:ext cx="2583180" cy="640080"/>
          </a:xfrm>
          <a:prstGeom prst="rect">
            <a:avLst/>
          </a:prstGeom>
          <a:noFill/>
          <a:ln/>
        </p:spPr>
        <p:txBody>
          <a:bodyPr wrap="square" lIns="0" tIns="0" rIns="0" bIns="0" rtlCol="0" anchor="t"/>
          <a:lstStyle/>
          <a:p>
            <a:pPr algn="ctr" indent="0" marL="0">
              <a:buNone/>
            </a:pPr>
            <a:r>
              <a:rPr lang="en-US" sz="1600" dirty="0">
                <a:solidFill>
                  <a:srgbClr val="F5F2EA"/>
                </a:solidFill>
                <a:latin typeface="Malgun Gothic" pitchFamily="34" charset="0"/>
                <a:ea typeface="Malgun Gothic" pitchFamily="34" charset="-122"/>
                <a:cs typeface="Malgun Gothic" pitchFamily="34" charset="-120"/>
              </a:rPr>
              <a:t>옴니이솔 본격 도입</a:t>
            </a:r>
            <a:endParaRPr lang="en-US" sz="1600" dirty="0"/>
          </a:p>
        </p:txBody>
      </p:sp>
      <p:sp>
        <p:nvSpPr>
          <p:cNvPr id="25" name="card"/>
          <p:cNvSpPr/>
          <p:nvPr/>
        </p:nvSpPr>
        <p:spPr>
          <a:xfrm>
            <a:off x="548640" y="3611880"/>
            <a:ext cx="6400800" cy="1417320"/>
          </a:xfrm>
          <a:prstGeom prst="roundRect">
            <a:avLst>
              <a:gd name="adj" fmla="val 7742"/>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26" name="Text 22"/>
          <p:cNvSpPr txBox="1"/>
          <p:nvPr/>
        </p:nvSpPr>
        <p:spPr>
          <a:xfrm>
            <a:off x="777240" y="3685032"/>
            <a:ext cx="594360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ERP 구축 · AI 기반 “옴니이솔”</a:t>
            </a:r>
            <a:endParaRPr lang="en-US" sz="1400" dirty="0"/>
          </a:p>
        </p:txBody>
      </p:sp>
      <p:sp>
        <p:nvSpPr>
          <p:cNvPr id="27" name="Shape 23"/>
          <p:cNvSpPr/>
          <p:nvPr/>
        </p:nvSpPr>
        <p:spPr>
          <a:xfrm>
            <a:off x="777240" y="4041648"/>
            <a:ext cx="1417320" cy="320040"/>
          </a:xfrm>
          <a:prstGeom prst="roundRect">
            <a:avLst>
              <a:gd name="adj" fmla="val 48571"/>
            </a:avLst>
          </a:prstGeom>
          <a:solidFill>
            <a:srgbClr val="D9B66F">
              <a:alpha val="22000"/>
            </a:srgbClr>
          </a:solidFill>
          <a:ln w="9525">
            <a:solidFill>
              <a:srgbClr val="D9B66F"/>
            </a:solidFill>
            <a:prstDash val="solid"/>
          </a:ln>
        </p:spPr>
        <p:txBody>
          <a:bodyPr/>
          <a:p/>
        </p:txBody>
      </p:sp>
      <p:sp>
        <p:nvSpPr>
          <p:cNvPr id="28" name="Text 24"/>
          <p:cNvSpPr txBox="1"/>
          <p:nvPr/>
        </p:nvSpPr>
        <p:spPr>
          <a:xfrm>
            <a:off x="777240" y="4041648"/>
            <a:ext cx="1417320" cy="320040"/>
          </a:xfrm>
          <a:prstGeom prst="rect">
            <a:avLst/>
          </a:prstGeom>
          <a:noFill/>
          <a:ln/>
        </p:spPr>
        <p:txBody>
          <a:bodyPr wrap="square" lIns="0" tIns="0" rIns="0" bIns="0" rtlCol="0" anchor="ctr"/>
          <a:lstStyle/>
          <a:p>
            <a:pPr algn="ctr" indent="0" marL="0">
              <a:buNone/>
            </a:pPr>
            <a:r>
              <a:rPr lang="en-US" sz="1200" b="1" dirty="0">
                <a:solidFill>
                  <a:srgbClr val="F3DCA4"/>
                </a:solidFill>
                <a:latin typeface="Malgun Gothic" pitchFamily="34" charset="0"/>
                <a:ea typeface="Malgun Gothic" pitchFamily="34" charset="-122"/>
                <a:cs typeface="Malgun Gothic" pitchFamily="34" charset="-120"/>
              </a:rPr>
              <a:t>인사</a:t>
            </a:r>
            <a:endParaRPr lang="en-US" sz="1200" dirty="0"/>
          </a:p>
        </p:txBody>
      </p:sp>
      <p:sp>
        <p:nvSpPr>
          <p:cNvPr id="29" name="Shape 25"/>
          <p:cNvSpPr/>
          <p:nvPr/>
        </p:nvSpPr>
        <p:spPr>
          <a:xfrm>
            <a:off x="2286000" y="4041648"/>
            <a:ext cx="1417320" cy="320040"/>
          </a:xfrm>
          <a:prstGeom prst="roundRect">
            <a:avLst>
              <a:gd name="adj" fmla="val 48571"/>
            </a:avLst>
          </a:prstGeom>
          <a:solidFill>
            <a:srgbClr val="D9B66F">
              <a:alpha val="22000"/>
            </a:srgbClr>
          </a:solidFill>
          <a:ln w="9525">
            <a:solidFill>
              <a:srgbClr val="D9B66F"/>
            </a:solidFill>
            <a:prstDash val="solid"/>
          </a:ln>
        </p:spPr>
        <p:txBody>
          <a:bodyPr/>
          <a:p/>
        </p:txBody>
      </p:sp>
      <p:sp>
        <p:nvSpPr>
          <p:cNvPr id="30" name="Text 26"/>
          <p:cNvSpPr txBox="1"/>
          <p:nvPr/>
        </p:nvSpPr>
        <p:spPr>
          <a:xfrm>
            <a:off x="2286000" y="4041648"/>
            <a:ext cx="1417320" cy="320040"/>
          </a:xfrm>
          <a:prstGeom prst="rect">
            <a:avLst/>
          </a:prstGeom>
          <a:noFill/>
          <a:ln/>
        </p:spPr>
        <p:txBody>
          <a:bodyPr wrap="square" lIns="0" tIns="0" rIns="0" bIns="0" rtlCol="0" anchor="ctr"/>
          <a:lstStyle/>
          <a:p>
            <a:pPr algn="ctr" indent="0" marL="0">
              <a:buNone/>
            </a:pPr>
            <a:r>
              <a:rPr lang="en-US" sz="1200" b="1" dirty="0">
                <a:solidFill>
                  <a:srgbClr val="F3DCA4"/>
                </a:solidFill>
                <a:latin typeface="Malgun Gothic" pitchFamily="34" charset="0"/>
                <a:ea typeface="Malgun Gothic" pitchFamily="34" charset="-122"/>
                <a:cs typeface="Malgun Gothic" pitchFamily="34" charset="-120"/>
              </a:rPr>
              <a:t>회계</a:t>
            </a:r>
            <a:endParaRPr lang="en-US" sz="1200" dirty="0"/>
          </a:p>
        </p:txBody>
      </p:sp>
      <p:sp>
        <p:nvSpPr>
          <p:cNvPr id="31" name="Shape 27"/>
          <p:cNvSpPr/>
          <p:nvPr/>
        </p:nvSpPr>
        <p:spPr>
          <a:xfrm>
            <a:off x="3794760" y="4041648"/>
            <a:ext cx="1417320" cy="320040"/>
          </a:xfrm>
          <a:prstGeom prst="roundRect">
            <a:avLst>
              <a:gd name="adj" fmla="val 48571"/>
            </a:avLst>
          </a:prstGeom>
          <a:solidFill>
            <a:srgbClr val="D9B66F">
              <a:alpha val="22000"/>
            </a:srgbClr>
          </a:solidFill>
          <a:ln w="9525">
            <a:solidFill>
              <a:srgbClr val="D9B66F"/>
            </a:solidFill>
            <a:prstDash val="solid"/>
          </a:ln>
        </p:spPr>
        <p:txBody>
          <a:bodyPr/>
          <a:p/>
        </p:txBody>
      </p:sp>
      <p:sp>
        <p:nvSpPr>
          <p:cNvPr id="32" name="Text 28"/>
          <p:cNvSpPr txBox="1"/>
          <p:nvPr/>
        </p:nvSpPr>
        <p:spPr>
          <a:xfrm>
            <a:off x="3794760" y="4041648"/>
            <a:ext cx="1417320" cy="320040"/>
          </a:xfrm>
          <a:prstGeom prst="rect">
            <a:avLst/>
          </a:prstGeom>
          <a:noFill/>
          <a:ln/>
        </p:spPr>
        <p:txBody>
          <a:bodyPr wrap="square" lIns="0" tIns="0" rIns="0" bIns="0" rtlCol="0" anchor="ctr"/>
          <a:lstStyle/>
          <a:p>
            <a:pPr algn="ctr" indent="0" marL="0">
              <a:buNone/>
            </a:pPr>
            <a:r>
              <a:rPr lang="en-US" sz="1200" b="1" dirty="0">
                <a:solidFill>
                  <a:srgbClr val="F3DCA4"/>
                </a:solidFill>
                <a:latin typeface="Malgun Gothic" pitchFamily="34" charset="0"/>
                <a:ea typeface="Malgun Gothic" pitchFamily="34" charset="-122"/>
                <a:cs typeface="Malgun Gothic" pitchFamily="34" charset="-120"/>
              </a:rPr>
              <a:t>그룹웨어</a:t>
            </a:r>
            <a:endParaRPr lang="en-US" sz="1200" dirty="0"/>
          </a:p>
        </p:txBody>
      </p:sp>
      <p:sp>
        <p:nvSpPr>
          <p:cNvPr id="33" name="Shape 29"/>
          <p:cNvSpPr/>
          <p:nvPr/>
        </p:nvSpPr>
        <p:spPr>
          <a:xfrm>
            <a:off x="5303520" y="4041648"/>
            <a:ext cx="1417320" cy="320040"/>
          </a:xfrm>
          <a:prstGeom prst="roundRect">
            <a:avLst>
              <a:gd name="adj" fmla="val 48571"/>
            </a:avLst>
          </a:prstGeom>
          <a:solidFill>
            <a:srgbClr val="D9B66F">
              <a:alpha val="22000"/>
            </a:srgbClr>
          </a:solidFill>
          <a:ln w="9525">
            <a:solidFill>
              <a:srgbClr val="D9B66F"/>
            </a:solidFill>
            <a:prstDash val="solid"/>
          </a:ln>
        </p:spPr>
        <p:txBody>
          <a:bodyPr/>
          <a:p/>
        </p:txBody>
      </p:sp>
      <p:sp>
        <p:nvSpPr>
          <p:cNvPr id="34" name="Text 30"/>
          <p:cNvSpPr txBox="1"/>
          <p:nvPr/>
        </p:nvSpPr>
        <p:spPr>
          <a:xfrm>
            <a:off x="5303520" y="4041648"/>
            <a:ext cx="1417320" cy="320040"/>
          </a:xfrm>
          <a:prstGeom prst="rect">
            <a:avLst/>
          </a:prstGeom>
          <a:noFill/>
          <a:ln/>
        </p:spPr>
        <p:txBody>
          <a:bodyPr wrap="square" lIns="0" tIns="0" rIns="0" bIns="0" rtlCol="0" anchor="ctr"/>
          <a:lstStyle/>
          <a:p>
            <a:pPr algn="ctr" indent="0" marL="0">
              <a:buNone/>
            </a:pPr>
            <a:r>
              <a:rPr lang="en-US" sz="1200" b="1" dirty="0">
                <a:solidFill>
                  <a:srgbClr val="F3DCA4"/>
                </a:solidFill>
                <a:latin typeface="Malgun Gothic" pitchFamily="34" charset="0"/>
                <a:ea typeface="Malgun Gothic" pitchFamily="34" charset="-122"/>
                <a:cs typeface="Malgun Gothic" pitchFamily="34" charset="-120"/>
              </a:rPr>
              <a:t>메신저</a:t>
            </a:r>
            <a:endParaRPr lang="en-US" sz="1200" dirty="0"/>
          </a:p>
        </p:txBody>
      </p:sp>
      <p:sp>
        <p:nvSpPr>
          <p:cNvPr id="35" name="Shape 31"/>
          <p:cNvSpPr/>
          <p:nvPr/>
        </p:nvSpPr>
        <p:spPr>
          <a:xfrm>
            <a:off x="777240" y="4407408"/>
            <a:ext cx="1417320" cy="320040"/>
          </a:xfrm>
          <a:prstGeom prst="roundRect">
            <a:avLst>
              <a:gd name="adj" fmla="val 48571"/>
            </a:avLst>
          </a:prstGeom>
          <a:solidFill>
            <a:srgbClr val="D9B66F">
              <a:alpha val="22000"/>
            </a:srgbClr>
          </a:solidFill>
          <a:ln w="9525">
            <a:solidFill>
              <a:srgbClr val="D9B66F"/>
            </a:solidFill>
            <a:prstDash val="solid"/>
          </a:ln>
        </p:spPr>
        <p:txBody>
          <a:bodyPr/>
          <a:p/>
        </p:txBody>
      </p:sp>
      <p:sp>
        <p:nvSpPr>
          <p:cNvPr id="36" name="Text 32"/>
          <p:cNvSpPr txBox="1"/>
          <p:nvPr/>
        </p:nvSpPr>
        <p:spPr>
          <a:xfrm>
            <a:off x="777240" y="4407408"/>
            <a:ext cx="1417320" cy="320040"/>
          </a:xfrm>
          <a:prstGeom prst="rect">
            <a:avLst/>
          </a:prstGeom>
          <a:noFill/>
          <a:ln/>
        </p:spPr>
        <p:txBody>
          <a:bodyPr wrap="square" lIns="0" tIns="0" rIns="0" bIns="0" rtlCol="0" anchor="ctr"/>
          <a:lstStyle/>
          <a:p>
            <a:pPr algn="ctr" indent="0" marL="0">
              <a:buNone/>
            </a:pPr>
            <a:r>
              <a:rPr lang="en-US" sz="1200" b="1" dirty="0">
                <a:solidFill>
                  <a:srgbClr val="F3DCA4"/>
                </a:solidFill>
                <a:latin typeface="Malgun Gothic" pitchFamily="34" charset="0"/>
                <a:ea typeface="Malgun Gothic" pitchFamily="34" charset="-122"/>
                <a:cs typeface="Malgun Gothic" pitchFamily="34" charset="-120"/>
              </a:rPr>
              <a:t>전자결재</a:t>
            </a:r>
            <a:endParaRPr lang="en-US" sz="1200" dirty="0"/>
          </a:p>
        </p:txBody>
      </p:sp>
      <p:sp>
        <p:nvSpPr>
          <p:cNvPr id="37" name="Shape 33"/>
          <p:cNvSpPr/>
          <p:nvPr/>
        </p:nvSpPr>
        <p:spPr>
          <a:xfrm>
            <a:off x="2286000" y="4407408"/>
            <a:ext cx="1417320" cy="320040"/>
          </a:xfrm>
          <a:prstGeom prst="roundRect">
            <a:avLst>
              <a:gd name="adj" fmla="val 48571"/>
            </a:avLst>
          </a:prstGeom>
          <a:solidFill>
            <a:srgbClr val="D9B66F">
              <a:alpha val="22000"/>
            </a:srgbClr>
          </a:solidFill>
          <a:ln w="9525">
            <a:solidFill>
              <a:srgbClr val="D9B66F"/>
            </a:solidFill>
            <a:prstDash val="solid"/>
          </a:ln>
        </p:spPr>
        <p:txBody>
          <a:bodyPr/>
          <a:p/>
        </p:txBody>
      </p:sp>
      <p:sp>
        <p:nvSpPr>
          <p:cNvPr id="38" name="Text 34"/>
          <p:cNvSpPr txBox="1"/>
          <p:nvPr/>
        </p:nvSpPr>
        <p:spPr>
          <a:xfrm>
            <a:off x="2286000" y="4407408"/>
            <a:ext cx="1417320" cy="320040"/>
          </a:xfrm>
          <a:prstGeom prst="rect">
            <a:avLst/>
          </a:prstGeom>
          <a:noFill/>
          <a:ln/>
        </p:spPr>
        <p:txBody>
          <a:bodyPr wrap="square" lIns="0" tIns="0" rIns="0" bIns="0" rtlCol="0" anchor="ctr"/>
          <a:lstStyle/>
          <a:p>
            <a:pPr algn="ctr" indent="0" marL="0">
              <a:buNone/>
            </a:pPr>
            <a:r>
              <a:rPr lang="en-US" sz="1200" b="1" dirty="0">
                <a:solidFill>
                  <a:srgbClr val="F3DCA4"/>
                </a:solidFill>
                <a:latin typeface="Malgun Gothic" pitchFamily="34" charset="0"/>
                <a:ea typeface="Malgun Gothic" pitchFamily="34" charset="-122"/>
                <a:cs typeface="Malgun Gothic" pitchFamily="34" charset="-120"/>
              </a:rPr>
              <a:t>1인 1 GPT</a:t>
            </a:r>
            <a:endParaRPr lang="en-US" sz="1200" dirty="0"/>
          </a:p>
        </p:txBody>
      </p:sp>
      <p:sp>
        <p:nvSpPr>
          <p:cNvPr id="39" name="Shape 35"/>
          <p:cNvSpPr/>
          <p:nvPr/>
        </p:nvSpPr>
        <p:spPr>
          <a:xfrm>
            <a:off x="3794760" y="4407408"/>
            <a:ext cx="1417320" cy="320040"/>
          </a:xfrm>
          <a:prstGeom prst="roundRect">
            <a:avLst>
              <a:gd name="adj" fmla="val 48571"/>
            </a:avLst>
          </a:prstGeom>
          <a:solidFill>
            <a:srgbClr val="D9B66F">
              <a:alpha val="22000"/>
            </a:srgbClr>
          </a:solidFill>
          <a:ln w="9525">
            <a:solidFill>
              <a:srgbClr val="D9B66F"/>
            </a:solidFill>
            <a:prstDash val="solid"/>
          </a:ln>
        </p:spPr>
        <p:txBody>
          <a:bodyPr/>
          <a:p/>
        </p:txBody>
      </p:sp>
      <p:sp>
        <p:nvSpPr>
          <p:cNvPr id="40" name="Text 36"/>
          <p:cNvSpPr txBox="1"/>
          <p:nvPr/>
        </p:nvSpPr>
        <p:spPr>
          <a:xfrm>
            <a:off x="3794760" y="4407408"/>
            <a:ext cx="1417320" cy="320040"/>
          </a:xfrm>
          <a:prstGeom prst="rect">
            <a:avLst/>
          </a:prstGeom>
          <a:noFill/>
          <a:ln/>
        </p:spPr>
        <p:txBody>
          <a:bodyPr wrap="square" lIns="0" tIns="0" rIns="0" bIns="0" rtlCol="0" anchor="ctr"/>
          <a:lstStyle/>
          <a:p>
            <a:pPr algn="ctr" indent="0" marL="0">
              <a:buNone/>
            </a:pPr>
            <a:r>
              <a:t>모바일결재</a:t>
            </a:r>
            <a:endParaRPr lang="en-US" sz="1200" dirty="0"/>
          </a:p>
        </p:txBody>
      </p:sp>
      <p:sp>
        <p:nvSpPr>
          <p:cNvPr id="41" name="Text 37"/>
          <p:cNvSpPr txBox="1"/>
          <p:nvPr/>
        </p:nvSpPr>
        <p:spPr>
          <a:xfrm>
            <a:off x="5486400" y="4434840"/>
            <a:ext cx="1417320" cy="274320"/>
          </a:xfrm>
          <a:prstGeom prst="rect">
            <a:avLst/>
          </a:prstGeom>
          <a:noFill/>
          <a:ln/>
        </p:spPr>
        <p:txBody>
          <a:bodyPr wrap="square" lIns="0" tIns="0" rIns="0" bIns="0" rtlCol="0" anchor="t"/>
          <a:lstStyle/>
          <a:p>
            <a:pPr indent="0" marL="0">
              <a:buNone/>
            </a:pPr>
            <a:r>
              <a:rPr lang="en-US" sz="1100" dirty="0">
                <a:solidFill>
                  <a:srgbClr val="A9B3C9"/>
                </a:solidFill>
                <a:latin typeface="Malgun Gothic" pitchFamily="34" charset="0"/>
                <a:ea typeface="Malgun Gothic" pitchFamily="34" charset="-122"/>
                <a:cs typeface="Malgun Gothic" pitchFamily="34" charset="-120"/>
              </a:rPr>
              <a:t>하나의 플랫폼에서 모두 가능</a:t>
            </a:r>
            <a:endParaRPr lang="en-US" sz="1100" dirty="0"/>
          </a:p>
        </p:txBody>
      </p:sp>
      <p:sp>
        <p:nvSpPr>
          <p:cNvPr id="42" name="card"/>
          <p:cNvSpPr/>
          <p:nvPr/>
        </p:nvSpPr>
        <p:spPr>
          <a:xfrm>
            <a:off x="7132320" y="3611880"/>
            <a:ext cx="4526280" cy="1417320"/>
          </a:xfrm>
          <a:prstGeom prst="roundRect">
            <a:avLst>
              <a:gd name="adj" fmla="val 7742"/>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43" name="Text 39"/>
          <p:cNvSpPr txBox="1"/>
          <p:nvPr/>
        </p:nvSpPr>
        <p:spPr>
          <a:xfrm>
            <a:off x="7360920" y="3685032"/>
            <a:ext cx="4023360" cy="32004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ERP 고도화</a:t>
            </a:r>
            <a:endParaRPr lang="en-US" sz="1400" dirty="0"/>
          </a:p>
        </p:txBody>
      </p:sp>
      <p:sp>
        <p:nvSpPr>
          <p:cNvPr id="44" name="Text 40"/>
          <p:cNvSpPr txBox="1"/>
          <p:nvPr/>
        </p:nvSpPr>
        <p:spPr>
          <a:xfrm>
            <a:off x="7360920" y="4069080"/>
            <a:ext cx="4114800" cy="914400"/>
          </a:xfrm>
          <a:prstGeom prst="rect">
            <a:avLst/>
          </a:prstGeom>
          <a:noFill/>
          <a:ln/>
        </p:spPr>
        <p:txBody>
          <a:bodyPr wrap="square" lIns="0" tIns="0" rIns="0" bIns="0" rtlCol="0" anchor="t"/>
          <a:lstStyle/>
          <a:p>
            <a:pPr indent="0" marL="0">
              <a:buNone/>
            </a:pPr>
            <a:r>
              <a:rPr lang="en-US" sz="1300" dirty="0">
                <a:solidFill>
                  <a:srgbClr val="F5F2EA"/>
                </a:solidFill>
                <a:latin typeface="Malgun Gothic" pitchFamily="34" charset="0"/>
                <a:ea typeface="Malgun Gothic" pitchFamily="34" charset="-122"/>
                <a:cs typeface="Malgun Gothic" pitchFamily="34" charset="-120"/>
              </a:rPr>
              <a:t>원풍약품상사 ERP 2026년 개발 완료 → 물류 정확성 확보</a:t>
            </a:r>
            <a:endParaRPr lang="en-US" sz="1300" dirty="0"/>
          </a:p>
          <a:p>
            <a:pPr indent="0" marL="0">
              <a:buNone/>
            </a:pPr>
            <a:r>
              <a:rPr lang="en-US" sz="1300" dirty="0">
                <a:solidFill>
                  <a:srgbClr val="F5F2EA"/>
                </a:solidFill>
                <a:latin typeface="Malgun Gothic" pitchFamily="34" charset="0"/>
                <a:ea typeface="Malgun Gothic" pitchFamily="34" charset="-122"/>
                <a:cs typeface="Malgun Gothic" pitchFamily="34" charset="-120"/>
              </a:rPr>
              <a:t>하반기 </a:t>
            </a:r>
            <a:pPr indent="0" marL="0">
              <a:buNone/>
            </a:pPr>
            <a:r>
              <a:rPr lang="en-US" sz="1300" b="1" dirty="0">
                <a:solidFill>
                  <a:srgbClr val="F3DCA4"/>
                </a:solidFill>
                <a:latin typeface="Malgun Gothic" pitchFamily="34" charset="0"/>
                <a:ea typeface="Malgun Gothic" pitchFamily="34" charset="-122"/>
                <a:cs typeface="Malgun Gothic" pitchFamily="34" charset="-120"/>
              </a:rPr>
              <a:t>영업관리</a:t>
            </a:r>
            <a:pPr indent="0" marL="0">
              <a:buNone/>
            </a:pPr>
            <a:r>
              <a:rPr lang="en-US" sz="1300" dirty="0">
                <a:solidFill>
                  <a:srgbClr val="F5F2EA"/>
                </a:solidFill>
                <a:latin typeface="Malgun Gothic" pitchFamily="34" charset="0"/>
                <a:ea typeface="Malgun Gothic" pitchFamily="34" charset="-122"/>
                <a:cs typeface="Malgun Gothic" pitchFamily="34" charset="-120"/>
              </a:rPr>
              <a:t> 추가: 채권채무 · 신용 · 거래처 영업관리</a:t>
            </a:r>
            <a:endParaRPr lang="en-US" sz="1300" dirty="0"/>
          </a:p>
        </p:txBody>
      </p:sp>
      <p:sp>
        <p:nvSpPr>
          <p:cNvPr id="45" name="card"/>
          <p:cNvSpPr/>
          <p:nvPr/>
        </p:nvSpPr>
        <p:spPr>
          <a:xfrm>
            <a:off x="548640" y="5212080"/>
            <a:ext cx="5486400" cy="1051560"/>
          </a:xfrm>
          <a:prstGeom prst="roundRect">
            <a:avLst>
              <a:gd name="adj" fmla="val 10435"/>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46" name="Text 42"/>
          <p:cNvSpPr txBox="1"/>
          <p:nvPr/>
        </p:nvSpPr>
        <p:spPr>
          <a:xfrm>
            <a:off x="777240" y="5285232"/>
            <a:ext cx="4572000" cy="27432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관계법인 관리</a:t>
            </a:r>
            <a:endParaRPr lang="en-US" sz="1400" dirty="0"/>
          </a:p>
        </p:txBody>
      </p:sp>
      <p:sp>
        <p:nvSpPr>
          <p:cNvPr id="47" name="Text 43"/>
          <p:cNvSpPr txBox="1"/>
          <p:nvPr/>
        </p:nvSpPr>
        <p:spPr>
          <a:xfrm>
            <a:off x="777240" y="5596128"/>
            <a:ext cx="5120640" cy="640080"/>
          </a:xfrm>
          <a:prstGeom prst="rect">
            <a:avLst/>
          </a:prstGeom>
          <a:noFill/>
          <a:ln/>
        </p:spPr>
        <p:txBody>
          <a:bodyPr wrap="square" lIns="0" tIns="0" rIns="0" bIns="0" rtlCol="0" anchor="t"/>
          <a:lstStyle/>
          <a:p>
            <a:pPr indent="0" marL="0">
              <a:buNone/>
            </a:pPr>
            <a:r>
              <a:rPr lang="en-US" sz="1400" dirty="0">
                <a:solidFill>
                  <a:srgbClr val="F5F2EA"/>
                </a:solidFill>
                <a:latin typeface="Malgun Gothic" pitchFamily="34" charset="0"/>
                <a:ea typeface="Malgun Gothic" pitchFamily="34" charset="-122"/>
                <a:cs typeface="Malgun Gothic" pitchFamily="34" charset="-120"/>
              </a:rPr>
              <a:t>선농종합식품 재고실사 (10.29)</a:t>
            </a:r>
            <a:endParaRPr lang="en-US" sz="1400" dirty="0"/>
          </a:p>
          <a:p>
            <a:pPr indent="0" marL="0">
              <a:buNone/>
            </a:pPr>
            <a:r>
              <a:rPr lang="en-US" sz="1400" dirty="0">
                <a:solidFill>
                  <a:srgbClr val="F5F2EA"/>
                </a:solidFill>
                <a:latin typeface="Malgun Gothic" pitchFamily="34" charset="0"/>
                <a:ea typeface="Malgun Gothic" pitchFamily="34" charset="-122"/>
                <a:cs typeface="Malgun Gothic" pitchFamily="34" charset="-120"/>
              </a:rPr>
              <a:t>성공㈜ · 성공정보통신㈜ 중임 등기</a:t>
            </a:r>
            <a:endParaRPr lang="en-US" sz="1400" dirty="0"/>
          </a:p>
        </p:txBody>
      </p:sp>
      <p:sp>
        <p:nvSpPr>
          <p:cNvPr id="48" name="card"/>
          <p:cNvSpPr/>
          <p:nvPr/>
        </p:nvSpPr>
        <p:spPr>
          <a:xfrm>
            <a:off x="6172200" y="5212080"/>
            <a:ext cx="5486400" cy="1051560"/>
          </a:xfrm>
          <a:prstGeom prst="roundRect">
            <a:avLst>
              <a:gd name="adj" fmla="val 10435"/>
            </a:avLst>
          </a:prstGeom>
          <a:solidFill>
            <a:srgbClr val="16233E"/>
          </a:solidFill>
          <a:ln w="9525">
            <a:solidFill>
              <a:srgbClr val="2C3E63"/>
            </a:solidFill>
            <a:prstDash val="solid"/>
          </a:ln>
          <a:effectLst>
            <a:outerShdw sx="100000" sy="100000" kx="0" ky="0" algn="bl" rotWithShape="0" blurRad="127000" dist="50800" dir="5400000">
              <a:srgbClr val="000000">
                <a:alpha val="35000"/>
              </a:srgbClr>
            </a:outerShdw>
          </a:effectLst>
        </p:spPr>
        <p:txBody>
          <a:bodyPr/>
          <a:p/>
        </p:txBody>
      </p:sp>
      <p:sp>
        <p:nvSpPr>
          <p:cNvPr id="49" name="Text 45"/>
          <p:cNvSpPr txBox="1"/>
          <p:nvPr/>
        </p:nvSpPr>
        <p:spPr>
          <a:xfrm>
            <a:off x="6400800" y="5285232"/>
            <a:ext cx="4572000" cy="274320"/>
          </a:xfrm>
          <a:prstGeom prst="rect">
            <a:avLst/>
          </a:prstGeom>
          <a:noFill/>
          <a:ln/>
        </p:spPr>
        <p:txBody>
          <a:bodyPr wrap="square" lIns="0" tIns="0" rIns="0" bIns="0" rtlCol="0" anchor="t"/>
          <a:lstStyle/>
          <a:p>
            <a:pPr indent="0" marL="0">
              <a:buNone/>
            </a:pPr>
            <a:r>
              <a:rPr lang="en-US" sz="1400" b="1" dirty="0">
                <a:solidFill>
                  <a:srgbClr val="D9B66F"/>
                </a:solidFill>
                <a:latin typeface="Malgun Gothic" pitchFamily="34" charset="0"/>
                <a:ea typeface="Malgun Gothic" pitchFamily="34" charset="-122"/>
                <a:cs typeface="Malgun Gothic" pitchFamily="34" charset="-120"/>
              </a:rPr>
              <a:t>광고비 수입 증가</a:t>
            </a:r>
            <a:endParaRPr lang="en-US" sz="1400" dirty="0"/>
          </a:p>
        </p:txBody>
      </p:sp>
      <p:sp>
        <p:nvSpPr>
          <p:cNvPr id="50" name="Text 46"/>
          <p:cNvSpPr txBox="1"/>
          <p:nvPr/>
        </p:nvSpPr>
        <p:spPr>
          <a:xfrm>
            <a:off x="6400800" y="5596128"/>
            <a:ext cx="5029200" cy="640080"/>
          </a:xfrm>
          <a:prstGeom prst="rect">
            <a:avLst/>
          </a:prstGeom>
          <a:noFill/>
          <a:ln/>
        </p:spPr>
        <p:txBody>
          <a:bodyPr wrap="square" lIns="0" tIns="0" rIns="0" bIns="0" rtlCol="0" anchor="t"/>
          <a:lstStyle/>
          <a:p>
            <a:pPr indent="0" marL="0">
              <a:buNone/>
            </a:pPr>
            <a:r>
              <a:rPr lang="en-US" sz="1400" dirty="0">
                <a:solidFill>
                  <a:srgbClr val="F5F2EA"/>
                </a:solidFill>
                <a:latin typeface="Malgun Gothic" pitchFamily="34" charset="0"/>
                <a:ea typeface="Malgun Gothic" pitchFamily="34" charset="-122"/>
                <a:cs typeface="Malgun Gothic" pitchFamily="34" charset="-120"/>
              </a:rPr>
              <a:t>547개 매장 “사이니지 TV” — 자사 홍보와 함께 타사 광고 수주</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Shape 0"/>
          <p:cNvSpPr/>
          <p:nvPr/>
        </p:nvSpPr>
        <p:spPr>
          <a:xfrm>
            <a:off x="548640" y="365760"/>
            <a:ext cx="685800" cy="685800"/>
          </a:xfrm>
          <a:prstGeom prst="roundRect">
            <a:avLst>
              <a:gd name="adj" fmla="val 18667"/>
            </a:avLst>
          </a:prstGeom>
          <a:solidFill>
            <a:srgbClr val="D9B66F"/>
          </a:solidFill>
          <a:ln w="12700">
            <a:solidFill>
              <a:srgbClr val="D9B66F"/>
            </a:solidFill>
            <a:prstDash val="solid"/>
          </a:ln>
          <a:effectLst>
            <a:outerShdw sx="100000" sy="100000" kx="0" ky="0" algn="bl" rotWithShape="0" blurRad="152400" dist="38100" dir="5400000">
              <a:srgbClr val="D9B66F">
                <a:alpha val="35000"/>
              </a:srgbClr>
            </a:outerShdw>
          </a:effectLst>
        </p:spPr>
        <p:txBody>
          <a:bodyPr/>
          <a:p/>
        </p:txBody>
      </p:sp>
      <p:sp>
        <p:nvSpPr>
          <p:cNvPr id="4"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000" b="1" dirty="0">
                <a:solidFill>
                  <a:srgbClr val="1A1305"/>
                </a:solidFill>
                <a:latin typeface="Malgun Gothic" pitchFamily="34" charset="0"/>
                <a:ea typeface="Malgun Gothic" pitchFamily="34" charset="-122"/>
                <a:cs typeface="Malgun Gothic" pitchFamily="34" charset="-120"/>
              </a:rPr>
              <a:t>Ⅱ</a:t>
            </a:r>
            <a:endParaRPr lang="en-US" sz="2000" dirty="0"/>
          </a:p>
        </p:txBody>
      </p:sp>
      <p:sp>
        <p:nvSpPr>
          <p:cNvPr id="5" name="Text 2"/>
          <p:cNvSpPr txBox="1"/>
          <p:nvPr/>
        </p:nvSpPr>
        <p:spPr>
          <a:xfrm>
            <a:off x="1463040" y="329184"/>
            <a:ext cx="8595360" cy="502920"/>
          </a:xfrm>
          <a:prstGeom prst="rect">
            <a:avLst/>
          </a:prstGeom>
          <a:noFill/>
          <a:ln/>
        </p:spPr>
        <p:txBody>
          <a:bodyPr wrap="square" lIns="0" tIns="0" rIns="0" bIns="0" rtlCol="0" anchor="ctr"/>
          <a:lstStyle/>
          <a:p>
            <a:pPr indent="0" marL="0">
              <a:buNone/>
            </a:pPr>
            <a:r>
              <a:rPr lang="en-US" sz="3000" b="1" dirty="0">
                <a:solidFill>
                  <a:srgbClr val="F5F2EA"/>
                </a:solidFill>
                <a:latin typeface="Malgun Gothic" pitchFamily="34" charset="0"/>
                <a:ea typeface="Malgun Gothic" pitchFamily="34" charset="-122"/>
                <a:cs typeface="Malgun Gothic" pitchFamily="34" charset="-120"/>
              </a:rPr>
              <a:t>법인세 절감 · 폐기재고 결산 반영</a:t>
            </a:r>
            <a:endParaRPr lang="en-US" sz="3000" dirty="0"/>
          </a:p>
        </p:txBody>
      </p:sp>
      <p:sp>
        <p:nvSpPr>
          <p:cNvPr id="6" name="Text 3"/>
          <p:cNvSpPr txBox="1"/>
          <p:nvPr/>
        </p:nvSpPr>
        <p:spPr>
          <a:xfrm>
            <a:off x="1463040" y="841248"/>
            <a:ext cx="8778240" cy="320040"/>
          </a:xfrm>
          <a:prstGeom prst="rect">
            <a:avLst/>
          </a:prstGeom>
          <a:noFill/>
          <a:ln/>
        </p:spPr>
        <p:txBody>
          <a:bodyPr wrap="square" lIns="0" tIns="0" rIns="0" bIns="0" rtlCol="0" anchor="t"/>
          <a:lstStyle/>
          <a:p>
            <a:pPr indent="0" marL="0">
              <a:buNone/>
            </a:pPr>
            <a:r>
              <a:rPr lang="en-US" sz="1400" dirty="0">
                <a:solidFill>
                  <a:srgbClr val="A9B3C9"/>
                </a:solidFill>
                <a:latin typeface="Malgun Gothic" pitchFamily="34" charset="0"/>
                <a:ea typeface="Malgun Gothic" pitchFamily="34" charset="-122"/>
                <a:cs typeface="Malgun Gothic" pitchFamily="34" charset="-120"/>
              </a:rPr>
              <a:t>원풍약품상사㈜ 2026.9.28 재고실사 → 유통기한 경과 폐기재고</a:t>
            </a:r>
            <a:endParaRPr lang="en-US" sz="1400" dirty="0"/>
          </a:p>
        </p:txBody>
      </p:sp>
      <p:pic>
        <p:nvPicPr>
          <p:cNvPr id="7" name="Image 0" descr="D:\Desktop\타뱅발표\assets\logo.png">    </p:cNvPr>
          <p:cNvPicPr>
            <a:picLocks noChangeAspect="1"/>
          </p:cNvPicPr>
          <p:nvPr/>
        </p:nvPicPr>
        <p:blipFill>
          <a:blip r:embed="rId1"/>
          <a:stretch>
            <a:fillRect/>
          </a:stretch>
        </p:blipFill>
        <p:spPr>
          <a:xfrm>
            <a:off x="10652760" y="320040"/>
            <a:ext cx="960120" cy="676656"/>
          </a:xfrm>
          <a:prstGeom prst="rect">
            <a:avLst/>
          </a:prstGeom>
        </p:spPr>
      </p:pic>
      <p:sp>
        <p:nvSpPr>
          <p:cNvPr id="8" name="Shape 4"/>
          <p:cNvSpPr/>
          <p:nvPr/>
        </p:nvSpPr>
        <p:spPr>
          <a:xfrm>
            <a:off x="1645920" y="2240280"/>
            <a:ext cx="2560320" cy="3429000"/>
          </a:xfrm>
          <a:prstGeom prst="roundRect">
            <a:avLst>
              <a:gd name="adj" fmla="val 3571"/>
            </a:avLst>
          </a:prstGeom>
          <a:solidFill>
            <a:srgbClr val="C0392B"/>
          </a:solidFill>
          <a:ln w="12700">
            <a:solidFill>
              <a:srgbClr val="C0392B"/>
            </a:solidFill>
            <a:prstDash val="solid"/>
          </a:ln>
          <a:effectLst>
            <a:outerShdw sx="100000" sy="100000" kx="0" ky="0" algn="bl" rotWithShape="0" blurRad="152400" dist="63500" dir="5400000">
              <a:srgbClr val="000000">
                <a:alpha val="40000"/>
              </a:srgbClr>
            </a:outerShdw>
          </a:effectLst>
        </p:spPr>
        <p:txBody>
          <a:bodyPr/>
          <a:p/>
        </p:txBody>
      </p:sp>
      <p:sp>
        <p:nvSpPr>
          <p:cNvPr id="9" name="Text 5"/>
          <p:cNvSpPr txBox="1"/>
          <p:nvPr/>
        </p:nvSpPr>
        <p:spPr>
          <a:xfrm>
            <a:off x="1645920" y="2240280"/>
            <a:ext cx="2560320" cy="342900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−7.5억</a:t>
            </a:r>
            <a:endParaRPr lang="en-US" sz="3200" dirty="0"/>
          </a:p>
        </p:txBody>
      </p:sp>
      <p:sp>
        <p:nvSpPr>
          <p:cNvPr id="10" name="Text 6"/>
          <p:cNvSpPr txBox="1"/>
          <p:nvPr/>
        </p:nvSpPr>
        <p:spPr>
          <a:xfrm>
            <a:off x="1371600" y="5760720"/>
            <a:ext cx="3108960" cy="64008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세전 이익</a:t>
            </a:r>
            <a:endParaRPr lang="en-US" sz="1400" dirty="0"/>
          </a:p>
          <a:p>
            <a:pPr algn="ctr" indent="0" marL="0">
              <a:buNone/>
            </a:pPr>
            <a:r>
              <a:rPr lang="en-US" sz="1400" dirty="0">
                <a:solidFill>
                  <a:srgbClr val="A9B3C9"/>
                </a:solidFill>
                <a:latin typeface="Malgun Gothic" pitchFamily="34" charset="0"/>
                <a:ea typeface="Malgun Gothic" pitchFamily="34" charset="-122"/>
                <a:cs typeface="Malgun Gothic" pitchFamily="34" charset="-120"/>
              </a:rPr>
              <a:t>(폐기 재고 반영)</a:t>
            </a:r>
            <a:endParaRPr lang="en-US" sz="1400" dirty="0"/>
          </a:p>
        </p:txBody>
      </p:sp>
      <p:sp>
        <p:nvSpPr>
          <p:cNvPr id="11" name="Shape 7"/>
          <p:cNvSpPr/>
          <p:nvPr/>
        </p:nvSpPr>
        <p:spPr>
          <a:xfrm>
            <a:off x="4846320" y="2240280"/>
            <a:ext cx="2560320" cy="822960"/>
          </a:xfrm>
          <a:prstGeom prst="roundRect">
            <a:avLst>
              <a:gd name="adj" fmla="val 11111"/>
            </a:avLst>
          </a:prstGeom>
          <a:solidFill>
            <a:srgbClr val="D9B66F"/>
          </a:solidFill>
          <a:ln w="12700">
            <a:solidFill>
              <a:srgbClr val="D9B66F"/>
            </a:solidFill>
            <a:prstDash val="solid"/>
          </a:ln>
          <a:effectLst>
            <a:outerShdw sx="100000" sy="100000" kx="0" ky="0" algn="bl" rotWithShape="0" blurRad="152400" dist="63500" dir="5400000">
              <a:srgbClr val="000000">
                <a:alpha val="40000"/>
              </a:srgbClr>
            </a:outerShdw>
          </a:effectLst>
        </p:spPr>
        <p:txBody>
          <a:bodyPr/>
          <a:p/>
        </p:txBody>
      </p:sp>
      <p:sp>
        <p:nvSpPr>
          <p:cNvPr id="12" name="Text 8"/>
          <p:cNvSpPr txBox="1"/>
          <p:nvPr/>
        </p:nvSpPr>
        <p:spPr>
          <a:xfrm>
            <a:off x="4846320" y="2240280"/>
            <a:ext cx="2560320" cy="822960"/>
          </a:xfrm>
          <a:prstGeom prst="rect">
            <a:avLst/>
          </a:prstGeom>
          <a:noFill/>
          <a:ln/>
        </p:spPr>
        <p:txBody>
          <a:bodyPr wrap="square" lIns="0" tIns="0" rIns="0" bIns="0" rtlCol="0" anchor="ctr"/>
          <a:lstStyle/>
          <a:p>
            <a:pPr algn="ctr" indent="0" marL="0">
              <a:buNone/>
            </a:pPr>
            <a:r>
              <a:rPr lang="en-US" sz="3200" b="1" dirty="0">
                <a:solidFill>
                  <a:srgbClr val="1A1305"/>
                </a:solidFill>
                <a:latin typeface="Malgun Gothic" pitchFamily="34" charset="0"/>
                <a:ea typeface="Malgun Gothic" pitchFamily="34" charset="-122"/>
                <a:cs typeface="Malgun Gothic" pitchFamily="34" charset="-120"/>
              </a:rPr>
              <a:t>+1.8억</a:t>
            </a:r>
            <a:endParaRPr lang="en-US" sz="3200" dirty="0"/>
          </a:p>
        </p:txBody>
      </p:sp>
      <p:sp>
        <p:nvSpPr>
          <p:cNvPr id="13" name="Text 9"/>
          <p:cNvSpPr txBox="1"/>
          <p:nvPr/>
        </p:nvSpPr>
        <p:spPr>
          <a:xfrm>
            <a:off x="4572000" y="5760720"/>
            <a:ext cx="3108960" cy="64008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법인세 + 지방소득세</a:t>
            </a:r>
            <a:endParaRPr lang="en-US" sz="1400" dirty="0"/>
          </a:p>
          <a:p>
            <a:pPr algn="ctr" indent="0" marL="0">
              <a:buNone/>
            </a:pPr>
            <a:r>
              <a:rPr lang="en-US" sz="1400" dirty="0">
                <a:solidFill>
                  <a:srgbClr val="A9B3C9"/>
                </a:solidFill>
                <a:latin typeface="Malgun Gothic" pitchFamily="34" charset="0"/>
                <a:ea typeface="Malgun Gothic" pitchFamily="34" charset="-122"/>
                <a:cs typeface="Malgun Gothic" pitchFamily="34" charset="-120"/>
              </a:rPr>
              <a:t>절감 24.2%</a:t>
            </a:r>
            <a:endParaRPr lang="en-US" sz="1400" dirty="0"/>
          </a:p>
        </p:txBody>
      </p:sp>
      <p:sp>
        <p:nvSpPr>
          <p:cNvPr id="14" name="Shape 10"/>
          <p:cNvSpPr/>
          <p:nvPr/>
        </p:nvSpPr>
        <p:spPr>
          <a:xfrm>
            <a:off x="8046720" y="3063240"/>
            <a:ext cx="2560320" cy="2606040"/>
          </a:xfrm>
          <a:prstGeom prst="roundRect">
            <a:avLst>
              <a:gd name="adj" fmla="val 3571"/>
            </a:avLst>
          </a:prstGeom>
          <a:solidFill>
            <a:srgbClr val="2B5FA3"/>
          </a:solidFill>
          <a:ln w="12700">
            <a:solidFill>
              <a:srgbClr val="2B5FA3"/>
            </a:solidFill>
            <a:prstDash val="solid"/>
          </a:ln>
          <a:effectLst>
            <a:outerShdw sx="100000" sy="100000" kx="0" ky="0" algn="bl" rotWithShape="0" blurRad="152400" dist="63500" dir="5400000">
              <a:srgbClr val="000000">
                <a:alpha val="40000"/>
              </a:srgbClr>
            </a:outerShdw>
          </a:effectLst>
        </p:spPr>
        <p:txBody>
          <a:bodyPr/>
          <a:p/>
        </p:txBody>
      </p:sp>
      <p:sp>
        <p:nvSpPr>
          <p:cNvPr id="15" name="Text 11"/>
          <p:cNvSpPr txBox="1"/>
          <p:nvPr/>
        </p:nvSpPr>
        <p:spPr>
          <a:xfrm>
            <a:off x="8046720" y="3063240"/>
            <a:ext cx="2560320" cy="260604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−5.7억</a:t>
            </a:r>
            <a:endParaRPr lang="en-US" sz="3200" dirty="0"/>
          </a:p>
        </p:txBody>
      </p:sp>
      <p:sp>
        <p:nvSpPr>
          <p:cNvPr id="16" name="Text 12"/>
          <p:cNvSpPr txBox="1"/>
          <p:nvPr/>
        </p:nvSpPr>
        <p:spPr>
          <a:xfrm>
            <a:off x="7772400" y="5760720"/>
            <a:ext cx="3108960" cy="640080"/>
          </a:xfrm>
          <a:prstGeom prst="rect">
            <a:avLst/>
          </a:prstGeom>
          <a:noFill/>
          <a:ln/>
        </p:spPr>
        <p:txBody>
          <a:bodyPr wrap="square" lIns="0" tIns="0" rIns="0" bIns="0" rtlCol="0" anchor="t"/>
          <a:lstStyle/>
          <a:p>
            <a:pPr algn="ctr" indent="0" marL="0">
              <a:buNone/>
            </a:pPr>
            <a:r>
              <a:rPr lang="en-US" sz="1400" dirty="0">
                <a:solidFill>
                  <a:srgbClr val="A9B3C9"/>
                </a:solidFill>
                <a:latin typeface="Malgun Gothic" pitchFamily="34" charset="0"/>
                <a:ea typeface="Malgun Gothic" pitchFamily="34" charset="-122"/>
                <a:cs typeface="Malgun Gothic" pitchFamily="34" charset="-120"/>
              </a:rPr>
              <a:t>세후 순이익</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34</a:t>
            </a:fld>
            <a:endParaRPr lang="en-US"/>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0"/>
          <p:cNvSpPr txBox="1"/>
          <p:nvPr/>
        </p:nvSpPr>
        <p:spPr>
          <a:xfrm>
            <a:off x="822960" y="2011680"/>
            <a:ext cx="10515600" cy="457200"/>
          </a:xfrm>
          <a:prstGeom prst="rect">
            <a:avLst/>
          </a:prstGeom>
          <a:noFill/>
          <a:ln/>
        </p:spPr>
        <p:txBody>
          <a:bodyPr wrap="square" lIns="0" tIns="0" rIns="0" bIns="0" rtlCol="0" anchor="t"/>
          <a:lstStyle/>
          <a:p>
            <a:pPr algn="ctr" indent="0" marL="0">
              <a:buNone/>
            </a:pPr>
            <a:r>
              <a:rPr lang="en-US" sz="2000" b="1" spc="800" kern="0" dirty="0">
                <a:solidFill>
                  <a:srgbClr val="D9B66F"/>
                </a:solidFill>
                <a:latin typeface="Malgun Gothic" pitchFamily="34" charset="0"/>
                <a:ea typeface="Malgun Gothic" pitchFamily="34" charset="-122"/>
                <a:cs typeface="Malgun Gothic" pitchFamily="34" charset="-120"/>
              </a:rPr>
              <a:t>THANK YOU</a:t>
            </a:r>
            <a:endParaRPr lang="en-US" sz="2000" dirty="0"/>
          </a:p>
        </p:txBody>
      </p:sp>
      <p:sp>
        <p:nvSpPr>
          <p:cNvPr id="4" name="Text 1"/>
          <p:cNvSpPr txBox="1"/>
          <p:nvPr/>
        </p:nvSpPr>
        <p:spPr>
          <a:xfrm>
            <a:off x="822960" y="2560320"/>
            <a:ext cx="10515600" cy="1645920"/>
          </a:xfrm>
          <a:prstGeom prst="rect">
            <a:avLst/>
          </a:prstGeom>
          <a:noFill/>
          <a:ln/>
        </p:spPr>
        <p:txBody>
          <a:bodyPr wrap="square" lIns="0" tIns="0" rIns="0" bIns="0" rtlCol="0" anchor="ctr"/>
          <a:lstStyle/>
          <a:p>
            <a:pPr algn="ctr" indent="0" marL="0">
              <a:buNone/>
            </a:pPr>
            <a:r>
              <a:rPr lang="en-US" sz="8800" b="1" dirty="0">
                <a:solidFill>
                  <a:srgbClr val="F5F2EA"/>
                </a:solidFill>
                <a:latin typeface="Malgun Gothic" pitchFamily="34" charset="0"/>
                <a:ea typeface="Malgun Gothic" pitchFamily="34" charset="-122"/>
                <a:cs typeface="Malgun Gothic" pitchFamily="34" charset="-120"/>
              </a:rPr>
              <a:t>감사합니다</a:t>
            </a:r>
            <a:endParaRPr lang="en-US" sz="8800" dirty="0"/>
          </a:p>
        </p:txBody>
      </p:sp>
      <p:sp>
        <p:nvSpPr>
          <p:cNvPr id="5" name="Text 2"/>
          <p:cNvSpPr txBox="1"/>
          <p:nvPr/>
        </p:nvSpPr>
        <p:spPr>
          <a:xfrm>
            <a:off x="822960" y="4389120"/>
            <a:ext cx="10515600" cy="457200"/>
          </a:xfrm>
          <a:prstGeom prst="rect">
            <a:avLst/>
          </a:prstGeom>
          <a:noFill/>
          <a:ln/>
        </p:spPr>
        <p:txBody>
          <a:bodyPr wrap="square" lIns="0" tIns="0" rIns="0" bIns="0" rtlCol="0" anchor="t"/>
          <a:lstStyle/>
          <a:p>
            <a:pPr algn="ctr" indent="0" marL="0">
              <a:buNone/>
            </a:pPr>
            <a:r>
              <a:rPr lang="en-US" sz="2000" dirty="0">
                <a:solidFill>
                  <a:srgbClr val="A9B3C9"/>
                </a:solidFill>
                <a:latin typeface="Malgun Gothic" pitchFamily="34" charset="0"/>
                <a:ea typeface="Malgun Gothic" pitchFamily="34" charset="-122"/>
                <a:cs typeface="Malgun Gothic" pitchFamily="34" charset="-120"/>
              </a:rPr>
              <a:t>경영전략본부 · 2026년 3분기 실적보고</a:t>
            </a:r>
            <a:endParaRPr lang="en-US" sz="2000" dirty="0"/>
          </a:p>
        </p:txBody>
      </p:sp>
      <p:pic>
        <p:nvPicPr>
          <p:cNvPr id="6" name="Image 0" descr="D:\Desktop\타뱅발표\assets\logo.png">    </p:cNvPr>
          <p:cNvPicPr>
            <a:picLocks noChangeAspect="1"/>
          </p:cNvPicPr>
          <p:nvPr/>
        </p:nvPicPr>
        <p:blipFill>
          <a:blip r:embed="rId1"/>
          <a:stretch>
            <a:fillRect/>
          </a:stretch>
        </p:blipFill>
        <p:spPr>
          <a:xfrm>
            <a:off x="5394960" y="5029200"/>
            <a:ext cx="1371600" cy="969264"/>
          </a:xfrm>
          <a:prstGeom prst="rect">
            <a:avLst/>
          </a:prstGeom>
        </p:spPr>
      </p:pic>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C9"/>
                </a:solidFill>
                <a:latin typeface="Malgun Gothic"/>
                <a:ea typeface="Malgun Gothic"/>
                <a:cs typeface="Malgun Gothic"/>
              </a:defRPr>
            </a:lvl1pPr>
          </a:lstStyle>
          <a:p>
            <a:pPr algn="r"/>
            <a:fld id="{F7021451-1387-4CA6-816F-3879F97B5CBC}" type="slidenum">
              <a:rPr b="0" lang="en-US"/>
              <a:t>35</a:t>
            </a:fld>
            <a:endParaRPr lang="en-US"/>
          </a:p>
        </p:txBody>
      </p:sp>
    </p:spTree>
  </p:cSld>
  <p:clrMapOvr>
    <a:masterClrMapping/>
  </p:clrMapOvr>
  <p:transition spd="med">
    <p:fade/>
  </p:transition>
</p:sld>
</file>

<file path=ppt/theme/theme1.xml><?xml version="1.0" encoding="utf-8"?>
<a:theme xmlns:a="http://schemas.openxmlformats.org/drawingml/2006/main" name="TireBank Web Deck">
  <a:themeElements>
    <a:clrScheme name="TireBank Web Deck">
      <a:dk1>
        <a:srgbClr val="0B1426"/>
      </a:dk1>
      <a:lt1>
        <a:srgbClr val="FFFFFF"/>
      </a:lt1>
      <a:dk2>
        <a:srgbClr val="16233E"/>
      </a:dk2>
      <a:lt2>
        <a:srgbClr val="F5F2EA"/>
      </a:lt2>
      <a:accent1>
        <a:srgbClr val="D9B66F"/>
      </a:accent1>
      <a:accent2>
        <a:srgbClr val="6AA7E6"/>
      </a:accent2>
      <a:accent3>
        <a:srgbClr val="5FD0B0"/>
      </a:accent3>
      <a:accent4>
        <a:srgbClr val="FF6B73"/>
      </a:accent4>
      <a:accent5>
        <a:srgbClr val="F3DCA4"/>
      </a:accent5>
      <a:accent6>
        <a:srgbClr val="A9B3C9"/>
      </a:accent6>
      <a:hlink>
        <a:srgbClr val="6AA7E6"/>
      </a:hlink>
      <a:folHlink>
        <a:srgbClr val="A9B3C9"/>
      </a:folHlink>
    </a:clrScheme>
    <a:fontScheme name="TireBank Web Deck">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경영전략본부 2026년 3분기 실적보고 (발표용)</dc:title>
  <dc:subject>PptxGenJS Presentation</dc:subject>
  <dc:creator>경영전략본부</dc:creator>
  <cp:lastModifiedBy>경영전략본부</cp:lastModifiedBy>
  <cp:revision>1</cp:revision>
  <dcterms:created xsi:type="dcterms:W3CDTF">2026-10-21T06:27:48Z</dcterms:created>
  <dcterms:modified xsi:type="dcterms:W3CDTF">2026-10-21T06:27:48Z</dcterms:modified>
</cp:coreProperties>
</file>